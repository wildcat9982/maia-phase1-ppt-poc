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097280"/>
            <a:ext cx="4114800" cy="4114800"/>
          </a:xfrm>
          <a:prstGeom prst="ellipse">
            <a:avLst/>
          </a:prstGeom>
          <a:solidFill>
            <a:srgbClr val="273080"/>
          </a:solidFill>
          <a:ln/>
        </p:spPr>
      </p:sp>
      <p:sp>
        <p:nvSpPr>
          <p:cNvPr id="3" name="Shape 1"/>
          <p:cNvSpPr/>
          <p:nvPr/>
        </p:nvSpPr>
        <p:spPr>
          <a:xfrm>
            <a:off x="10607040" y="4206240"/>
            <a:ext cx="2926080" cy="2926080"/>
          </a:xfrm>
          <a:prstGeom prst="ellipse">
            <a:avLst/>
          </a:prstGeom>
          <a:solidFill>
            <a:srgbClr val="273080"/>
          </a:solidFill>
          <a:ln/>
        </p:spPr>
      </p:sp>
      <p:sp>
        <p:nvSpPr>
          <p:cNvPr id="4" name="Text 2"/>
          <p:cNvSpPr/>
          <p:nvPr/>
        </p:nvSpPr>
        <p:spPr>
          <a:xfrm>
            <a:off x="640080" y="1280160"/>
            <a:ext cx="1828800" cy="1463040"/>
          </a:xfrm>
          <a:prstGeom prst="rect">
            <a:avLst/>
          </a:prstGeom>
          <a:noFill/>
          <a:ln/>
        </p:spPr>
        <p:txBody>
          <a:bodyPr wrap="square" lIns="0" tIns="0" rIns="0" bIns="0" rtlCol="0" anchor="ctr"/>
          <a:lstStyle/>
          <a:p>
            <a:pPr algn="l" indent="0" marL="0">
              <a:buNone/>
            </a:pPr>
            <a:r>
              <a:rPr lang="en-US" sz="9600" b="1" dirty="0">
                <a:solidFill>
                  <a:srgbClr val="CADCFC"/>
                </a:solidFill>
                <a:latin typeface="Cambria" pitchFamily="34" charset="0"/>
                <a:ea typeface="Cambria" pitchFamily="34" charset="-122"/>
                <a:cs typeface="Cambria" pitchFamily="34" charset="-120"/>
              </a:rPr>
              <a:t>/</a:t>
            </a:r>
            <a:endParaRPr lang="en-US" sz="9600" dirty="0"/>
          </a:p>
        </p:txBody>
      </p:sp>
      <p:sp>
        <p:nvSpPr>
          <p:cNvPr id="5" name="Text 3"/>
          <p:cNvSpPr/>
          <p:nvPr/>
        </p:nvSpPr>
        <p:spPr>
          <a:xfrm>
            <a:off x="685800" y="2651760"/>
            <a:ext cx="914400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Slash Commands</a:t>
            </a:r>
            <a:endParaRPr lang="en-US" sz="4000" dirty="0"/>
          </a:p>
        </p:txBody>
      </p:sp>
      <p:sp>
        <p:nvSpPr>
          <p:cNvPr id="6" name="Text 4"/>
          <p:cNvSpPr/>
          <p:nvPr/>
        </p:nvSpPr>
        <p:spPr>
          <a:xfrm>
            <a:off x="685800" y="3429000"/>
            <a:ext cx="8686800" cy="548640"/>
          </a:xfrm>
          <a:prstGeom prst="rect">
            <a:avLst/>
          </a:prstGeom>
          <a:noFill/>
          <a:ln/>
        </p:spPr>
        <p:txBody>
          <a:bodyPr wrap="square" lIns="0" tIns="0" rIns="0" bIns="0" rtlCol="0" anchor="ctr"/>
          <a:lstStyle/>
          <a:p>
            <a:pPr algn="l" indent="0" marL="0">
              <a:buNone/>
            </a:pPr>
            <a:r>
              <a:rPr lang="en-US" sz="1800" dirty="0">
                <a:solidFill>
                  <a:srgbClr val="CADCFC"/>
                </a:solidFill>
                <a:latin typeface="Calibri" pitchFamily="34" charset="0"/>
                <a:ea typeface="Calibri" pitchFamily="34" charset="-122"/>
                <a:cs typeface="Calibri" pitchFamily="34" charset="-120"/>
              </a:rPr>
              <a:t>A personalisation enhancement for full-scale deployment</a:t>
            </a:r>
            <a:endParaRPr lang="en-US" sz="1800" dirty="0"/>
          </a:p>
        </p:txBody>
      </p:sp>
      <p:sp>
        <p:nvSpPr>
          <p:cNvPr id="7" name="Text 5"/>
          <p:cNvSpPr/>
          <p:nvPr/>
        </p:nvSpPr>
        <p:spPr>
          <a:xfrm>
            <a:off x="685800" y="3977640"/>
            <a:ext cx="8686800" cy="457200"/>
          </a:xfrm>
          <a:prstGeom prst="rect">
            <a:avLst/>
          </a:prstGeom>
          <a:noFill/>
          <a:ln/>
        </p:spPr>
        <p:txBody>
          <a:bodyPr wrap="square" lIns="0" tIns="0" rIns="0" bIns="0" rtlCol="0" anchor="ctr"/>
          <a:lstStyle/>
          <a:p>
            <a:pPr algn="l" indent="0" marL="0">
              <a:buNone/>
            </a:pPr>
            <a:r>
              <a:rPr lang="en-US" sz="1300" dirty="0">
                <a:solidFill>
                  <a:srgbClr val="9AA6D6"/>
                </a:solidFill>
                <a:latin typeface="Calibri" pitchFamily="34" charset="0"/>
                <a:ea typeface="Calibri" pitchFamily="34" charset="-122"/>
                <a:cs typeface="Calibri" pitchFamily="34" charset="-120"/>
              </a:rPr>
              <a:t>Prepared for your Singapore operations team — enhancement review</a:t>
            </a:r>
            <a:endParaRPr lang="en-US" sz="1300" dirty="0"/>
          </a:p>
        </p:txBody>
      </p:sp>
      <p:sp>
        <p:nvSpPr>
          <p:cNvPr id="8" name="Text 6"/>
          <p:cNvSpPr/>
          <p:nvPr/>
        </p:nvSpPr>
        <p:spPr>
          <a:xfrm>
            <a:off x="685800" y="6035040"/>
            <a:ext cx="7315200" cy="365760"/>
          </a:xfrm>
          <a:prstGeom prst="rect">
            <a:avLst/>
          </a:prstGeom>
          <a:noFill/>
          <a:ln/>
        </p:spPr>
        <p:txBody>
          <a:bodyPr wrap="square" lIns="0" tIns="0" rIns="0" bIns="0" rtlCol="0" anchor="ctr"/>
          <a:lstStyle/>
          <a:p>
            <a:pPr algn="l" indent="0" marL="0">
              <a:buNone/>
            </a:pPr>
            <a:r>
              <a:rPr lang="en-US" sz="1200" dirty="0">
                <a:solidFill>
                  <a:srgbClr val="9AA6D6"/>
                </a:solidFill>
                <a:latin typeface="Calibri" pitchFamily="34" charset="0"/>
                <a:ea typeface="Calibri" pitchFamily="34" charset="-122"/>
                <a:cs typeface="Calibri" pitchFamily="34" charset="-120"/>
              </a:rPr>
              <a:t>Enhancement Overview  •  Existing Chatbot Platform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The Opportunity</a:t>
            </a:r>
            <a:endParaRPr lang="en-US" sz="3200" dirty="0"/>
          </a:p>
        </p:txBody>
      </p:sp>
      <p:sp>
        <p:nvSpPr>
          <p:cNvPr id="3" name="Text 1"/>
          <p:cNvSpPr/>
          <p:nvPr/>
        </p:nvSpPr>
        <p:spPr>
          <a:xfrm>
            <a:off x="548640" y="1051560"/>
            <a:ext cx="9144000" cy="457200"/>
          </a:xfrm>
          <a:prstGeom prst="rect">
            <a:avLst/>
          </a:prstGeom>
          <a:noFill/>
          <a:ln/>
        </p:spPr>
        <p:txBody>
          <a:bodyPr wrap="square" lIns="0" tIns="0" rIns="0" bIns="0" rtlCol="0" anchor="ctr"/>
          <a:lstStyle/>
          <a:p>
            <a:pPr indent="0" marL="0">
              <a:buNone/>
            </a:pPr>
            <a:r>
              <a:rPr lang="en-US" sz="1500" dirty="0">
                <a:solidFill>
                  <a:srgbClr val="6B7590"/>
                </a:solidFill>
                <a:latin typeface="Calibri" pitchFamily="34" charset="0"/>
                <a:ea typeface="Calibri" pitchFamily="34" charset="-122"/>
                <a:cs typeface="Calibri" pitchFamily="34" charset="-120"/>
              </a:rPr>
              <a:t>Every user wants the chatbot to feel like it's built for them</a:t>
            </a:r>
            <a:endParaRPr lang="en-US" sz="1500" dirty="0"/>
          </a:p>
        </p:txBody>
      </p:sp>
      <p:sp>
        <p:nvSpPr>
          <p:cNvPr id="4" name="Shape 2"/>
          <p:cNvSpPr/>
          <p:nvPr/>
        </p:nvSpPr>
        <p:spPr>
          <a:xfrm>
            <a:off x="548640" y="2011680"/>
            <a:ext cx="3520440" cy="3291840"/>
          </a:xfrm>
          <a:prstGeom prst="roundRect">
            <a:avLst>
              <a:gd name="adj" fmla="val 3333"/>
            </a:avLst>
          </a:prstGeom>
          <a:solidFill>
            <a:srgbClr val="F4F6FC"/>
          </a:solidFill>
          <a:ln/>
          <a:effectLst>
            <a:outerShdw sx="100000" sy="100000" kx="0" ky="0" algn="bl" rotWithShape="0" blurRad="101600" dist="38100" dir="5400000">
              <a:srgbClr val="1E2761">
                <a:alpha val="12000"/>
              </a:srgbClr>
            </a:outerShdw>
          </a:effectLst>
        </p:spPr>
      </p:sp>
      <p:sp>
        <p:nvSpPr>
          <p:cNvPr id="5" name="Shape 3"/>
          <p:cNvSpPr/>
          <p:nvPr/>
        </p:nvSpPr>
        <p:spPr>
          <a:xfrm>
            <a:off x="868680" y="2331720"/>
            <a:ext cx="502920" cy="502920"/>
          </a:xfrm>
          <a:prstGeom prst="ellipse">
            <a:avLst/>
          </a:prstGeom>
          <a:solidFill>
            <a:srgbClr val="1E2761"/>
          </a:solidFill>
          <a:ln/>
        </p:spPr>
      </p:sp>
      <p:sp>
        <p:nvSpPr>
          <p:cNvPr id="6" name="Text 4"/>
          <p:cNvSpPr/>
          <p:nvPr/>
        </p:nvSpPr>
        <p:spPr>
          <a:xfrm>
            <a:off x="868680" y="23317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822960" y="3017520"/>
            <a:ext cx="2971800" cy="45720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One size fits none</a:t>
            </a:r>
            <a:endParaRPr lang="en-US" sz="1600" dirty="0"/>
          </a:p>
        </p:txBody>
      </p:sp>
      <p:sp>
        <p:nvSpPr>
          <p:cNvPr id="8" name="Text 6"/>
          <p:cNvSpPr/>
          <p:nvPr/>
        </p:nvSpPr>
        <p:spPr>
          <a:xfrm>
            <a:off x="822960" y="3520440"/>
            <a:ext cx="2971800" cy="1554480"/>
          </a:xfrm>
          <a:prstGeom prst="rect">
            <a:avLst/>
          </a:prstGeom>
          <a:noFill/>
          <a:ln/>
        </p:spPr>
        <p:txBody>
          <a:bodyPr wrap="square" lIns="0" tIns="0" rIns="0" bIns="0" rtlCol="0" anchor="ctr"/>
          <a:lstStyle/>
          <a:p>
            <a:pPr indent="0" marL="0">
              <a:lnSpc>
                <a:spcPct val="125000"/>
              </a:lnSpc>
              <a:buNone/>
            </a:pPr>
            <a:r>
              <a:rPr lang="en-US" sz="1250" dirty="0">
                <a:solidFill>
                  <a:srgbClr val="6B7590"/>
                </a:solidFill>
                <a:latin typeface="Calibri" pitchFamily="34" charset="0"/>
                <a:ea typeface="Calibri" pitchFamily="34" charset="-122"/>
                <a:cs typeface="Calibri" pitchFamily="34" charset="-120"/>
              </a:rPr>
              <a:t>A single default tone and style can't match every user, every task, or every mood.</a:t>
            </a:r>
            <a:endParaRPr lang="en-US" sz="1250" dirty="0"/>
          </a:p>
        </p:txBody>
      </p:sp>
      <p:sp>
        <p:nvSpPr>
          <p:cNvPr id="9" name="Shape 7"/>
          <p:cNvSpPr/>
          <p:nvPr/>
        </p:nvSpPr>
        <p:spPr>
          <a:xfrm>
            <a:off x="4389120" y="2011680"/>
            <a:ext cx="3520440" cy="3291840"/>
          </a:xfrm>
          <a:prstGeom prst="roundRect">
            <a:avLst>
              <a:gd name="adj" fmla="val 3333"/>
            </a:avLst>
          </a:prstGeom>
          <a:solidFill>
            <a:srgbClr val="F4F6FC"/>
          </a:solidFill>
          <a:ln/>
          <a:effectLst>
            <a:outerShdw sx="100000" sy="100000" kx="0" ky="0" algn="bl" rotWithShape="0" blurRad="101600" dist="38100" dir="5400000">
              <a:srgbClr val="1E2761">
                <a:alpha val="12000"/>
              </a:srgbClr>
            </a:outerShdw>
          </a:effectLst>
        </p:spPr>
      </p:sp>
      <p:sp>
        <p:nvSpPr>
          <p:cNvPr id="10" name="Shape 8"/>
          <p:cNvSpPr/>
          <p:nvPr/>
        </p:nvSpPr>
        <p:spPr>
          <a:xfrm>
            <a:off x="4709160" y="2331720"/>
            <a:ext cx="502920" cy="502920"/>
          </a:xfrm>
          <a:prstGeom prst="ellipse">
            <a:avLst/>
          </a:prstGeom>
          <a:solidFill>
            <a:srgbClr val="1E2761"/>
          </a:solidFill>
          <a:ln/>
        </p:spPr>
      </p:sp>
      <p:sp>
        <p:nvSpPr>
          <p:cNvPr id="11" name="Text 9"/>
          <p:cNvSpPr/>
          <p:nvPr/>
        </p:nvSpPr>
        <p:spPr>
          <a:xfrm>
            <a:off x="4709160" y="23317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4663440" y="3017520"/>
            <a:ext cx="2971800" cy="45720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Settings are buried</a:t>
            </a:r>
            <a:endParaRPr lang="en-US" sz="1600" dirty="0"/>
          </a:p>
        </p:txBody>
      </p:sp>
      <p:sp>
        <p:nvSpPr>
          <p:cNvPr id="13" name="Text 11"/>
          <p:cNvSpPr/>
          <p:nvPr/>
        </p:nvSpPr>
        <p:spPr>
          <a:xfrm>
            <a:off x="4663440" y="3520440"/>
            <a:ext cx="2971800" cy="1554480"/>
          </a:xfrm>
          <a:prstGeom prst="rect">
            <a:avLst/>
          </a:prstGeom>
          <a:noFill/>
          <a:ln/>
        </p:spPr>
        <p:txBody>
          <a:bodyPr wrap="square" lIns="0" tIns="0" rIns="0" bIns="0" rtlCol="0" anchor="ctr"/>
          <a:lstStyle/>
          <a:p>
            <a:pPr indent="0" marL="0">
              <a:lnSpc>
                <a:spcPct val="125000"/>
              </a:lnSpc>
              <a:buNone/>
            </a:pPr>
            <a:r>
              <a:rPr lang="en-US" sz="1250" dirty="0">
                <a:solidFill>
                  <a:srgbClr val="6B7590"/>
                </a:solidFill>
                <a:latin typeface="Calibri" pitchFamily="34" charset="0"/>
                <a:ea typeface="Calibri" pitchFamily="34" charset="-122"/>
                <a:cs typeface="Calibri" pitchFamily="34" charset="-120"/>
              </a:rPr>
              <a:t>Preferences hidden in menus rarely get used — most users never personalize their experience.</a:t>
            </a:r>
            <a:endParaRPr lang="en-US" sz="1250" dirty="0"/>
          </a:p>
        </p:txBody>
      </p:sp>
      <p:sp>
        <p:nvSpPr>
          <p:cNvPr id="14" name="Shape 12"/>
          <p:cNvSpPr/>
          <p:nvPr/>
        </p:nvSpPr>
        <p:spPr>
          <a:xfrm>
            <a:off x="8229600" y="2011680"/>
            <a:ext cx="3520440" cy="3291840"/>
          </a:xfrm>
          <a:prstGeom prst="roundRect">
            <a:avLst>
              <a:gd name="adj" fmla="val 3333"/>
            </a:avLst>
          </a:prstGeom>
          <a:solidFill>
            <a:srgbClr val="F4F6FC"/>
          </a:solidFill>
          <a:ln/>
          <a:effectLst>
            <a:outerShdw sx="100000" sy="100000" kx="0" ky="0" algn="bl" rotWithShape="0" blurRad="101600" dist="38100" dir="5400000">
              <a:srgbClr val="1E2761">
                <a:alpha val="12000"/>
              </a:srgbClr>
            </a:outerShdw>
          </a:effectLst>
        </p:spPr>
      </p:sp>
      <p:sp>
        <p:nvSpPr>
          <p:cNvPr id="15" name="Shape 13"/>
          <p:cNvSpPr/>
          <p:nvPr/>
        </p:nvSpPr>
        <p:spPr>
          <a:xfrm>
            <a:off x="8549640" y="2331720"/>
            <a:ext cx="502920" cy="502920"/>
          </a:xfrm>
          <a:prstGeom prst="ellipse">
            <a:avLst/>
          </a:prstGeom>
          <a:solidFill>
            <a:srgbClr val="1E2761"/>
          </a:solidFill>
          <a:ln/>
        </p:spPr>
      </p:sp>
      <p:sp>
        <p:nvSpPr>
          <p:cNvPr id="16" name="Text 14"/>
          <p:cNvSpPr/>
          <p:nvPr/>
        </p:nvSpPr>
        <p:spPr>
          <a:xfrm>
            <a:off x="8549640" y="23317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8503920" y="3017520"/>
            <a:ext cx="2971800" cy="45720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Control feels lost</a:t>
            </a:r>
            <a:endParaRPr lang="en-US" sz="1600" dirty="0"/>
          </a:p>
        </p:txBody>
      </p:sp>
      <p:sp>
        <p:nvSpPr>
          <p:cNvPr id="18" name="Text 16"/>
          <p:cNvSpPr/>
          <p:nvPr/>
        </p:nvSpPr>
        <p:spPr>
          <a:xfrm>
            <a:off x="8503920" y="3520440"/>
            <a:ext cx="2971800" cy="1554480"/>
          </a:xfrm>
          <a:prstGeom prst="rect">
            <a:avLst/>
          </a:prstGeom>
          <a:noFill/>
          <a:ln/>
        </p:spPr>
        <p:txBody>
          <a:bodyPr wrap="square" lIns="0" tIns="0" rIns="0" bIns="0" rtlCol="0" anchor="ctr"/>
          <a:lstStyle/>
          <a:p>
            <a:pPr indent="0" marL="0">
              <a:lnSpc>
                <a:spcPct val="125000"/>
              </a:lnSpc>
              <a:buNone/>
            </a:pPr>
            <a:r>
              <a:rPr lang="en-US" sz="1250" dirty="0">
                <a:solidFill>
                  <a:srgbClr val="6B7590"/>
                </a:solidFill>
                <a:latin typeface="Calibri" pitchFamily="34" charset="0"/>
                <a:ea typeface="Calibri" pitchFamily="34" charset="-122"/>
                <a:cs typeface="Calibri" pitchFamily="34" charset="-120"/>
              </a:rPr>
              <a:t>Users want quick, visible control over how the assistant responds, without leaving the conversation.</a:t>
            </a:r>
            <a:endParaRPr lang="en-US" sz="1250" dirty="0"/>
          </a:p>
        </p:txBody>
      </p:sp>
      <p:sp>
        <p:nvSpPr>
          <p:cNvPr id="19" name="Text 17"/>
          <p:cNvSpPr/>
          <p:nvPr/>
        </p:nvSpPr>
        <p:spPr>
          <a:xfrm>
            <a:off x="457200" y="6537960"/>
            <a:ext cx="3657600" cy="274320"/>
          </a:xfrm>
          <a:prstGeom prst="rect">
            <a:avLst/>
          </a:prstGeom>
          <a:noFill/>
          <a:ln/>
        </p:spPr>
        <p:txBody>
          <a:bodyPr wrap="square" lIns="0" tIns="0" rIns="0" bIns="0" rtlCol="0" anchor="ctr"/>
          <a:lstStyle/>
          <a:p>
            <a:pPr algn="l" indent="0" marL="0">
              <a:buNone/>
            </a:pPr>
            <a:r>
              <a:rPr lang="en-US" sz="1000" dirty="0">
                <a:solidFill>
                  <a:srgbClr val="6B7590"/>
                </a:solidFill>
                <a:latin typeface="Calibri" pitchFamily="34" charset="0"/>
                <a:ea typeface="Calibri" pitchFamily="34" charset="-122"/>
                <a:cs typeface="Calibri" pitchFamily="34" charset="-120"/>
              </a:rPr>
              <a:t>/ Commands</a:t>
            </a:r>
            <a:endParaRPr lang="en-US" sz="1000" dirty="0"/>
          </a:p>
        </p:txBody>
      </p:sp>
      <p:sp>
        <p:nvSpPr>
          <p:cNvPr id="20" name="Text 18"/>
          <p:cNvSpPr/>
          <p:nvPr/>
        </p:nvSpPr>
        <p:spPr>
          <a:xfrm>
            <a:off x="11247120" y="6537960"/>
            <a:ext cx="457200" cy="274320"/>
          </a:xfrm>
          <a:prstGeom prst="rect">
            <a:avLst/>
          </a:prstGeom>
          <a:noFill/>
          <a:ln/>
        </p:spPr>
        <p:txBody>
          <a:bodyPr wrap="square" lIns="0" tIns="0" rIns="0" bIns="0" rtlCol="0" anchor="ctr"/>
          <a:lstStyle/>
          <a:p>
            <a:pPr algn="r" indent="0" marL="0">
              <a:buNone/>
            </a:pPr>
            <a:r>
              <a:rPr lang="en-US" sz="1000" dirty="0">
                <a:solidFill>
                  <a:srgbClr val="6B759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Introducing "/" Commands</a:t>
            </a:r>
            <a:endParaRPr lang="en-US" sz="3200" dirty="0"/>
          </a:p>
        </p:txBody>
      </p:sp>
      <p:sp>
        <p:nvSpPr>
          <p:cNvPr id="3" name="Text 1"/>
          <p:cNvSpPr/>
          <p:nvPr/>
        </p:nvSpPr>
        <p:spPr>
          <a:xfrm>
            <a:off x="548640" y="1051560"/>
            <a:ext cx="9601200" cy="457200"/>
          </a:xfrm>
          <a:prstGeom prst="rect">
            <a:avLst/>
          </a:prstGeom>
          <a:noFill/>
          <a:ln/>
        </p:spPr>
        <p:txBody>
          <a:bodyPr wrap="square" lIns="0" tIns="0" rIns="0" bIns="0" rtlCol="0" anchor="ctr"/>
          <a:lstStyle/>
          <a:p>
            <a:pPr indent="0" marL="0">
              <a:buNone/>
            </a:pPr>
            <a:r>
              <a:rPr lang="en-US" sz="1500" dirty="0">
                <a:solidFill>
                  <a:srgbClr val="6B7590"/>
                </a:solidFill>
                <a:latin typeface="Calibri" pitchFamily="34" charset="0"/>
                <a:ea typeface="Calibri" pitchFamily="34" charset="-122"/>
                <a:cs typeface="Calibri" pitchFamily="34" charset="-120"/>
              </a:rPr>
              <a:t>Type "/" in the chat to instantly adjust how the assistant responds — no settings menu required</a:t>
            </a:r>
            <a:endParaRPr lang="en-US" sz="1500" dirty="0"/>
          </a:p>
        </p:txBody>
      </p:sp>
      <p:sp>
        <p:nvSpPr>
          <p:cNvPr id="4" name="Shape 2"/>
          <p:cNvSpPr/>
          <p:nvPr/>
        </p:nvSpPr>
        <p:spPr>
          <a:xfrm>
            <a:off x="548640" y="2011680"/>
            <a:ext cx="6949440" cy="4206240"/>
          </a:xfrm>
          <a:prstGeom prst="roundRect">
            <a:avLst>
              <a:gd name="adj" fmla="val 3261"/>
            </a:avLst>
          </a:prstGeom>
          <a:solidFill>
            <a:srgbClr val="F4F6FC"/>
          </a:solidFill>
          <a:ln w="12700">
            <a:solidFill>
              <a:srgbClr val="DDE3F5"/>
            </a:solidFill>
            <a:prstDash val="solid"/>
          </a:ln>
        </p:spPr>
      </p:sp>
      <p:sp>
        <p:nvSpPr>
          <p:cNvPr id="5" name="Text 3"/>
          <p:cNvSpPr/>
          <p:nvPr/>
        </p:nvSpPr>
        <p:spPr>
          <a:xfrm>
            <a:off x="822960" y="2194560"/>
            <a:ext cx="1828800" cy="320040"/>
          </a:xfrm>
          <a:prstGeom prst="rect">
            <a:avLst/>
          </a:prstGeom>
          <a:noFill/>
          <a:ln/>
        </p:spPr>
        <p:txBody>
          <a:bodyPr wrap="square" lIns="0" tIns="0" rIns="0" bIns="0" rtlCol="0" anchor="ctr"/>
          <a:lstStyle/>
          <a:p>
            <a:pPr indent="0" marL="0">
              <a:buNone/>
            </a:pPr>
            <a:r>
              <a:rPr lang="en-US" sz="1200" b="1" dirty="0">
                <a:solidFill>
                  <a:srgbClr val="6B7590"/>
                </a:solidFill>
                <a:latin typeface="Calibri" pitchFamily="34" charset="0"/>
                <a:ea typeface="Calibri" pitchFamily="34" charset="-122"/>
                <a:cs typeface="Calibri" pitchFamily="34" charset="-120"/>
              </a:rPr>
              <a:t>Chat</a:t>
            </a:r>
            <a:endParaRPr lang="en-US" sz="1200" dirty="0"/>
          </a:p>
        </p:txBody>
      </p:sp>
      <p:sp>
        <p:nvSpPr>
          <p:cNvPr id="6" name="Shape 4"/>
          <p:cNvSpPr/>
          <p:nvPr/>
        </p:nvSpPr>
        <p:spPr>
          <a:xfrm>
            <a:off x="822960" y="2651760"/>
            <a:ext cx="4389120" cy="548640"/>
          </a:xfrm>
          <a:prstGeom prst="roundRect">
            <a:avLst>
              <a:gd name="adj" fmla="val 20000"/>
            </a:avLst>
          </a:prstGeom>
          <a:solidFill>
            <a:srgbClr val="FFFFFF"/>
          </a:solidFill>
          <a:ln/>
        </p:spPr>
      </p:sp>
      <p:sp>
        <p:nvSpPr>
          <p:cNvPr id="7" name="Text 5"/>
          <p:cNvSpPr/>
          <p:nvPr/>
        </p:nvSpPr>
        <p:spPr>
          <a:xfrm>
            <a:off x="1005840" y="2651760"/>
            <a:ext cx="4023360" cy="548640"/>
          </a:xfrm>
          <a:prstGeom prst="rect">
            <a:avLst/>
          </a:prstGeom>
          <a:noFill/>
          <a:ln/>
        </p:spPr>
        <p:txBody>
          <a:bodyPr wrap="square" lIns="0" tIns="0" rIns="0" bIns="0" rtlCol="0" anchor="ctr"/>
          <a:lstStyle/>
          <a:p>
            <a:pPr algn="l" indent="0" marL="0">
              <a:buNone/>
            </a:pPr>
            <a:r>
              <a:rPr lang="en-US" sz="1250" dirty="0">
                <a:solidFill>
                  <a:srgbClr val="1E2761"/>
                </a:solidFill>
                <a:latin typeface="Calibri" pitchFamily="34" charset="0"/>
                <a:ea typeface="Calibri" pitchFamily="34" charset="-122"/>
                <a:cs typeface="Calibri" pitchFamily="34" charset="-120"/>
              </a:rPr>
              <a:t>How should I word this email?</a:t>
            </a:r>
            <a:endParaRPr lang="en-US" sz="1250" dirty="0"/>
          </a:p>
        </p:txBody>
      </p:sp>
      <p:sp>
        <p:nvSpPr>
          <p:cNvPr id="8" name="Shape 6"/>
          <p:cNvSpPr/>
          <p:nvPr/>
        </p:nvSpPr>
        <p:spPr>
          <a:xfrm>
            <a:off x="822960" y="5212080"/>
            <a:ext cx="6400800" cy="640080"/>
          </a:xfrm>
          <a:prstGeom prst="roundRect">
            <a:avLst>
              <a:gd name="adj" fmla="val 14286"/>
            </a:avLst>
          </a:prstGeom>
          <a:solidFill>
            <a:srgbClr val="FFFFFF"/>
          </a:solidFill>
          <a:ln w="19050">
            <a:solidFill>
              <a:srgbClr val="1E2761"/>
            </a:solidFill>
            <a:prstDash val="solid"/>
          </a:ln>
        </p:spPr>
      </p:sp>
      <p:sp>
        <p:nvSpPr>
          <p:cNvPr id="9" name="Text 7"/>
          <p:cNvSpPr/>
          <p:nvPr/>
        </p:nvSpPr>
        <p:spPr>
          <a:xfrm>
            <a:off x="1051560" y="5212080"/>
            <a:ext cx="5943600" cy="640080"/>
          </a:xfrm>
          <a:prstGeom prst="rect">
            <a:avLst/>
          </a:prstGeom>
          <a:noFill/>
          <a:ln/>
        </p:spPr>
        <p:txBody>
          <a:bodyPr wrap="square" lIns="0" tIns="0" rIns="0" bIns="0" rtlCol="0" anchor="ctr"/>
          <a:lstStyle/>
          <a:p>
            <a:pPr algn="l" indent="0" marL="0">
              <a:buNone/>
            </a:pPr>
            <a:r>
              <a:rPr lang="en-US" sz="1400" b="1" dirty="0">
                <a:solidFill>
                  <a:srgbClr val="1E2761"/>
                </a:solidFill>
                <a:latin typeface="Courier New" pitchFamily="34" charset="0"/>
                <a:ea typeface="Courier New" pitchFamily="34" charset="-122"/>
                <a:cs typeface="Courier New" pitchFamily="34" charset="-120"/>
              </a:rPr>
              <a:t>/tone casual</a:t>
            </a:r>
            <a:endParaRPr lang="en-US" sz="1400" dirty="0"/>
          </a:p>
        </p:txBody>
      </p:sp>
      <p:sp>
        <p:nvSpPr>
          <p:cNvPr id="10" name="Shape 8"/>
          <p:cNvSpPr/>
          <p:nvPr/>
        </p:nvSpPr>
        <p:spPr>
          <a:xfrm>
            <a:off x="822960" y="3794760"/>
            <a:ext cx="6400800" cy="1325880"/>
          </a:xfrm>
          <a:prstGeom prst="roundRect">
            <a:avLst>
              <a:gd name="adj" fmla="val 5517"/>
            </a:avLst>
          </a:prstGeom>
          <a:solidFill>
            <a:srgbClr val="FFFFFF"/>
          </a:solidFill>
          <a:ln w="12700">
            <a:solidFill>
              <a:srgbClr val="DDE3F5"/>
            </a:solidFill>
            <a:prstDash val="solid"/>
          </a:ln>
          <a:effectLst>
            <a:outerShdw sx="100000" sy="100000" kx="0" ky="0" algn="bl" rotWithShape="0" blurRad="127000" dist="38100" dir="5400000">
              <a:srgbClr val="1E2761">
                <a:alpha val="15000"/>
              </a:srgbClr>
            </a:outerShdw>
          </a:effectLst>
        </p:spPr>
      </p:sp>
      <p:sp>
        <p:nvSpPr>
          <p:cNvPr id="11" name="Text 9"/>
          <p:cNvSpPr/>
          <p:nvPr/>
        </p:nvSpPr>
        <p:spPr>
          <a:xfrm>
            <a:off x="1005840" y="3867912"/>
            <a:ext cx="6035040" cy="384048"/>
          </a:xfrm>
          <a:prstGeom prst="rect">
            <a:avLst/>
          </a:prstGeom>
          <a:noFill/>
          <a:ln/>
        </p:spPr>
        <p:txBody>
          <a:bodyPr wrap="square" lIns="0" tIns="0" rIns="0" bIns="0" rtlCol="0" anchor="ctr"/>
          <a:lstStyle/>
          <a:p>
            <a:pPr algn="l" indent="0" marL="0">
              <a:buNone/>
            </a:pPr>
            <a:r>
              <a:rPr lang="en-US" sz="1150" b="1" dirty="0">
                <a:solidFill>
                  <a:srgbClr val="1E2761"/>
                </a:solidFill>
                <a:latin typeface="Calibri" pitchFamily="34" charset="0"/>
                <a:ea typeface="Calibri" pitchFamily="34" charset="-122"/>
                <a:cs typeface="Calibri" pitchFamily="34" charset="-120"/>
              </a:rPr>
              <a:t>/tone — set formal, casual, or simple</a:t>
            </a:r>
            <a:endParaRPr lang="en-US" sz="1150" dirty="0"/>
          </a:p>
        </p:txBody>
      </p:sp>
      <p:sp>
        <p:nvSpPr>
          <p:cNvPr id="12" name="Text 10"/>
          <p:cNvSpPr/>
          <p:nvPr/>
        </p:nvSpPr>
        <p:spPr>
          <a:xfrm>
            <a:off x="1005840" y="4279392"/>
            <a:ext cx="6035040" cy="384048"/>
          </a:xfrm>
          <a:prstGeom prst="rect">
            <a:avLst/>
          </a:prstGeom>
          <a:noFill/>
          <a:ln/>
        </p:spPr>
        <p:txBody>
          <a:bodyPr wrap="square" lIns="0" tIns="0" rIns="0" bIns="0" rtlCol="0" anchor="ctr"/>
          <a:lstStyle/>
          <a:p>
            <a:pPr algn="l" indent="0" marL="0">
              <a:buNone/>
            </a:pPr>
            <a:r>
              <a:rPr lang="en-US" sz="1150" dirty="0">
                <a:solidFill>
                  <a:srgbClr val="6B7590"/>
                </a:solidFill>
                <a:latin typeface="Calibri" pitchFamily="34" charset="0"/>
                <a:ea typeface="Calibri" pitchFamily="34" charset="-122"/>
                <a:cs typeface="Calibri" pitchFamily="34" charset="-120"/>
              </a:rPr>
              <a:t>/instant — toggle instant replies</a:t>
            </a:r>
            <a:endParaRPr lang="en-US" sz="1150" dirty="0"/>
          </a:p>
        </p:txBody>
      </p:sp>
      <p:sp>
        <p:nvSpPr>
          <p:cNvPr id="13" name="Text 11"/>
          <p:cNvSpPr/>
          <p:nvPr/>
        </p:nvSpPr>
        <p:spPr>
          <a:xfrm>
            <a:off x="1005840" y="4690872"/>
            <a:ext cx="6035040" cy="384048"/>
          </a:xfrm>
          <a:prstGeom prst="rect">
            <a:avLst/>
          </a:prstGeom>
          <a:noFill/>
          <a:ln/>
        </p:spPr>
        <p:txBody>
          <a:bodyPr wrap="square" lIns="0" tIns="0" rIns="0" bIns="0" rtlCol="0" anchor="ctr"/>
          <a:lstStyle/>
          <a:p>
            <a:pPr algn="l" indent="0" marL="0">
              <a:buNone/>
            </a:pPr>
            <a:r>
              <a:rPr lang="en-US" sz="1150" dirty="0">
                <a:solidFill>
                  <a:srgbClr val="6B7590"/>
                </a:solidFill>
                <a:latin typeface="Calibri" pitchFamily="34" charset="0"/>
                <a:ea typeface="Calibri" pitchFamily="34" charset="-122"/>
                <a:cs typeface="Calibri" pitchFamily="34" charset="-120"/>
              </a:rPr>
              <a:t>/creativity — set low, medium, or high</a:t>
            </a:r>
            <a:endParaRPr lang="en-US" sz="1150" dirty="0"/>
          </a:p>
        </p:txBody>
      </p:sp>
      <p:sp>
        <p:nvSpPr>
          <p:cNvPr id="14" name="Text 12"/>
          <p:cNvSpPr/>
          <p:nvPr/>
        </p:nvSpPr>
        <p:spPr>
          <a:xfrm>
            <a:off x="7863840" y="2011680"/>
            <a:ext cx="3749040" cy="45720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Why it works</a:t>
            </a:r>
            <a:endParaRPr lang="en-US" sz="1800" dirty="0"/>
          </a:p>
        </p:txBody>
      </p:sp>
      <p:sp>
        <p:nvSpPr>
          <p:cNvPr id="15" name="Shape 13"/>
          <p:cNvSpPr/>
          <p:nvPr/>
        </p:nvSpPr>
        <p:spPr>
          <a:xfrm>
            <a:off x="7863840" y="2651760"/>
            <a:ext cx="201168" cy="201168"/>
          </a:xfrm>
          <a:prstGeom prst="ellipse">
            <a:avLst/>
          </a:prstGeom>
          <a:solidFill>
            <a:srgbClr val="1E2761"/>
          </a:solidFill>
          <a:ln/>
        </p:spPr>
      </p:sp>
      <p:sp>
        <p:nvSpPr>
          <p:cNvPr id="16" name="Text 14"/>
          <p:cNvSpPr/>
          <p:nvPr/>
        </p:nvSpPr>
        <p:spPr>
          <a:xfrm>
            <a:off x="8229600" y="2532888"/>
            <a:ext cx="3383280" cy="640080"/>
          </a:xfrm>
          <a:prstGeom prst="rect">
            <a:avLst/>
          </a:prstGeom>
          <a:noFill/>
          <a:ln/>
        </p:spPr>
        <p:txBody>
          <a:bodyPr wrap="square" lIns="0" tIns="0" rIns="0" bIns="0" rtlCol="0" anchor="ctr"/>
          <a:lstStyle/>
          <a:p>
            <a:pPr indent="0" marL="0">
              <a:lnSpc>
                <a:spcPct val="115000"/>
              </a:lnSpc>
              <a:buNone/>
            </a:pPr>
            <a:r>
              <a:rPr lang="en-US" sz="1250" dirty="0">
                <a:solidFill>
                  <a:srgbClr val="1E2761"/>
                </a:solidFill>
                <a:latin typeface="Calibri" pitchFamily="34" charset="0"/>
                <a:ea typeface="Calibri" pitchFamily="34" charset="-122"/>
                <a:cs typeface="Calibri" pitchFamily="34" charset="-120"/>
              </a:rPr>
              <a:t>Familiar pattern — like Slack or Notion slash menus</a:t>
            </a:r>
            <a:endParaRPr lang="en-US" sz="1250" dirty="0"/>
          </a:p>
        </p:txBody>
      </p:sp>
      <p:sp>
        <p:nvSpPr>
          <p:cNvPr id="17" name="Shape 15"/>
          <p:cNvSpPr/>
          <p:nvPr/>
        </p:nvSpPr>
        <p:spPr>
          <a:xfrm>
            <a:off x="7863840" y="3474720"/>
            <a:ext cx="201168" cy="201168"/>
          </a:xfrm>
          <a:prstGeom prst="ellipse">
            <a:avLst/>
          </a:prstGeom>
          <a:solidFill>
            <a:srgbClr val="1E2761"/>
          </a:solidFill>
          <a:ln/>
        </p:spPr>
      </p:sp>
      <p:sp>
        <p:nvSpPr>
          <p:cNvPr id="18" name="Text 16"/>
          <p:cNvSpPr/>
          <p:nvPr/>
        </p:nvSpPr>
        <p:spPr>
          <a:xfrm>
            <a:off x="8229600" y="3355848"/>
            <a:ext cx="3383280" cy="640080"/>
          </a:xfrm>
          <a:prstGeom prst="rect">
            <a:avLst/>
          </a:prstGeom>
          <a:noFill/>
          <a:ln/>
        </p:spPr>
        <p:txBody>
          <a:bodyPr wrap="square" lIns="0" tIns="0" rIns="0" bIns="0" rtlCol="0" anchor="ctr"/>
          <a:lstStyle/>
          <a:p>
            <a:pPr indent="0" marL="0">
              <a:lnSpc>
                <a:spcPct val="115000"/>
              </a:lnSpc>
              <a:buNone/>
            </a:pPr>
            <a:r>
              <a:rPr lang="en-US" sz="1250" dirty="0">
                <a:solidFill>
                  <a:srgbClr val="1E2761"/>
                </a:solidFill>
                <a:latin typeface="Calibri" pitchFamily="34" charset="0"/>
                <a:ea typeface="Calibri" pitchFamily="34" charset="-122"/>
                <a:cs typeface="Calibri" pitchFamily="34" charset="-120"/>
              </a:rPr>
              <a:t>Zero navigation — stays inside the conversation</a:t>
            </a:r>
            <a:endParaRPr lang="en-US" sz="1250" dirty="0"/>
          </a:p>
        </p:txBody>
      </p:sp>
      <p:sp>
        <p:nvSpPr>
          <p:cNvPr id="19" name="Shape 17"/>
          <p:cNvSpPr/>
          <p:nvPr/>
        </p:nvSpPr>
        <p:spPr>
          <a:xfrm>
            <a:off x="7863840" y="4297680"/>
            <a:ext cx="201168" cy="201168"/>
          </a:xfrm>
          <a:prstGeom prst="ellipse">
            <a:avLst/>
          </a:prstGeom>
          <a:solidFill>
            <a:srgbClr val="1E2761"/>
          </a:solidFill>
          <a:ln/>
        </p:spPr>
      </p:sp>
      <p:sp>
        <p:nvSpPr>
          <p:cNvPr id="20" name="Text 18"/>
          <p:cNvSpPr/>
          <p:nvPr/>
        </p:nvSpPr>
        <p:spPr>
          <a:xfrm>
            <a:off x="8229600" y="4178808"/>
            <a:ext cx="3383280" cy="640080"/>
          </a:xfrm>
          <a:prstGeom prst="rect">
            <a:avLst/>
          </a:prstGeom>
          <a:noFill/>
          <a:ln/>
        </p:spPr>
        <p:txBody>
          <a:bodyPr wrap="square" lIns="0" tIns="0" rIns="0" bIns="0" rtlCol="0" anchor="ctr"/>
          <a:lstStyle/>
          <a:p>
            <a:pPr indent="0" marL="0">
              <a:lnSpc>
                <a:spcPct val="115000"/>
              </a:lnSpc>
              <a:buNone/>
            </a:pPr>
            <a:r>
              <a:rPr lang="en-US" sz="1250" dirty="0">
                <a:solidFill>
                  <a:srgbClr val="1E2761"/>
                </a:solidFill>
                <a:latin typeface="Calibri" pitchFamily="34" charset="0"/>
                <a:ea typeface="Calibri" pitchFamily="34" charset="-122"/>
                <a:cs typeface="Calibri" pitchFamily="34" charset="-120"/>
              </a:rPr>
              <a:t>Discoverable — autocomplete surfaces every option</a:t>
            </a:r>
            <a:endParaRPr lang="en-US" sz="1250" dirty="0"/>
          </a:p>
        </p:txBody>
      </p:sp>
      <p:sp>
        <p:nvSpPr>
          <p:cNvPr id="21" name="Shape 19"/>
          <p:cNvSpPr/>
          <p:nvPr/>
        </p:nvSpPr>
        <p:spPr>
          <a:xfrm>
            <a:off x="7863840" y="5120640"/>
            <a:ext cx="201168" cy="201168"/>
          </a:xfrm>
          <a:prstGeom prst="ellipse">
            <a:avLst/>
          </a:prstGeom>
          <a:solidFill>
            <a:srgbClr val="1E2761"/>
          </a:solidFill>
          <a:ln/>
        </p:spPr>
      </p:sp>
      <p:sp>
        <p:nvSpPr>
          <p:cNvPr id="22" name="Text 20"/>
          <p:cNvSpPr/>
          <p:nvPr/>
        </p:nvSpPr>
        <p:spPr>
          <a:xfrm>
            <a:off x="8229600" y="5001768"/>
            <a:ext cx="3383280" cy="640080"/>
          </a:xfrm>
          <a:prstGeom prst="rect">
            <a:avLst/>
          </a:prstGeom>
          <a:noFill/>
          <a:ln/>
        </p:spPr>
        <p:txBody>
          <a:bodyPr wrap="square" lIns="0" tIns="0" rIns="0" bIns="0" rtlCol="0" anchor="ctr"/>
          <a:lstStyle/>
          <a:p>
            <a:pPr indent="0" marL="0">
              <a:lnSpc>
                <a:spcPct val="115000"/>
              </a:lnSpc>
              <a:buNone/>
            </a:pPr>
            <a:r>
              <a:rPr lang="en-US" sz="1250" dirty="0">
                <a:solidFill>
                  <a:srgbClr val="1E2761"/>
                </a:solidFill>
                <a:latin typeface="Calibri" pitchFamily="34" charset="0"/>
                <a:ea typeface="Calibri" pitchFamily="34" charset="-122"/>
                <a:cs typeface="Calibri" pitchFamily="34" charset="-120"/>
              </a:rPr>
              <a:t>Reversible any time — just type the command again</a:t>
            </a:r>
            <a:endParaRPr lang="en-US" sz="1250" dirty="0"/>
          </a:p>
        </p:txBody>
      </p:sp>
      <p:sp>
        <p:nvSpPr>
          <p:cNvPr id="23" name="Text 21"/>
          <p:cNvSpPr/>
          <p:nvPr/>
        </p:nvSpPr>
        <p:spPr>
          <a:xfrm>
            <a:off x="457200" y="6537960"/>
            <a:ext cx="3657600" cy="274320"/>
          </a:xfrm>
          <a:prstGeom prst="rect">
            <a:avLst/>
          </a:prstGeom>
          <a:noFill/>
          <a:ln/>
        </p:spPr>
        <p:txBody>
          <a:bodyPr wrap="square" lIns="0" tIns="0" rIns="0" bIns="0" rtlCol="0" anchor="ctr"/>
          <a:lstStyle/>
          <a:p>
            <a:pPr algn="l" indent="0" marL="0">
              <a:buNone/>
            </a:pPr>
            <a:r>
              <a:rPr lang="en-US" sz="1000" dirty="0">
                <a:solidFill>
                  <a:srgbClr val="6B7590"/>
                </a:solidFill>
                <a:latin typeface="Calibri" pitchFamily="34" charset="0"/>
                <a:ea typeface="Calibri" pitchFamily="34" charset="-122"/>
                <a:cs typeface="Calibri" pitchFamily="34" charset="-120"/>
              </a:rPr>
              <a:t>/ Commands</a:t>
            </a:r>
            <a:endParaRPr lang="en-US" sz="1000" dirty="0"/>
          </a:p>
        </p:txBody>
      </p:sp>
      <p:sp>
        <p:nvSpPr>
          <p:cNvPr id="24" name="Text 22"/>
          <p:cNvSpPr/>
          <p:nvPr/>
        </p:nvSpPr>
        <p:spPr>
          <a:xfrm>
            <a:off x="11247120" y="6537960"/>
            <a:ext cx="457200" cy="274320"/>
          </a:xfrm>
          <a:prstGeom prst="rect">
            <a:avLst/>
          </a:prstGeom>
          <a:noFill/>
          <a:ln/>
        </p:spPr>
        <p:txBody>
          <a:bodyPr wrap="square" lIns="0" tIns="0" rIns="0" bIns="0" rtlCol="0" anchor="ctr"/>
          <a:lstStyle/>
          <a:p>
            <a:pPr algn="r" indent="0" marL="0">
              <a:buNone/>
            </a:pPr>
            <a:r>
              <a:rPr lang="en-US" sz="1000" dirty="0">
                <a:solidFill>
                  <a:srgbClr val="6B759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822960" cy="822960"/>
          </a:xfrm>
          <a:prstGeom prst="roundRect">
            <a:avLst>
              <a:gd name="adj" fmla="val 17778"/>
            </a:avLst>
          </a:prstGeom>
          <a:solidFill>
            <a:srgbClr val="1E2761"/>
          </a:solidFill>
          <a:ln/>
        </p:spPr>
      </p:sp>
      <p:sp>
        <p:nvSpPr>
          <p:cNvPr id="3" name="Text 1"/>
          <p:cNvSpPr/>
          <p:nvPr/>
        </p:nvSpPr>
        <p:spPr>
          <a:xfrm>
            <a:off x="548640" y="50292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Aa</a:t>
            </a:r>
            <a:endParaRPr lang="en-US" sz="2200" dirty="0"/>
          </a:p>
        </p:txBody>
      </p:sp>
      <p:sp>
        <p:nvSpPr>
          <p:cNvPr id="4" name="Text 2"/>
          <p:cNvSpPr/>
          <p:nvPr/>
        </p:nvSpPr>
        <p:spPr>
          <a:xfrm>
            <a:off x="1554480" y="502920"/>
            <a:ext cx="7315200" cy="457200"/>
          </a:xfrm>
          <a:prstGeom prst="rect">
            <a:avLst/>
          </a:prstGeom>
          <a:noFill/>
          <a:ln/>
        </p:spPr>
        <p:txBody>
          <a:bodyPr wrap="square" lIns="0" tIns="0" rIns="0" bIns="0" rtlCol="0" anchor="ctr"/>
          <a:lstStyle/>
          <a:p>
            <a:pPr indent="0" marL="0">
              <a:buNone/>
            </a:pPr>
            <a:r>
              <a:rPr lang="en-US" sz="1300" b="1" dirty="0">
                <a:solidFill>
                  <a:srgbClr val="6B7590"/>
                </a:solidFill>
                <a:latin typeface="Calibri" pitchFamily="34" charset="0"/>
                <a:ea typeface="Calibri" pitchFamily="34" charset="-122"/>
                <a:cs typeface="Calibri" pitchFamily="34" charset="-120"/>
              </a:rPr>
              <a:t>Setting 1 — Tone</a:t>
            </a:r>
            <a:endParaRPr lang="en-US" sz="1300" dirty="0"/>
          </a:p>
        </p:txBody>
      </p:sp>
      <p:sp>
        <p:nvSpPr>
          <p:cNvPr id="5" name="Text 3"/>
          <p:cNvSpPr/>
          <p:nvPr/>
        </p:nvSpPr>
        <p:spPr>
          <a:xfrm>
            <a:off x="1554480" y="822960"/>
            <a:ext cx="7315200" cy="5486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/tone</a:t>
            </a:r>
            <a:endParaRPr lang="en-US" sz="3000" dirty="0"/>
          </a:p>
        </p:txBody>
      </p:sp>
      <p:sp>
        <p:nvSpPr>
          <p:cNvPr id="6" name="Shape 4"/>
          <p:cNvSpPr/>
          <p:nvPr/>
        </p:nvSpPr>
        <p:spPr>
          <a:xfrm>
            <a:off x="548640" y="2103120"/>
            <a:ext cx="3520440" cy="3200400"/>
          </a:xfrm>
          <a:prstGeom prst="roundRect">
            <a:avLst>
              <a:gd name="adj" fmla="val 3429"/>
            </a:avLst>
          </a:prstGeom>
          <a:solidFill>
            <a:srgbClr val="F4F6FC"/>
          </a:solidFill>
          <a:ln/>
        </p:spPr>
      </p:sp>
      <p:sp>
        <p:nvSpPr>
          <p:cNvPr id="7" name="Text 5"/>
          <p:cNvSpPr/>
          <p:nvPr/>
        </p:nvSpPr>
        <p:spPr>
          <a:xfrm>
            <a:off x="822960" y="2377440"/>
            <a:ext cx="2971800" cy="45720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Formal</a:t>
            </a:r>
            <a:endParaRPr lang="en-US" sz="1600" dirty="0"/>
          </a:p>
        </p:txBody>
      </p:sp>
      <p:sp>
        <p:nvSpPr>
          <p:cNvPr id="8" name="Text 6"/>
          <p:cNvSpPr/>
          <p:nvPr/>
        </p:nvSpPr>
        <p:spPr>
          <a:xfrm>
            <a:off x="822960" y="2880360"/>
            <a:ext cx="2971800" cy="1554480"/>
          </a:xfrm>
          <a:prstGeom prst="rect">
            <a:avLst/>
          </a:prstGeom>
          <a:noFill/>
          <a:ln/>
        </p:spPr>
        <p:txBody>
          <a:bodyPr wrap="square" lIns="0" tIns="0" rIns="0" bIns="0" rtlCol="0" anchor="ctr"/>
          <a:lstStyle/>
          <a:p>
            <a:pPr indent="0" marL="0">
              <a:lnSpc>
                <a:spcPct val="125000"/>
              </a:lnSpc>
              <a:buNone/>
            </a:pPr>
            <a:r>
              <a:rPr lang="en-US" sz="1250" dirty="0">
                <a:solidFill>
                  <a:srgbClr val="6B7590"/>
                </a:solidFill>
                <a:latin typeface="Calibri" pitchFamily="34" charset="0"/>
                <a:ea typeface="Calibri" pitchFamily="34" charset="-122"/>
                <a:cs typeface="Calibri" pitchFamily="34" charset="-120"/>
              </a:rPr>
              <a:t>Polished, professional language for business and client-facing use.</a:t>
            </a:r>
            <a:endParaRPr lang="en-US" sz="1250" dirty="0"/>
          </a:p>
        </p:txBody>
      </p:sp>
      <p:sp>
        <p:nvSpPr>
          <p:cNvPr id="9" name="Shape 7"/>
          <p:cNvSpPr/>
          <p:nvPr/>
        </p:nvSpPr>
        <p:spPr>
          <a:xfrm>
            <a:off x="4389120" y="2103120"/>
            <a:ext cx="3520440" cy="3200400"/>
          </a:xfrm>
          <a:prstGeom prst="roundRect">
            <a:avLst>
              <a:gd name="adj" fmla="val 3429"/>
            </a:avLst>
          </a:prstGeom>
          <a:solidFill>
            <a:srgbClr val="F4F6FC"/>
          </a:solidFill>
          <a:ln/>
        </p:spPr>
      </p:sp>
      <p:sp>
        <p:nvSpPr>
          <p:cNvPr id="10" name="Text 8"/>
          <p:cNvSpPr/>
          <p:nvPr/>
        </p:nvSpPr>
        <p:spPr>
          <a:xfrm>
            <a:off x="4663440" y="2377440"/>
            <a:ext cx="2971800" cy="45720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Casual</a:t>
            </a:r>
            <a:endParaRPr lang="en-US" sz="1600" dirty="0"/>
          </a:p>
        </p:txBody>
      </p:sp>
      <p:sp>
        <p:nvSpPr>
          <p:cNvPr id="11" name="Text 9"/>
          <p:cNvSpPr/>
          <p:nvPr/>
        </p:nvSpPr>
        <p:spPr>
          <a:xfrm>
            <a:off x="4663440" y="2880360"/>
            <a:ext cx="2971800" cy="1554480"/>
          </a:xfrm>
          <a:prstGeom prst="rect">
            <a:avLst/>
          </a:prstGeom>
          <a:noFill/>
          <a:ln/>
        </p:spPr>
        <p:txBody>
          <a:bodyPr wrap="square" lIns="0" tIns="0" rIns="0" bIns="0" rtlCol="0" anchor="ctr"/>
          <a:lstStyle/>
          <a:p>
            <a:pPr indent="0" marL="0">
              <a:lnSpc>
                <a:spcPct val="125000"/>
              </a:lnSpc>
              <a:buNone/>
            </a:pPr>
            <a:r>
              <a:rPr lang="en-US" sz="1250" dirty="0">
                <a:solidFill>
                  <a:srgbClr val="6B7590"/>
                </a:solidFill>
                <a:latin typeface="Calibri" pitchFamily="34" charset="0"/>
                <a:ea typeface="Calibri" pitchFamily="34" charset="-122"/>
                <a:cs typeface="Calibri" pitchFamily="34" charset="-120"/>
              </a:rPr>
              <a:t>Relaxed and conversational — friendly, everyday phrasing.</a:t>
            </a:r>
            <a:endParaRPr lang="en-US" sz="1250" dirty="0"/>
          </a:p>
        </p:txBody>
      </p:sp>
      <p:sp>
        <p:nvSpPr>
          <p:cNvPr id="12" name="Shape 10"/>
          <p:cNvSpPr/>
          <p:nvPr/>
        </p:nvSpPr>
        <p:spPr>
          <a:xfrm>
            <a:off x="8229600" y="2103120"/>
            <a:ext cx="3520440" cy="3200400"/>
          </a:xfrm>
          <a:prstGeom prst="roundRect">
            <a:avLst>
              <a:gd name="adj" fmla="val 3429"/>
            </a:avLst>
          </a:prstGeom>
          <a:solidFill>
            <a:srgbClr val="1E2761"/>
          </a:solidFill>
          <a:ln/>
        </p:spPr>
      </p:sp>
      <p:sp>
        <p:nvSpPr>
          <p:cNvPr id="13" name="Text 11"/>
          <p:cNvSpPr/>
          <p:nvPr/>
        </p:nvSpPr>
        <p:spPr>
          <a:xfrm>
            <a:off x="8503920" y="2377440"/>
            <a:ext cx="29718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Simple (default)</a:t>
            </a:r>
            <a:endParaRPr lang="en-US" sz="1600" dirty="0"/>
          </a:p>
        </p:txBody>
      </p:sp>
      <p:sp>
        <p:nvSpPr>
          <p:cNvPr id="14" name="Text 12"/>
          <p:cNvSpPr/>
          <p:nvPr/>
        </p:nvSpPr>
        <p:spPr>
          <a:xfrm>
            <a:off x="8503920" y="2880360"/>
            <a:ext cx="2971800" cy="1554480"/>
          </a:xfrm>
          <a:prstGeom prst="rect">
            <a:avLst/>
          </a:prstGeom>
          <a:noFill/>
          <a:ln/>
        </p:spPr>
        <p:txBody>
          <a:bodyPr wrap="square" lIns="0" tIns="0" rIns="0" bIns="0" rtlCol="0" anchor="ctr"/>
          <a:lstStyle/>
          <a:p>
            <a:pPr indent="0" marL="0">
              <a:lnSpc>
                <a:spcPct val="125000"/>
              </a:lnSpc>
              <a:buNone/>
            </a:pPr>
            <a:r>
              <a:rPr lang="en-US" sz="1250" dirty="0">
                <a:solidFill>
                  <a:srgbClr val="CADCFC"/>
                </a:solidFill>
                <a:latin typeface="Calibri" pitchFamily="34" charset="0"/>
                <a:ea typeface="Calibri" pitchFamily="34" charset="-122"/>
                <a:cs typeface="Calibri" pitchFamily="34" charset="-120"/>
              </a:rPr>
              <a:t>Plain, clear language personalized to the user from the first message.</a:t>
            </a:r>
            <a:endParaRPr lang="en-US" sz="1250" dirty="0"/>
          </a:p>
        </p:txBody>
      </p:sp>
      <p:sp>
        <p:nvSpPr>
          <p:cNvPr id="15" name="Shape 13"/>
          <p:cNvSpPr/>
          <p:nvPr/>
        </p:nvSpPr>
        <p:spPr>
          <a:xfrm>
            <a:off x="8503920" y="4754880"/>
            <a:ext cx="1463040" cy="365760"/>
          </a:xfrm>
          <a:prstGeom prst="roundRect">
            <a:avLst>
              <a:gd name="adj" fmla="val 50000"/>
            </a:avLst>
          </a:prstGeom>
          <a:solidFill>
            <a:srgbClr val="3A4590"/>
          </a:solidFill>
          <a:ln/>
        </p:spPr>
      </p:sp>
      <p:sp>
        <p:nvSpPr>
          <p:cNvPr id="16" name="Text 14"/>
          <p:cNvSpPr/>
          <p:nvPr/>
        </p:nvSpPr>
        <p:spPr>
          <a:xfrm>
            <a:off x="8503920" y="4754880"/>
            <a:ext cx="1463040" cy="365760"/>
          </a:xfrm>
          <a:prstGeom prst="rect">
            <a:avLst/>
          </a:prstGeom>
          <a:noFill/>
          <a:ln/>
        </p:spPr>
        <p:txBody>
          <a:bodyPr wrap="square" lIns="0" tIns="0" rIns="0" bIns="0" rtlCol="0" anchor="ctr"/>
          <a:lstStyle/>
          <a:p>
            <a:pPr algn="ctr" indent="0" marL="0">
              <a:buNone/>
            </a:pPr>
            <a:r>
              <a:rPr lang="en-US" sz="1000" b="1" dirty="0">
                <a:solidFill>
                  <a:srgbClr val="CADCFC"/>
                </a:solidFill>
                <a:latin typeface="Calibri" pitchFamily="34" charset="0"/>
                <a:ea typeface="Calibri" pitchFamily="34" charset="-122"/>
                <a:cs typeface="Calibri" pitchFamily="34" charset="-120"/>
              </a:rPr>
              <a:t>DEFAULT</a:t>
            </a:r>
            <a:endParaRPr lang="en-US" sz="1000" dirty="0"/>
          </a:p>
        </p:txBody>
      </p:sp>
      <p:sp>
        <p:nvSpPr>
          <p:cNvPr id="17" name="Text 15"/>
          <p:cNvSpPr/>
          <p:nvPr/>
        </p:nvSpPr>
        <p:spPr>
          <a:xfrm>
            <a:off x="457200" y="6537960"/>
            <a:ext cx="3657600" cy="274320"/>
          </a:xfrm>
          <a:prstGeom prst="rect">
            <a:avLst/>
          </a:prstGeom>
          <a:noFill/>
          <a:ln/>
        </p:spPr>
        <p:txBody>
          <a:bodyPr wrap="square" lIns="0" tIns="0" rIns="0" bIns="0" rtlCol="0" anchor="ctr"/>
          <a:lstStyle/>
          <a:p>
            <a:pPr algn="l" indent="0" marL="0">
              <a:buNone/>
            </a:pPr>
            <a:r>
              <a:rPr lang="en-US" sz="1000" dirty="0">
                <a:solidFill>
                  <a:srgbClr val="6B7590"/>
                </a:solidFill>
                <a:latin typeface="Calibri" pitchFamily="34" charset="0"/>
                <a:ea typeface="Calibri" pitchFamily="34" charset="-122"/>
                <a:cs typeface="Calibri" pitchFamily="34" charset="-120"/>
              </a:rPr>
              <a:t>/ Commands</a:t>
            </a:r>
            <a:endParaRPr lang="en-US" sz="1000" dirty="0"/>
          </a:p>
        </p:txBody>
      </p:sp>
      <p:sp>
        <p:nvSpPr>
          <p:cNvPr id="18" name="Text 16"/>
          <p:cNvSpPr/>
          <p:nvPr/>
        </p:nvSpPr>
        <p:spPr>
          <a:xfrm>
            <a:off x="11247120" y="6537960"/>
            <a:ext cx="457200" cy="274320"/>
          </a:xfrm>
          <a:prstGeom prst="rect">
            <a:avLst/>
          </a:prstGeom>
          <a:noFill/>
          <a:ln/>
        </p:spPr>
        <p:txBody>
          <a:bodyPr wrap="square" lIns="0" tIns="0" rIns="0" bIns="0" rtlCol="0" anchor="ctr"/>
          <a:lstStyle/>
          <a:p>
            <a:pPr algn="r" indent="0" marL="0">
              <a:buNone/>
            </a:pPr>
            <a:r>
              <a:rPr lang="en-US" sz="1000" dirty="0">
                <a:solidFill>
                  <a:srgbClr val="6B759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822960" cy="822960"/>
          </a:xfrm>
          <a:prstGeom prst="roundRect">
            <a:avLst>
              <a:gd name="adj" fmla="val 17778"/>
            </a:avLst>
          </a:prstGeom>
          <a:solidFill>
            <a:srgbClr val="1E2761"/>
          </a:solidFill>
          <a:ln/>
        </p:spPr>
      </p:sp>
      <p:sp>
        <p:nvSpPr>
          <p:cNvPr id="3" name="Text 1"/>
          <p:cNvSpPr/>
          <p:nvPr/>
        </p:nvSpPr>
        <p:spPr>
          <a:xfrm>
            <a:off x="548640" y="502920"/>
            <a:ext cx="822960" cy="822960"/>
          </a:xfrm>
          <a:prstGeom prst="rect">
            <a:avLst/>
          </a:prstGeom>
          <a:noFill/>
          <a:ln/>
        </p:spPr>
        <p:txBody>
          <a:bodyPr wrap="square" lIns="0" tIns="0" rIns="0" bIns="0" rtlCol="0" anchor="ctr"/>
          <a:lstStyle/>
          <a:p>
            <a:pPr algn="ctr" indent="0" marL="0">
              <a:buNone/>
            </a:pPr>
            <a:r>
              <a:rPr lang="en-US" sz="2400" dirty="0">
                <a:solidFill>
                  <a:srgbClr val="FFFFFF"/>
                </a:solidFill>
                <a:latin typeface="Calibri" pitchFamily="34" charset="0"/>
                <a:ea typeface="Calibri" pitchFamily="34" charset="-122"/>
                <a:cs typeface="Calibri" pitchFamily="34" charset="-120"/>
              </a:rPr>
              <a:t>⚡</a:t>
            </a:r>
            <a:endParaRPr lang="en-US" sz="2400" dirty="0"/>
          </a:p>
        </p:txBody>
      </p:sp>
      <p:sp>
        <p:nvSpPr>
          <p:cNvPr id="4" name="Text 2"/>
          <p:cNvSpPr/>
          <p:nvPr/>
        </p:nvSpPr>
        <p:spPr>
          <a:xfrm>
            <a:off x="1554480" y="502920"/>
            <a:ext cx="7315200" cy="457200"/>
          </a:xfrm>
          <a:prstGeom prst="rect">
            <a:avLst/>
          </a:prstGeom>
          <a:noFill/>
          <a:ln/>
        </p:spPr>
        <p:txBody>
          <a:bodyPr wrap="square" lIns="0" tIns="0" rIns="0" bIns="0" rtlCol="0" anchor="ctr"/>
          <a:lstStyle/>
          <a:p>
            <a:pPr indent="0" marL="0">
              <a:buNone/>
            </a:pPr>
            <a:r>
              <a:rPr lang="en-US" sz="1300" b="1" dirty="0">
                <a:solidFill>
                  <a:srgbClr val="6B7590"/>
                </a:solidFill>
                <a:latin typeface="Calibri" pitchFamily="34" charset="0"/>
                <a:ea typeface="Calibri" pitchFamily="34" charset="-122"/>
                <a:cs typeface="Calibri" pitchFamily="34" charset="-120"/>
              </a:rPr>
              <a:t>Setting 2 — Instant</a:t>
            </a:r>
            <a:endParaRPr lang="en-US" sz="1300" dirty="0"/>
          </a:p>
        </p:txBody>
      </p:sp>
      <p:sp>
        <p:nvSpPr>
          <p:cNvPr id="5" name="Text 3"/>
          <p:cNvSpPr/>
          <p:nvPr/>
        </p:nvSpPr>
        <p:spPr>
          <a:xfrm>
            <a:off x="1554480" y="822960"/>
            <a:ext cx="7315200" cy="5486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/instant</a:t>
            </a:r>
            <a:endParaRPr lang="en-US" sz="3000" dirty="0"/>
          </a:p>
        </p:txBody>
      </p:sp>
      <p:sp>
        <p:nvSpPr>
          <p:cNvPr id="6" name="Shape 4"/>
          <p:cNvSpPr/>
          <p:nvPr/>
        </p:nvSpPr>
        <p:spPr>
          <a:xfrm>
            <a:off x="548640" y="2194560"/>
            <a:ext cx="5120640" cy="1737360"/>
          </a:xfrm>
          <a:prstGeom prst="roundRect">
            <a:avLst>
              <a:gd name="adj" fmla="val 6316"/>
            </a:avLst>
          </a:prstGeom>
          <a:solidFill>
            <a:srgbClr val="F4F6FC"/>
          </a:solidFill>
          <a:ln/>
        </p:spPr>
      </p:sp>
      <p:sp>
        <p:nvSpPr>
          <p:cNvPr id="7" name="Text 5"/>
          <p:cNvSpPr/>
          <p:nvPr/>
        </p:nvSpPr>
        <p:spPr>
          <a:xfrm>
            <a:off x="914400" y="2423160"/>
            <a:ext cx="1371600" cy="457200"/>
          </a:xfrm>
          <a:prstGeom prst="rect">
            <a:avLst/>
          </a:prstGeom>
          <a:noFill/>
          <a:ln/>
        </p:spPr>
        <p:txBody>
          <a:bodyPr wrap="square" lIns="0" tIns="0" rIns="0" bIns="0"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ON</a:t>
            </a:r>
            <a:endParaRPr lang="en-US" sz="2000" dirty="0"/>
          </a:p>
        </p:txBody>
      </p:sp>
      <p:sp>
        <p:nvSpPr>
          <p:cNvPr id="8" name="Shape 6"/>
          <p:cNvSpPr/>
          <p:nvPr/>
        </p:nvSpPr>
        <p:spPr>
          <a:xfrm>
            <a:off x="914400" y="2971800"/>
            <a:ext cx="914400" cy="457200"/>
          </a:xfrm>
          <a:prstGeom prst="roundRect">
            <a:avLst>
              <a:gd name="adj" fmla="val 50000"/>
            </a:avLst>
          </a:prstGeom>
          <a:solidFill>
            <a:srgbClr val="1E2761"/>
          </a:solidFill>
          <a:ln/>
        </p:spPr>
      </p:sp>
      <p:sp>
        <p:nvSpPr>
          <p:cNvPr id="9" name="Shape 7"/>
          <p:cNvSpPr/>
          <p:nvPr/>
        </p:nvSpPr>
        <p:spPr>
          <a:xfrm>
            <a:off x="1280160" y="3017520"/>
            <a:ext cx="365760" cy="365760"/>
          </a:xfrm>
          <a:prstGeom prst="ellipse">
            <a:avLst/>
          </a:prstGeom>
          <a:solidFill>
            <a:srgbClr val="FFFFFF"/>
          </a:solidFill>
          <a:ln/>
        </p:spPr>
      </p:sp>
      <p:sp>
        <p:nvSpPr>
          <p:cNvPr id="10" name="Text 8"/>
          <p:cNvSpPr/>
          <p:nvPr/>
        </p:nvSpPr>
        <p:spPr>
          <a:xfrm>
            <a:off x="2194560" y="2468880"/>
            <a:ext cx="3474720" cy="1188720"/>
          </a:xfrm>
          <a:prstGeom prst="rect">
            <a:avLst/>
          </a:prstGeom>
          <a:noFill/>
          <a:ln/>
        </p:spPr>
        <p:txBody>
          <a:bodyPr wrap="square" lIns="0" tIns="0" rIns="0" bIns="0" rtlCol="0" anchor="ctr"/>
          <a:lstStyle/>
          <a:p>
            <a:pPr indent="0" marL="0">
              <a:lnSpc>
                <a:spcPct val="130000"/>
              </a:lnSpc>
              <a:buNone/>
            </a:pPr>
            <a:r>
              <a:rPr lang="en-US" sz="1250" dirty="0">
                <a:solidFill>
                  <a:srgbClr val="1E2761"/>
                </a:solidFill>
                <a:latin typeface="Calibri" pitchFamily="34" charset="0"/>
                <a:ea typeface="Calibri" pitchFamily="34" charset="-122"/>
                <a:cs typeface="Calibri" pitchFamily="34" charset="-120"/>
              </a:rPr>
              <a:t>Replies stream immediately with quick, lightweight responses — built for speed and short back-and-forth.</a:t>
            </a:r>
            <a:endParaRPr lang="en-US" sz="1250" dirty="0"/>
          </a:p>
        </p:txBody>
      </p:sp>
      <p:sp>
        <p:nvSpPr>
          <p:cNvPr id="11" name="Shape 9"/>
          <p:cNvSpPr/>
          <p:nvPr/>
        </p:nvSpPr>
        <p:spPr>
          <a:xfrm>
            <a:off x="548640" y="4160520"/>
            <a:ext cx="5120640" cy="1737360"/>
          </a:xfrm>
          <a:prstGeom prst="roundRect">
            <a:avLst>
              <a:gd name="adj" fmla="val 6316"/>
            </a:avLst>
          </a:prstGeom>
          <a:solidFill>
            <a:srgbClr val="F4F6FC"/>
          </a:solidFill>
          <a:ln/>
        </p:spPr>
      </p:sp>
      <p:sp>
        <p:nvSpPr>
          <p:cNvPr id="12" name="Text 10"/>
          <p:cNvSpPr/>
          <p:nvPr/>
        </p:nvSpPr>
        <p:spPr>
          <a:xfrm>
            <a:off x="914400" y="4389120"/>
            <a:ext cx="1371600" cy="457200"/>
          </a:xfrm>
          <a:prstGeom prst="rect">
            <a:avLst/>
          </a:prstGeom>
          <a:noFill/>
          <a:ln/>
        </p:spPr>
        <p:txBody>
          <a:bodyPr wrap="square" lIns="0" tIns="0" rIns="0" bIns="0" rtlCol="0" anchor="ctr"/>
          <a:lstStyle/>
          <a:p>
            <a:pPr indent="0" marL="0">
              <a:buNone/>
            </a:pPr>
            <a:r>
              <a:rPr lang="en-US" sz="2000" b="1" dirty="0">
                <a:solidFill>
                  <a:srgbClr val="6B7590"/>
                </a:solidFill>
                <a:latin typeface="Cambria" pitchFamily="34" charset="0"/>
                <a:ea typeface="Cambria" pitchFamily="34" charset="-122"/>
                <a:cs typeface="Cambria" pitchFamily="34" charset="-120"/>
              </a:rPr>
              <a:t>OFF</a:t>
            </a:r>
            <a:endParaRPr lang="en-US" sz="2000" dirty="0"/>
          </a:p>
        </p:txBody>
      </p:sp>
      <p:sp>
        <p:nvSpPr>
          <p:cNvPr id="13" name="Shape 11"/>
          <p:cNvSpPr/>
          <p:nvPr/>
        </p:nvSpPr>
        <p:spPr>
          <a:xfrm>
            <a:off x="914400" y="4937760"/>
            <a:ext cx="914400" cy="457200"/>
          </a:xfrm>
          <a:prstGeom prst="roundRect">
            <a:avLst>
              <a:gd name="adj" fmla="val 50000"/>
            </a:avLst>
          </a:prstGeom>
          <a:solidFill>
            <a:srgbClr val="C7CDE0"/>
          </a:solidFill>
          <a:ln/>
        </p:spPr>
      </p:sp>
      <p:sp>
        <p:nvSpPr>
          <p:cNvPr id="14" name="Shape 12"/>
          <p:cNvSpPr/>
          <p:nvPr/>
        </p:nvSpPr>
        <p:spPr>
          <a:xfrm>
            <a:off x="1005840" y="4983480"/>
            <a:ext cx="365760" cy="365760"/>
          </a:xfrm>
          <a:prstGeom prst="ellipse">
            <a:avLst/>
          </a:prstGeom>
          <a:solidFill>
            <a:srgbClr val="FFFFFF"/>
          </a:solidFill>
          <a:ln/>
        </p:spPr>
      </p:sp>
      <p:sp>
        <p:nvSpPr>
          <p:cNvPr id="15" name="Text 13"/>
          <p:cNvSpPr/>
          <p:nvPr/>
        </p:nvSpPr>
        <p:spPr>
          <a:xfrm>
            <a:off x="2194560" y="4434840"/>
            <a:ext cx="3474720" cy="1188720"/>
          </a:xfrm>
          <a:prstGeom prst="rect">
            <a:avLst/>
          </a:prstGeom>
          <a:noFill/>
          <a:ln/>
        </p:spPr>
        <p:txBody>
          <a:bodyPr wrap="square" lIns="0" tIns="0" rIns="0" bIns="0" rtlCol="0" anchor="ctr"/>
          <a:lstStyle/>
          <a:p>
            <a:pPr indent="0" marL="0">
              <a:lnSpc>
                <a:spcPct val="130000"/>
              </a:lnSpc>
              <a:buNone/>
            </a:pPr>
            <a:r>
              <a:rPr lang="en-US" sz="1250" dirty="0">
                <a:solidFill>
                  <a:srgbClr val="1E2761"/>
                </a:solidFill>
                <a:latin typeface="Calibri" pitchFamily="34" charset="0"/>
                <a:ea typeface="Calibri" pitchFamily="34" charset="-122"/>
                <a:cs typeface="Calibri" pitchFamily="34" charset="-120"/>
              </a:rPr>
              <a:t>The assistant takes extra time to reason through the request for more thorough, considered answers.</a:t>
            </a:r>
            <a:endParaRPr lang="en-US" sz="1250" dirty="0"/>
          </a:p>
        </p:txBody>
      </p:sp>
      <p:sp>
        <p:nvSpPr>
          <p:cNvPr id="16" name="Text 14"/>
          <p:cNvSpPr/>
          <p:nvPr/>
        </p:nvSpPr>
        <p:spPr>
          <a:xfrm>
            <a:off x="6217920" y="2194560"/>
            <a:ext cx="5394960" cy="45720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When customers reach for it</a:t>
            </a:r>
            <a:endParaRPr lang="en-US" sz="1700" dirty="0"/>
          </a:p>
        </p:txBody>
      </p:sp>
      <p:sp>
        <p:nvSpPr>
          <p:cNvPr id="17" name="Shape 15"/>
          <p:cNvSpPr/>
          <p:nvPr/>
        </p:nvSpPr>
        <p:spPr>
          <a:xfrm>
            <a:off x="6217920" y="2788920"/>
            <a:ext cx="5394960" cy="640080"/>
          </a:xfrm>
          <a:prstGeom prst="roundRect">
            <a:avLst>
              <a:gd name="adj" fmla="val 14286"/>
            </a:avLst>
          </a:prstGeom>
          <a:solidFill>
            <a:srgbClr val="FFFFFF"/>
          </a:solidFill>
          <a:ln w="12700">
            <a:solidFill>
              <a:srgbClr val="E4E8F5"/>
            </a:solidFill>
            <a:prstDash val="solid"/>
          </a:ln>
        </p:spPr>
      </p:sp>
      <p:sp>
        <p:nvSpPr>
          <p:cNvPr id="18" name="Text 16"/>
          <p:cNvSpPr/>
          <p:nvPr/>
        </p:nvSpPr>
        <p:spPr>
          <a:xfrm>
            <a:off x="6446520" y="2788920"/>
            <a:ext cx="1828800" cy="640080"/>
          </a:xfrm>
          <a:prstGeom prst="rect">
            <a:avLst/>
          </a:prstGeom>
          <a:noFill/>
          <a:ln/>
        </p:spPr>
        <p:txBody>
          <a:bodyPr wrap="square" lIns="0" tIns="0" rIns="0" bIns="0" rtlCol="0" anchor="ctr"/>
          <a:lstStyle/>
          <a:p>
            <a:pPr algn="l" indent="0" marL="0">
              <a:buNone/>
            </a:pPr>
            <a:r>
              <a:rPr lang="en-US" sz="1250" b="1" dirty="0">
                <a:solidFill>
                  <a:srgbClr val="1E2761"/>
                </a:solidFill>
                <a:latin typeface="Calibri" pitchFamily="34" charset="0"/>
                <a:ea typeface="Calibri" pitchFamily="34" charset="-122"/>
                <a:cs typeface="Calibri" pitchFamily="34" charset="-120"/>
              </a:rPr>
              <a:t>Support triage</a:t>
            </a:r>
            <a:endParaRPr lang="en-US" sz="1250" dirty="0"/>
          </a:p>
        </p:txBody>
      </p:sp>
      <p:sp>
        <p:nvSpPr>
          <p:cNvPr id="19" name="Text 17"/>
          <p:cNvSpPr/>
          <p:nvPr/>
        </p:nvSpPr>
        <p:spPr>
          <a:xfrm>
            <a:off x="8229600" y="2788920"/>
            <a:ext cx="3200400" cy="640080"/>
          </a:xfrm>
          <a:prstGeom prst="rect">
            <a:avLst/>
          </a:prstGeom>
          <a:noFill/>
          <a:ln/>
        </p:spPr>
        <p:txBody>
          <a:bodyPr wrap="square" lIns="0" tIns="0" rIns="0" bIns="0" rtlCol="0" anchor="ctr"/>
          <a:lstStyle/>
          <a:p>
            <a:pPr algn="l" indent="0" marL="0">
              <a:buNone/>
            </a:pPr>
            <a:r>
              <a:rPr lang="en-US" sz="1150" dirty="0">
                <a:solidFill>
                  <a:srgbClr val="6B7590"/>
                </a:solidFill>
                <a:latin typeface="Calibri" pitchFamily="34" charset="0"/>
                <a:ea typeface="Calibri" pitchFamily="34" charset="-122"/>
                <a:cs typeface="Calibri" pitchFamily="34" charset="-120"/>
              </a:rPr>
              <a:t>ON — fast first response for simple tickets</a:t>
            </a:r>
            <a:endParaRPr lang="en-US" sz="1150" dirty="0"/>
          </a:p>
        </p:txBody>
      </p:sp>
      <p:sp>
        <p:nvSpPr>
          <p:cNvPr id="20" name="Shape 18"/>
          <p:cNvSpPr/>
          <p:nvPr/>
        </p:nvSpPr>
        <p:spPr>
          <a:xfrm>
            <a:off x="6217920" y="3566160"/>
            <a:ext cx="5394960" cy="640080"/>
          </a:xfrm>
          <a:prstGeom prst="roundRect">
            <a:avLst>
              <a:gd name="adj" fmla="val 14286"/>
            </a:avLst>
          </a:prstGeom>
          <a:solidFill>
            <a:srgbClr val="FFFFFF"/>
          </a:solidFill>
          <a:ln w="12700">
            <a:solidFill>
              <a:srgbClr val="E4E8F5"/>
            </a:solidFill>
            <a:prstDash val="solid"/>
          </a:ln>
        </p:spPr>
      </p:sp>
      <p:sp>
        <p:nvSpPr>
          <p:cNvPr id="21" name="Text 19"/>
          <p:cNvSpPr/>
          <p:nvPr/>
        </p:nvSpPr>
        <p:spPr>
          <a:xfrm>
            <a:off x="6446520" y="3566160"/>
            <a:ext cx="1828800" cy="640080"/>
          </a:xfrm>
          <a:prstGeom prst="rect">
            <a:avLst/>
          </a:prstGeom>
          <a:noFill/>
          <a:ln/>
        </p:spPr>
        <p:txBody>
          <a:bodyPr wrap="square" lIns="0" tIns="0" rIns="0" bIns="0" rtlCol="0" anchor="ctr"/>
          <a:lstStyle/>
          <a:p>
            <a:pPr algn="l" indent="0" marL="0">
              <a:buNone/>
            </a:pPr>
            <a:r>
              <a:rPr lang="en-US" sz="1250" b="1" dirty="0">
                <a:solidFill>
                  <a:srgbClr val="1E2761"/>
                </a:solidFill>
                <a:latin typeface="Calibri" pitchFamily="34" charset="0"/>
                <a:ea typeface="Calibri" pitchFamily="34" charset="-122"/>
                <a:cs typeface="Calibri" pitchFamily="34" charset="-120"/>
              </a:rPr>
              <a:t>Research &amp; drafting</a:t>
            </a:r>
            <a:endParaRPr lang="en-US" sz="1250" dirty="0"/>
          </a:p>
        </p:txBody>
      </p:sp>
      <p:sp>
        <p:nvSpPr>
          <p:cNvPr id="22" name="Text 20"/>
          <p:cNvSpPr/>
          <p:nvPr/>
        </p:nvSpPr>
        <p:spPr>
          <a:xfrm>
            <a:off x="8229600" y="3566160"/>
            <a:ext cx="3200400" cy="640080"/>
          </a:xfrm>
          <a:prstGeom prst="rect">
            <a:avLst/>
          </a:prstGeom>
          <a:noFill/>
          <a:ln/>
        </p:spPr>
        <p:txBody>
          <a:bodyPr wrap="square" lIns="0" tIns="0" rIns="0" bIns="0" rtlCol="0" anchor="ctr"/>
          <a:lstStyle/>
          <a:p>
            <a:pPr algn="l" indent="0" marL="0">
              <a:buNone/>
            </a:pPr>
            <a:r>
              <a:rPr lang="en-US" sz="1150" dirty="0">
                <a:solidFill>
                  <a:srgbClr val="6B7590"/>
                </a:solidFill>
                <a:latin typeface="Calibri" pitchFamily="34" charset="0"/>
                <a:ea typeface="Calibri" pitchFamily="34" charset="-122"/>
                <a:cs typeface="Calibri" pitchFamily="34" charset="-120"/>
              </a:rPr>
              <a:t>OFF — deeper, higher-quality output</a:t>
            </a:r>
            <a:endParaRPr lang="en-US" sz="1150" dirty="0"/>
          </a:p>
        </p:txBody>
      </p:sp>
      <p:sp>
        <p:nvSpPr>
          <p:cNvPr id="23" name="Shape 21"/>
          <p:cNvSpPr/>
          <p:nvPr/>
        </p:nvSpPr>
        <p:spPr>
          <a:xfrm>
            <a:off x="6217920" y="4343400"/>
            <a:ext cx="5394960" cy="640080"/>
          </a:xfrm>
          <a:prstGeom prst="roundRect">
            <a:avLst>
              <a:gd name="adj" fmla="val 14286"/>
            </a:avLst>
          </a:prstGeom>
          <a:solidFill>
            <a:srgbClr val="FFFFFF"/>
          </a:solidFill>
          <a:ln w="12700">
            <a:solidFill>
              <a:srgbClr val="E4E8F5"/>
            </a:solidFill>
            <a:prstDash val="solid"/>
          </a:ln>
        </p:spPr>
      </p:sp>
      <p:sp>
        <p:nvSpPr>
          <p:cNvPr id="24" name="Text 22"/>
          <p:cNvSpPr/>
          <p:nvPr/>
        </p:nvSpPr>
        <p:spPr>
          <a:xfrm>
            <a:off x="6446520" y="4343400"/>
            <a:ext cx="1828800" cy="640080"/>
          </a:xfrm>
          <a:prstGeom prst="rect">
            <a:avLst/>
          </a:prstGeom>
          <a:noFill/>
          <a:ln/>
        </p:spPr>
        <p:txBody>
          <a:bodyPr wrap="square" lIns="0" tIns="0" rIns="0" bIns="0" rtlCol="0" anchor="ctr"/>
          <a:lstStyle/>
          <a:p>
            <a:pPr algn="l" indent="0" marL="0">
              <a:buNone/>
            </a:pPr>
            <a:r>
              <a:rPr lang="en-US" sz="1250" b="1" dirty="0">
                <a:solidFill>
                  <a:srgbClr val="1E2761"/>
                </a:solidFill>
                <a:latin typeface="Calibri" pitchFamily="34" charset="0"/>
                <a:ea typeface="Calibri" pitchFamily="34" charset="-122"/>
                <a:cs typeface="Calibri" pitchFamily="34" charset="-120"/>
              </a:rPr>
              <a:t>High-volume chat</a:t>
            </a:r>
            <a:endParaRPr lang="en-US" sz="1250" dirty="0"/>
          </a:p>
        </p:txBody>
      </p:sp>
      <p:sp>
        <p:nvSpPr>
          <p:cNvPr id="25" name="Text 23"/>
          <p:cNvSpPr/>
          <p:nvPr/>
        </p:nvSpPr>
        <p:spPr>
          <a:xfrm>
            <a:off x="8229600" y="4343400"/>
            <a:ext cx="3200400" cy="640080"/>
          </a:xfrm>
          <a:prstGeom prst="rect">
            <a:avLst/>
          </a:prstGeom>
          <a:noFill/>
          <a:ln/>
        </p:spPr>
        <p:txBody>
          <a:bodyPr wrap="square" lIns="0" tIns="0" rIns="0" bIns="0" rtlCol="0" anchor="ctr"/>
          <a:lstStyle/>
          <a:p>
            <a:pPr algn="l" indent="0" marL="0">
              <a:buNone/>
            </a:pPr>
            <a:r>
              <a:rPr lang="en-US" sz="1150" dirty="0">
                <a:solidFill>
                  <a:srgbClr val="6B7590"/>
                </a:solidFill>
                <a:latin typeface="Calibri" pitchFamily="34" charset="0"/>
                <a:ea typeface="Calibri" pitchFamily="34" charset="-122"/>
                <a:cs typeface="Calibri" pitchFamily="34" charset="-120"/>
              </a:rPr>
              <a:t>ON — keeps latency low at scale</a:t>
            </a:r>
            <a:endParaRPr lang="en-US" sz="1150" dirty="0"/>
          </a:p>
        </p:txBody>
      </p:sp>
      <p:sp>
        <p:nvSpPr>
          <p:cNvPr id="26" name="Text 24"/>
          <p:cNvSpPr/>
          <p:nvPr/>
        </p:nvSpPr>
        <p:spPr>
          <a:xfrm>
            <a:off x="457200" y="6537960"/>
            <a:ext cx="3657600" cy="274320"/>
          </a:xfrm>
          <a:prstGeom prst="rect">
            <a:avLst/>
          </a:prstGeom>
          <a:noFill/>
          <a:ln/>
        </p:spPr>
        <p:txBody>
          <a:bodyPr wrap="square" lIns="0" tIns="0" rIns="0" bIns="0" rtlCol="0" anchor="ctr"/>
          <a:lstStyle/>
          <a:p>
            <a:pPr algn="l" indent="0" marL="0">
              <a:buNone/>
            </a:pPr>
            <a:r>
              <a:rPr lang="en-US" sz="1000" dirty="0">
                <a:solidFill>
                  <a:srgbClr val="6B7590"/>
                </a:solidFill>
                <a:latin typeface="Calibri" pitchFamily="34" charset="0"/>
                <a:ea typeface="Calibri" pitchFamily="34" charset="-122"/>
                <a:cs typeface="Calibri" pitchFamily="34" charset="-120"/>
              </a:rPr>
              <a:t>/ Commands</a:t>
            </a:r>
            <a:endParaRPr lang="en-US" sz="1000" dirty="0"/>
          </a:p>
        </p:txBody>
      </p:sp>
      <p:sp>
        <p:nvSpPr>
          <p:cNvPr id="27" name="Text 25"/>
          <p:cNvSpPr/>
          <p:nvPr/>
        </p:nvSpPr>
        <p:spPr>
          <a:xfrm>
            <a:off x="11247120" y="6537960"/>
            <a:ext cx="457200" cy="274320"/>
          </a:xfrm>
          <a:prstGeom prst="rect">
            <a:avLst/>
          </a:prstGeom>
          <a:noFill/>
          <a:ln/>
        </p:spPr>
        <p:txBody>
          <a:bodyPr wrap="square" lIns="0" tIns="0" rIns="0" bIns="0" rtlCol="0" anchor="ctr"/>
          <a:lstStyle/>
          <a:p>
            <a:pPr algn="r" indent="0" marL="0">
              <a:buNone/>
            </a:pPr>
            <a:r>
              <a:rPr lang="en-US" sz="1000" dirty="0">
                <a:solidFill>
                  <a:srgbClr val="6B759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822960" cy="822960"/>
          </a:xfrm>
          <a:prstGeom prst="roundRect">
            <a:avLst>
              <a:gd name="adj" fmla="val 17778"/>
            </a:avLst>
          </a:prstGeom>
          <a:solidFill>
            <a:srgbClr val="1E2761"/>
          </a:solidFill>
          <a:ln/>
        </p:spPr>
      </p:sp>
      <p:sp>
        <p:nvSpPr>
          <p:cNvPr id="3" name="Text 1"/>
          <p:cNvSpPr/>
          <p:nvPr/>
        </p:nvSpPr>
        <p:spPr>
          <a:xfrm>
            <a:off x="548640" y="502920"/>
            <a:ext cx="822960" cy="822960"/>
          </a:xfrm>
          <a:prstGeom prst="rect">
            <a:avLst/>
          </a:prstGeom>
          <a:noFill/>
          <a:ln/>
        </p:spPr>
        <p:txBody>
          <a:bodyPr wrap="square" lIns="0" tIns="0" rIns="0" bIns="0" rtlCol="0" anchor="ctr"/>
          <a:lstStyle/>
          <a:p>
            <a:pPr algn="ctr" indent="0" marL="0">
              <a:buNone/>
            </a:pPr>
            <a:r>
              <a:rPr lang="en-US" sz="2200" dirty="0">
                <a:solidFill>
                  <a:srgbClr val="FFFFFF"/>
                </a:solidFill>
                <a:latin typeface="Calibri" pitchFamily="34" charset="0"/>
                <a:ea typeface="Calibri" pitchFamily="34" charset="-122"/>
                <a:cs typeface="Calibri" pitchFamily="34" charset="-120"/>
              </a:rPr>
              <a:t>✦</a:t>
            </a:r>
            <a:endParaRPr lang="en-US" sz="2200" dirty="0"/>
          </a:p>
        </p:txBody>
      </p:sp>
      <p:sp>
        <p:nvSpPr>
          <p:cNvPr id="4" name="Text 2"/>
          <p:cNvSpPr/>
          <p:nvPr/>
        </p:nvSpPr>
        <p:spPr>
          <a:xfrm>
            <a:off x="1554480" y="502920"/>
            <a:ext cx="7315200" cy="457200"/>
          </a:xfrm>
          <a:prstGeom prst="rect">
            <a:avLst/>
          </a:prstGeom>
          <a:noFill/>
          <a:ln/>
        </p:spPr>
        <p:txBody>
          <a:bodyPr wrap="square" lIns="0" tIns="0" rIns="0" bIns="0" rtlCol="0" anchor="ctr"/>
          <a:lstStyle/>
          <a:p>
            <a:pPr indent="0" marL="0">
              <a:buNone/>
            </a:pPr>
            <a:r>
              <a:rPr lang="en-US" sz="1300" b="1" dirty="0">
                <a:solidFill>
                  <a:srgbClr val="6B7590"/>
                </a:solidFill>
                <a:latin typeface="Calibri" pitchFamily="34" charset="0"/>
                <a:ea typeface="Calibri" pitchFamily="34" charset="-122"/>
                <a:cs typeface="Calibri" pitchFamily="34" charset="-120"/>
              </a:rPr>
              <a:t>Setting 3 — Creativity Mode</a:t>
            </a:r>
            <a:endParaRPr lang="en-US" sz="1300" dirty="0"/>
          </a:p>
        </p:txBody>
      </p:sp>
      <p:sp>
        <p:nvSpPr>
          <p:cNvPr id="5" name="Text 3"/>
          <p:cNvSpPr/>
          <p:nvPr/>
        </p:nvSpPr>
        <p:spPr>
          <a:xfrm>
            <a:off x="1554480" y="822960"/>
            <a:ext cx="7315200" cy="5486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/creativity</a:t>
            </a:r>
            <a:endParaRPr lang="en-US" sz="3000" dirty="0"/>
          </a:p>
        </p:txBody>
      </p:sp>
      <p:sp>
        <p:nvSpPr>
          <p:cNvPr id="6" name="Shape 4"/>
          <p:cNvSpPr/>
          <p:nvPr/>
        </p:nvSpPr>
        <p:spPr>
          <a:xfrm>
            <a:off x="548640" y="2103120"/>
            <a:ext cx="3520440" cy="3566160"/>
          </a:xfrm>
          <a:prstGeom prst="roundRect">
            <a:avLst>
              <a:gd name="adj" fmla="val 3117"/>
            </a:avLst>
          </a:prstGeom>
          <a:solidFill>
            <a:srgbClr val="F4F6FC"/>
          </a:solidFill>
          <a:ln/>
        </p:spPr>
      </p:sp>
      <p:sp>
        <p:nvSpPr>
          <p:cNvPr id="7" name="Shape 5"/>
          <p:cNvSpPr/>
          <p:nvPr/>
        </p:nvSpPr>
        <p:spPr>
          <a:xfrm>
            <a:off x="822960" y="2697480"/>
            <a:ext cx="274320" cy="228600"/>
          </a:xfrm>
          <a:prstGeom prst="roundRect">
            <a:avLst>
              <a:gd name="adj" fmla="val 16000"/>
            </a:avLst>
          </a:prstGeom>
          <a:solidFill>
            <a:srgbClr val="1E2761"/>
          </a:solidFill>
          <a:ln/>
        </p:spPr>
      </p:sp>
      <p:sp>
        <p:nvSpPr>
          <p:cNvPr id="8" name="Shape 6"/>
          <p:cNvSpPr/>
          <p:nvPr/>
        </p:nvSpPr>
        <p:spPr>
          <a:xfrm>
            <a:off x="1234440" y="2560320"/>
            <a:ext cx="274320" cy="365760"/>
          </a:xfrm>
          <a:prstGeom prst="roundRect">
            <a:avLst>
              <a:gd name="adj" fmla="val 13333"/>
            </a:avLst>
          </a:prstGeom>
          <a:solidFill>
            <a:srgbClr val="D8DDF0"/>
          </a:solidFill>
          <a:ln/>
        </p:spPr>
      </p:sp>
      <p:sp>
        <p:nvSpPr>
          <p:cNvPr id="9" name="Shape 7"/>
          <p:cNvSpPr/>
          <p:nvPr/>
        </p:nvSpPr>
        <p:spPr>
          <a:xfrm>
            <a:off x="1645920" y="2423160"/>
            <a:ext cx="274320" cy="502920"/>
          </a:xfrm>
          <a:prstGeom prst="roundRect">
            <a:avLst>
              <a:gd name="adj" fmla="val 13333"/>
            </a:avLst>
          </a:prstGeom>
          <a:solidFill>
            <a:srgbClr val="D8DDF0"/>
          </a:solidFill>
          <a:ln/>
        </p:spPr>
      </p:sp>
      <p:sp>
        <p:nvSpPr>
          <p:cNvPr id="10" name="Text 8"/>
          <p:cNvSpPr/>
          <p:nvPr/>
        </p:nvSpPr>
        <p:spPr>
          <a:xfrm>
            <a:off x="822960" y="3108960"/>
            <a:ext cx="2971800" cy="457200"/>
          </a:xfrm>
          <a:prstGeom prst="rect">
            <a:avLst/>
          </a:prstGeom>
          <a:noFill/>
          <a:ln/>
        </p:spPr>
        <p:txBody>
          <a:bodyPr wrap="square" lIns="0" tIns="0" rIns="0" bIns="0"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Low</a:t>
            </a:r>
            <a:endParaRPr lang="en-US" sz="1700" dirty="0"/>
          </a:p>
        </p:txBody>
      </p:sp>
      <p:sp>
        <p:nvSpPr>
          <p:cNvPr id="11" name="Text 9"/>
          <p:cNvSpPr/>
          <p:nvPr/>
        </p:nvSpPr>
        <p:spPr>
          <a:xfrm>
            <a:off x="822960" y="3611880"/>
            <a:ext cx="2971800" cy="1828800"/>
          </a:xfrm>
          <a:prstGeom prst="rect">
            <a:avLst/>
          </a:prstGeom>
          <a:noFill/>
          <a:ln/>
        </p:spPr>
        <p:txBody>
          <a:bodyPr wrap="square" lIns="0" tIns="0" rIns="0" bIns="0" rtlCol="0" anchor="ctr"/>
          <a:lstStyle/>
          <a:p>
            <a:pPr indent="0" marL="0">
              <a:lnSpc>
                <a:spcPct val="130000"/>
              </a:lnSpc>
              <a:buNone/>
            </a:pPr>
            <a:r>
              <a:rPr lang="en-US" sz="1250" dirty="0">
                <a:solidFill>
                  <a:srgbClr val="6B7590"/>
                </a:solidFill>
                <a:latin typeface="Calibri" pitchFamily="34" charset="0"/>
                <a:ea typeface="Calibri" pitchFamily="34" charset="-122"/>
                <a:cs typeface="Calibri" pitchFamily="34" charset="-120"/>
              </a:rPr>
              <a:t>Precise, predictable, closely grounded answers — best for factual or policy-sensitive replies.</a:t>
            </a:r>
            <a:endParaRPr lang="en-US" sz="1250" dirty="0"/>
          </a:p>
        </p:txBody>
      </p:sp>
      <p:sp>
        <p:nvSpPr>
          <p:cNvPr id="12" name="Shape 10"/>
          <p:cNvSpPr/>
          <p:nvPr/>
        </p:nvSpPr>
        <p:spPr>
          <a:xfrm>
            <a:off x="4389120" y="2103120"/>
            <a:ext cx="3520440" cy="3566160"/>
          </a:xfrm>
          <a:prstGeom prst="roundRect">
            <a:avLst>
              <a:gd name="adj" fmla="val 3117"/>
            </a:avLst>
          </a:prstGeom>
          <a:solidFill>
            <a:srgbClr val="F4F6FC"/>
          </a:solidFill>
          <a:ln/>
        </p:spPr>
      </p:sp>
      <p:sp>
        <p:nvSpPr>
          <p:cNvPr id="13" name="Shape 11"/>
          <p:cNvSpPr/>
          <p:nvPr/>
        </p:nvSpPr>
        <p:spPr>
          <a:xfrm>
            <a:off x="4663440" y="2697480"/>
            <a:ext cx="274320" cy="228600"/>
          </a:xfrm>
          <a:prstGeom prst="roundRect">
            <a:avLst>
              <a:gd name="adj" fmla="val 16000"/>
            </a:avLst>
          </a:prstGeom>
          <a:solidFill>
            <a:srgbClr val="1E2761"/>
          </a:solidFill>
          <a:ln/>
        </p:spPr>
      </p:sp>
      <p:sp>
        <p:nvSpPr>
          <p:cNvPr id="14" name="Shape 12"/>
          <p:cNvSpPr/>
          <p:nvPr/>
        </p:nvSpPr>
        <p:spPr>
          <a:xfrm>
            <a:off x="5074920" y="2560320"/>
            <a:ext cx="274320" cy="365760"/>
          </a:xfrm>
          <a:prstGeom prst="roundRect">
            <a:avLst>
              <a:gd name="adj" fmla="val 13333"/>
            </a:avLst>
          </a:prstGeom>
          <a:solidFill>
            <a:srgbClr val="1E2761"/>
          </a:solidFill>
          <a:ln/>
        </p:spPr>
      </p:sp>
      <p:sp>
        <p:nvSpPr>
          <p:cNvPr id="15" name="Shape 13"/>
          <p:cNvSpPr/>
          <p:nvPr/>
        </p:nvSpPr>
        <p:spPr>
          <a:xfrm>
            <a:off x="5486400" y="2423160"/>
            <a:ext cx="274320" cy="502920"/>
          </a:xfrm>
          <a:prstGeom prst="roundRect">
            <a:avLst>
              <a:gd name="adj" fmla="val 13333"/>
            </a:avLst>
          </a:prstGeom>
          <a:solidFill>
            <a:srgbClr val="D8DDF0"/>
          </a:solidFill>
          <a:ln/>
        </p:spPr>
      </p:sp>
      <p:sp>
        <p:nvSpPr>
          <p:cNvPr id="16" name="Text 14"/>
          <p:cNvSpPr/>
          <p:nvPr/>
        </p:nvSpPr>
        <p:spPr>
          <a:xfrm>
            <a:off x="4663440" y="3108960"/>
            <a:ext cx="2971800" cy="457200"/>
          </a:xfrm>
          <a:prstGeom prst="rect">
            <a:avLst/>
          </a:prstGeom>
          <a:noFill/>
          <a:ln/>
        </p:spPr>
        <p:txBody>
          <a:bodyPr wrap="square" lIns="0" tIns="0" rIns="0" bIns="0"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Medium</a:t>
            </a:r>
            <a:endParaRPr lang="en-US" sz="1700" dirty="0"/>
          </a:p>
        </p:txBody>
      </p:sp>
      <p:sp>
        <p:nvSpPr>
          <p:cNvPr id="17" name="Text 15"/>
          <p:cNvSpPr/>
          <p:nvPr/>
        </p:nvSpPr>
        <p:spPr>
          <a:xfrm>
            <a:off x="4663440" y="3611880"/>
            <a:ext cx="2971800" cy="1828800"/>
          </a:xfrm>
          <a:prstGeom prst="rect">
            <a:avLst/>
          </a:prstGeom>
          <a:noFill/>
          <a:ln/>
        </p:spPr>
        <p:txBody>
          <a:bodyPr wrap="square" lIns="0" tIns="0" rIns="0" bIns="0" rtlCol="0" anchor="ctr"/>
          <a:lstStyle/>
          <a:p>
            <a:pPr indent="0" marL="0">
              <a:lnSpc>
                <a:spcPct val="130000"/>
              </a:lnSpc>
              <a:buNone/>
            </a:pPr>
            <a:r>
              <a:rPr lang="en-US" sz="1250" dirty="0">
                <a:solidFill>
                  <a:srgbClr val="6B7590"/>
                </a:solidFill>
                <a:latin typeface="Calibri" pitchFamily="34" charset="0"/>
                <a:ea typeface="Calibri" pitchFamily="34" charset="-122"/>
                <a:cs typeface="Calibri" pitchFamily="34" charset="-120"/>
              </a:rPr>
              <a:t>Balanced flexibility and reliability — the right default for most day-to-day conversations.</a:t>
            </a:r>
            <a:endParaRPr lang="en-US" sz="1250" dirty="0"/>
          </a:p>
        </p:txBody>
      </p:sp>
      <p:sp>
        <p:nvSpPr>
          <p:cNvPr id="18" name="Shape 16"/>
          <p:cNvSpPr/>
          <p:nvPr/>
        </p:nvSpPr>
        <p:spPr>
          <a:xfrm>
            <a:off x="8229600" y="2103120"/>
            <a:ext cx="3520440" cy="3566160"/>
          </a:xfrm>
          <a:prstGeom prst="roundRect">
            <a:avLst>
              <a:gd name="adj" fmla="val 3117"/>
            </a:avLst>
          </a:prstGeom>
          <a:solidFill>
            <a:srgbClr val="F4F6FC"/>
          </a:solidFill>
          <a:ln/>
        </p:spPr>
      </p:sp>
      <p:sp>
        <p:nvSpPr>
          <p:cNvPr id="19" name="Shape 17"/>
          <p:cNvSpPr/>
          <p:nvPr/>
        </p:nvSpPr>
        <p:spPr>
          <a:xfrm>
            <a:off x="8503920" y="2697480"/>
            <a:ext cx="274320" cy="228600"/>
          </a:xfrm>
          <a:prstGeom prst="roundRect">
            <a:avLst>
              <a:gd name="adj" fmla="val 16000"/>
            </a:avLst>
          </a:prstGeom>
          <a:solidFill>
            <a:srgbClr val="1E2761"/>
          </a:solidFill>
          <a:ln/>
        </p:spPr>
      </p:sp>
      <p:sp>
        <p:nvSpPr>
          <p:cNvPr id="20" name="Shape 18"/>
          <p:cNvSpPr/>
          <p:nvPr/>
        </p:nvSpPr>
        <p:spPr>
          <a:xfrm>
            <a:off x="8915400" y="2560320"/>
            <a:ext cx="274320" cy="365760"/>
          </a:xfrm>
          <a:prstGeom prst="roundRect">
            <a:avLst>
              <a:gd name="adj" fmla="val 13333"/>
            </a:avLst>
          </a:prstGeom>
          <a:solidFill>
            <a:srgbClr val="1E2761"/>
          </a:solidFill>
          <a:ln/>
        </p:spPr>
      </p:sp>
      <p:sp>
        <p:nvSpPr>
          <p:cNvPr id="21" name="Shape 19"/>
          <p:cNvSpPr/>
          <p:nvPr/>
        </p:nvSpPr>
        <p:spPr>
          <a:xfrm>
            <a:off x="9326880" y="2423160"/>
            <a:ext cx="274320" cy="502920"/>
          </a:xfrm>
          <a:prstGeom prst="roundRect">
            <a:avLst>
              <a:gd name="adj" fmla="val 13333"/>
            </a:avLst>
          </a:prstGeom>
          <a:solidFill>
            <a:srgbClr val="1E2761"/>
          </a:solidFill>
          <a:ln/>
        </p:spPr>
      </p:sp>
      <p:sp>
        <p:nvSpPr>
          <p:cNvPr id="22" name="Text 20"/>
          <p:cNvSpPr/>
          <p:nvPr/>
        </p:nvSpPr>
        <p:spPr>
          <a:xfrm>
            <a:off x="8503920" y="3108960"/>
            <a:ext cx="2971800" cy="457200"/>
          </a:xfrm>
          <a:prstGeom prst="rect">
            <a:avLst/>
          </a:prstGeom>
          <a:noFill/>
          <a:ln/>
        </p:spPr>
        <p:txBody>
          <a:bodyPr wrap="square" lIns="0" tIns="0" rIns="0" bIns="0"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High</a:t>
            </a:r>
            <a:endParaRPr lang="en-US" sz="1700" dirty="0"/>
          </a:p>
        </p:txBody>
      </p:sp>
      <p:sp>
        <p:nvSpPr>
          <p:cNvPr id="23" name="Text 21"/>
          <p:cNvSpPr/>
          <p:nvPr/>
        </p:nvSpPr>
        <p:spPr>
          <a:xfrm>
            <a:off x="8503920" y="3611880"/>
            <a:ext cx="2971800" cy="1828800"/>
          </a:xfrm>
          <a:prstGeom prst="rect">
            <a:avLst/>
          </a:prstGeom>
          <a:noFill/>
          <a:ln/>
        </p:spPr>
        <p:txBody>
          <a:bodyPr wrap="square" lIns="0" tIns="0" rIns="0" bIns="0" rtlCol="0" anchor="ctr"/>
          <a:lstStyle/>
          <a:p>
            <a:pPr indent="0" marL="0">
              <a:lnSpc>
                <a:spcPct val="130000"/>
              </a:lnSpc>
              <a:buNone/>
            </a:pPr>
            <a:r>
              <a:rPr lang="en-US" sz="1250" dirty="0">
                <a:solidFill>
                  <a:srgbClr val="6B7590"/>
                </a:solidFill>
                <a:latin typeface="Calibri" pitchFamily="34" charset="0"/>
                <a:ea typeface="Calibri" pitchFamily="34" charset="-122"/>
                <a:cs typeface="Calibri" pitchFamily="34" charset="-120"/>
              </a:rPr>
              <a:t>Exploratory, expressive responses — ideal for brainstorming, drafting, and ideation.</a:t>
            </a:r>
            <a:endParaRPr lang="en-US" sz="1250" dirty="0"/>
          </a:p>
        </p:txBody>
      </p:sp>
      <p:sp>
        <p:nvSpPr>
          <p:cNvPr id="24" name="Text 22"/>
          <p:cNvSpPr/>
          <p:nvPr/>
        </p:nvSpPr>
        <p:spPr>
          <a:xfrm>
            <a:off x="457200" y="6537960"/>
            <a:ext cx="3657600" cy="274320"/>
          </a:xfrm>
          <a:prstGeom prst="rect">
            <a:avLst/>
          </a:prstGeom>
          <a:noFill/>
          <a:ln/>
        </p:spPr>
        <p:txBody>
          <a:bodyPr wrap="square" lIns="0" tIns="0" rIns="0" bIns="0" rtlCol="0" anchor="ctr"/>
          <a:lstStyle/>
          <a:p>
            <a:pPr algn="l" indent="0" marL="0">
              <a:buNone/>
            </a:pPr>
            <a:r>
              <a:rPr lang="en-US" sz="1000" dirty="0">
                <a:solidFill>
                  <a:srgbClr val="6B7590"/>
                </a:solidFill>
                <a:latin typeface="Calibri" pitchFamily="34" charset="0"/>
                <a:ea typeface="Calibri" pitchFamily="34" charset="-122"/>
                <a:cs typeface="Calibri" pitchFamily="34" charset="-120"/>
              </a:rPr>
              <a:t>/ Commands</a:t>
            </a:r>
            <a:endParaRPr lang="en-US" sz="1000" dirty="0"/>
          </a:p>
        </p:txBody>
      </p:sp>
      <p:sp>
        <p:nvSpPr>
          <p:cNvPr id="25" name="Text 23"/>
          <p:cNvSpPr/>
          <p:nvPr/>
        </p:nvSpPr>
        <p:spPr>
          <a:xfrm>
            <a:off x="11247120" y="6537960"/>
            <a:ext cx="457200" cy="274320"/>
          </a:xfrm>
          <a:prstGeom prst="rect">
            <a:avLst/>
          </a:prstGeom>
          <a:noFill/>
          <a:ln/>
        </p:spPr>
        <p:txBody>
          <a:bodyPr wrap="square" lIns="0" tIns="0" rIns="0" bIns="0" rtlCol="0" anchor="ctr"/>
          <a:lstStyle/>
          <a:p>
            <a:pPr algn="r" indent="0" marL="0">
              <a:buNone/>
            </a:pPr>
            <a:r>
              <a:rPr lang="en-US" sz="1000" dirty="0">
                <a:solidFill>
                  <a:srgbClr val="6B759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502920"/>
            <a:ext cx="86868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Settings Combine, Not Compete</a:t>
            </a:r>
            <a:endParaRPr lang="en-US" sz="3000" dirty="0"/>
          </a:p>
        </p:txBody>
      </p:sp>
      <p:sp>
        <p:nvSpPr>
          <p:cNvPr id="3" name="Text 1"/>
          <p:cNvSpPr/>
          <p:nvPr/>
        </p:nvSpPr>
        <p:spPr>
          <a:xfrm>
            <a:off x="548640" y="1097280"/>
            <a:ext cx="8686800" cy="45720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Each command adjusts one independent dimension of the response</a:t>
            </a:r>
            <a:endParaRPr lang="en-US" sz="1400" dirty="0"/>
          </a:p>
        </p:txBody>
      </p:sp>
      <p:sp>
        <p:nvSpPr>
          <p:cNvPr id="4" name="Shape 2"/>
          <p:cNvSpPr/>
          <p:nvPr/>
        </p:nvSpPr>
        <p:spPr>
          <a:xfrm>
            <a:off x="548640" y="2011680"/>
            <a:ext cx="3108960" cy="1051560"/>
          </a:xfrm>
          <a:prstGeom prst="roundRect">
            <a:avLst>
              <a:gd name="adj" fmla="val 8696"/>
            </a:avLst>
          </a:prstGeom>
          <a:solidFill>
            <a:srgbClr val="273080"/>
          </a:solidFill>
          <a:ln/>
        </p:spPr>
      </p:sp>
      <p:sp>
        <p:nvSpPr>
          <p:cNvPr id="5" name="Text 3"/>
          <p:cNvSpPr/>
          <p:nvPr/>
        </p:nvSpPr>
        <p:spPr>
          <a:xfrm>
            <a:off x="777240" y="2148840"/>
            <a:ext cx="2651760" cy="411480"/>
          </a:xfrm>
          <a:prstGeom prst="rect">
            <a:avLst/>
          </a:prstGeom>
          <a:noFill/>
          <a:ln/>
        </p:spPr>
        <p:txBody>
          <a:bodyPr wrap="square" lIns="0" tIns="0" rIns="0" bIns="0" rtlCol="0" anchor="ctr"/>
          <a:lstStyle/>
          <a:p>
            <a:pPr indent="0" marL="0">
              <a:buNone/>
            </a:pPr>
            <a:r>
              <a:rPr lang="en-US" sz="1500" b="1" dirty="0">
                <a:solidFill>
                  <a:srgbClr val="CADCFC"/>
                </a:solidFill>
                <a:latin typeface="Courier New" pitchFamily="34" charset="0"/>
                <a:ea typeface="Courier New" pitchFamily="34" charset="-122"/>
                <a:cs typeface="Courier New" pitchFamily="34" charset="-120"/>
              </a:rPr>
              <a:t>/tone casual</a:t>
            </a:r>
            <a:endParaRPr lang="en-US" sz="1500" dirty="0"/>
          </a:p>
        </p:txBody>
      </p:sp>
      <p:sp>
        <p:nvSpPr>
          <p:cNvPr id="6" name="Text 4"/>
          <p:cNvSpPr/>
          <p:nvPr/>
        </p:nvSpPr>
        <p:spPr>
          <a:xfrm>
            <a:off x="777240" y="2578608"/>
            <a:ext cx="2651760" cy="411480"/>
          </a:xfrm>
          <a:prstGeom prst="rect">
            <a:avLst/>
          </a:prstGeom>
          <a:noFill/>
          <a:ln/>
        </p:spPr>
        <p:txBody>
          <a:bodyPr wrap="square" lIns="0" tIns="0" rIns="0" bIns="0" rtlCol="0" anchor="ctr"/>
          <a:lstStyle/>
          <a:p>
            <a:pPr indent="0" marL="0">
              <a:buNone/>
            </a:pPr>
            <a:r>
              <a:rPr lang="en-US" sz="1150" dirty="0">
                <a:solidFill>
                  <a:srgbClr val="9AA6D6"/>
                </a:solidFill>
                <a:latin typeface="Calibri" pitchFamily="34" charset="0"/>
                <a:ea typeface="Calibri" pitchFamily="34" charset="-122"/>
                <a:cs typeface="Calibri" pitchFamily="34" charset="-120"/>
              </a:rPr>
              <a:t>warm, everyday language</a:t>
            </a:r>
            <a:endParaRPr lang="en-US" sz="1150" dirty="0"/>
          </a:p>
        </p:txBody>
      </p:sp>
      <p:sp>
        <p:nvSpPr>
          <p:cNvPr id="7" name="Text 5"/>
          <p:cNvSpPr/>
          <p:nvPr/>
        </p:nvSpPr>
        <p:spPr>
          <a:xfrm>
            <a:off x="3730752" y="2286000"/>
            <a:ext cx="320040" cy="685800"/>
          </a:xfrm>
          <a:prstGeom prst="rect">
            <a:avLst/>
          </a:prstGeom>
          <a:noFill/>
          <a:ln/>
        </p:spPr>
        <p:txBody>
          <a:bodyPr wrap="square" lIns="0" tIns="0" rIns="0" bIns="0" rtlCol="0" anchor="ctr"/>
          <a:lstStyle/>
          <a:p>
            <a:pPr algn="ctr" indent="0" marL="0">
              <a:buNone/>
            </a:pPr>
            <a:r>
              <a:rPr lang="en-US" sz="2200" b="1" dirty="0">
                <a:solidFill>
                  <a:srgbClr val="CADCFC"/>
                </a:solidFill>
                <a:latin typeface="Cambria" pitchFamily="34" charset="0"/>
                <a:ea typeface="Cambria" pitchFamily="34" charset="-122"/>
                <a:cs typeface="Cambria" pitchFamily="34" charset="-120"/>
              </a:rPr>
              <a:t>+</a:t>
            </a:r>
            <a:endParaRPr lang="en-US" sz="2200" dirty="0"/>
          </a:p>
        </p:txBody>
      </p:sp>
      <p:sp>
        <p:nvSpPr>
          <p:cNvPr id="8" name="Shape 6"/>
          <p:cNvSpPr/>
          <p:nvPr/>
        </p:nvSpPr>
        <p:spPr>
          <a:xfrm>
            <a:off x="4114800" y="2011680"/>
            <a:ext cx="3108960" cy="1051560"/>
          </a:xfrm>
          <a:prstGeom prst="roundRect">
            <a:avLst>
              <a:gd name="adj" fmla="val 8696"/>
            </a:avLst>
          </a:prstGeom>
          <a:solidFill>
            <a:srgbClr val="273080"/>
          </a:solidFill>
          <a:ln/>
        </p:spPr>
      </p:sp>
      <p:sp>
        <p:nvSpPr>
          <p:cNvPr id="9" name="Text 7"/>
          <p:cNvSpPr/>
          <p:nvPr/>
        </p:nvSpPr>
        <p:spPr>
          <a:xfrm>
            <a:off x="4343400" y="2148840"/>
            <a:ext cx="2651760" cy="411480"/>
          </a:xfrm>
          <a:prstGeom prst="rect">
            <a:avLst/>
          </a:prstGeom>
          <a:noFill/>
          <a:ln/>
        </p:spPr>
        <p:txBody>
          <a:bodyPr wrap="square" lIns="0" tIns="0" rIns="0" bIns="0" rtlCol="0" anchor="ctr"/>
          <a:lstStyle/>
          <a:p>
            <a:pPr indent="0" marL="0">
              <a:buNone/>
            </a:pPr>
            <a:r>
              <a:rPr lang="en-US" sz="1500" b="1" dirty="0">
                <a:solidFill>
                  <a:srgbClr val="CADCFC"/>
                </a:solidFill>
                <a:latin typeface="Courier New" pitchFamily="34" charset="0"/>
                <a:ea typeface="Courier New" pitchFamily="34" charset="-122"/>
                <a:cs typeface="Courier New" pitchFamily="34" charset="-120"/>
              </a:rPr>
              <a:t>/instant on</a:t>
            </a:r>
            <a:endParaRPr lang="en-US" sz="1500" dirty="0"/>
          </a:p>
        </p:txBody>
      </p:sp>
      <p:sp>
        <p:nvSpPr>
          <p:cNvPr id="10" name="Text 8"/>
          <p:cNvSpPr/>
          <p:nvPr/>
        </p:nvSpPr>
        <p:spPr>
          <a:xfrm>
            <a:off x="4343400" y="2578608"/>
            <a:ext cx="2651760" cy="411480"/>
          </a:xfrm>
          <a:prstGeom prst="rect">
            <a:avLst/>
          </a:prstGeom>
          <a:noFill/>
          <a:ln/>
        </p:spPr>
        <p:txBody>
          <a:bodyPr wrap="square" lIns="0" tIns="0" rIns="0" bIns="0" rtlCol="0" anchor="ctr"/>
          <a:lstStyle/>
          <a:p>
            <a:pPr indent="0" marL="0">
              <a:buNone/>
            </a:pPr>
            <a:r>
              <a:rPr lang="en-US" sz="1150" dirty="0">
                <a:solidFill>
                  <a:srgbClr val="9AA6D6"/>
                </a:solidFill>
                <a:latin typeface="Calibri" pitchFamily="34" charset="0"/>
                <a:ea typeface="Calibri" pitchFamily="34" charset="-122"/>
                <a:cs typeface="Calibri" pitchFamily="34" charset="-120"/>
              </a:rPr>
              <a:t>fast, lightweight replies</a:t>
            </a:r>
            <a:endParaRPr lang="en-US" sz="1150" dirty="0"/>
          </a:p>
        </p:txBody>
      </p:sp>
      <p:sp>
        <p:nvSpPr>
          <p:cNvPr id="11" name="Text 9"/>
          <p:cNvSpPr/>
          <p:nvPr/>
        </p:nvSpPr>
        <p:spPr>
          <a:xfrm>
            <a:off x="7296912" y="2286000"/>
            <a:ext cx="320040" cy="685800"/>
          </a:xfrm>
          <a:prstGeom prst="rect">
            <a:avLst/>
          </a:prstGeom>
          <a:noFill/>
          <a:ln/>
        </p:spPr>
        <p:txBody>
          <a:bodyPr wrap="square" lIns="0" tIns="0" rIns="0" bIns="0" rtlCol="0" anchor="ctr"/>
          <a:lstStyle/>
          <a:p>
            <a:pPr algn="ctr" indent="0" marL="0">
              <a:buNone/>
            </a:pPr>
            <a:r>
              <a:rPr lang="en-US" sz="2200" b="1" dirty="0">
                <a:solidFill>
                  <a:srgbClr val="CADCFC"/>
                </a:solidFill>
                <a:latin typeface="Cambria" pitchFamily="34" charset="0"/>
                <a:ea typeface="Cambria" pitchFamily="34" charset="-122"/>
                <a:cs typeface="Cambria" pitchFamily="34" charset="-120"/>
              </a:rPr>
              <a:t>+</a:t>
            </a:r>
            <a:endParaRPr lang="en-US" sz="2200" dirty="0"/>
          </a:p>
        </p:txBody>
      </p:sp>
      <p:sp>
        <p:nvSpPr>
          <p:cNvPr id="12" name="Shape 10"/>
          <p:cNvSpPr/>
          <p:nvPr/>
        </p:nvSpPr>
        <p:spPr>
          <a:xfrm>
            <a:off x="7680960" y="2011680"/>
            <a:ext cx="3108960" cy="1051560"/>
          </a:xfrm>
          <a:prstGeom prst="roundRect">
            <a:avLst>
              <a:gd name="adj" fmla="val 8696"/>
            </a:avLst>
          </a:prstGeom>
          <a:solidFill>
            <a:srgbClr val="273080"/>
          </a:solidFill>
          <a:ln/>
        </p:spPr>
      </p:sp>
      <p:sp>
        <p:nvSpPr>
          <p:cNvPr id="13" name="Text 11"/>
          <p:cNvSpPr/>
          <p:nvPr/>
        </p:nvSpPr>
        <p:spPr>
          <a:xfrm>
            <a:off x="7909560" y="2148840"/>
            <a:ext cx="2651760" cy="411480"/>
          </a:xfrm>
          <a:prstGeom prst="rect">
            <a:avLst/>
          </a:prstGeom>
          <a:noFill/>
          <a:ln/>
        </p:spPr>
        <p:txBody>
          <a:bodyPr wrap="square" lIns="0" tIns="0" rIns="0" bIns="0" rtlCol="0" anchor="ctr"/>
          <a:lstStyle/>
          <a:p>
            <a:pPr indent="0" marL="0">
              <a:buNone/>
            </a:pPr>
            <a:r>
              <a:rPr lang="en-US" sz="1500" b="1" dirty="0">
                <a:solidFill>
                  <a:srgbClr val="CADCFC"/>
                </a:solidFill>
                <a:latin typeface="Courier New" pitchFamily="34" charset="0"/>
                <a:ea typeface="Courier New" pitchFamily="34" charset="-122"/>
                <a:cs typeface="Courier New" pitchFamily="34" charset="-120"/>
              </a:rPr>
              <a:t>/creativity high</a:t>
            </a:r>
            <a:endParaRPr lang="en-US" sz="1500" dirty="0"/>
          </a:p>
        </p:txBody>
      </p:sp>
      <p:sp>
        <p:nvSpPr>
          <p:cNvPr id="14" name="Text 12"/>
          <p:cNvSpPr/>
          <p:nvPr/>
        </p:nvSpPr>
        <p:spPr>
          <a:xfrm>
            <a:off x="7909560" y="2578608"/>
            <a:ext cx="2651760" cy="411480"/>
          </a:xfrm>
          <a:prstGeom prst="rect">
            <a:avLst/>
          </a:prstGeom>
          <a:noFill/>
          <a:ln/>
        </p:spPr>
        <p:txBody>
          <a:bodyPr wrap="square" lIns="0" tIns="0" rIns="0" bIns="0" rtlCol="0" anchor="ctr"/>
          <a:lstStyle/>
          <a:p>
            <a:pPr indent="0" marL="0">
              <a:buNone/>
            </a:pPr>
            <a:r>
              <a:rPr lang="en-US" sz="1150" dirty="0">
                <a:solidFill>
                  <a:srgbClr val="9AA6D6"/>
                </a:solidFill>
                <a:latin typeface="Calibri" pitchFamily="34" charset="0"/>
                <a:ea typeface="Calibri" pitchFamily="34" charset="-122"/>
                <a:cs typeface="Calibri" pitchFamily="34" charset="-120"/>
              </a:rPr>
              <a:t>expressive, exploratory</a:t>
            </a:r>
            <a:endParaRPr lang="en-US" sz="1150" dirty="0"/>
          </a:p>
        </p:txBody>
      </p:sp>
      <p:sp>
        <p:nvSpPr>
          <p:cNvPr id="15" name="Shape 13"/>
          <p:cNvSpPr/>
          <p:nvPr/>
        </p:nvSpPr>
        <p:spPr>
          <a:xfrm>
            <a:off x="548640" y="3566160"/>
            <a:ext cx="11064240" cy="2377440"/>
          </a:xfrm>
          <a:prstGeom prst="roundRect">
            <a:avLst>
              <a:gd name="adj" fmla="val 5385"/>
            </a:avLst>
          </a:prstGeom>
          <a:solidFill>
            <a:srgbClr val="FFFFFF"/>
          </a:solidFill>
          <a:ln/>
        </p:spPr>
      </p:sp>
      <p:sp>
        <p:nvSpPr>
          <p:cNvPr id="16" name="Text 14"/>
          <p:cNvSpPr/>
          <p:nvPr/>
        </p:nvSpPr>
        <p:spPr>
          <a:xfrm>
            <a:off x="914400" y="3794760"/>
            <a:ext cx="3657600" cy="365760"/>
          </a:xfrm>
          <a:prstGeom prst="rect">
            <a:avLst/>
          </a:prstGeom>
          <a:noFill/>
          <a:ln/>
        </p:spPr>
        <p:txBody>
          <a:bodyPr wrap="square" lIns="0" tIns="0" rIns="0" bIns="0" rtlCol="0" anchor="ctr"/>
          <a:lstStyle/>
          <a:p>
            <a:pPr indent="0" marL="0">
              <a:buNone/>
            </a:pPr>
            <a:r>
              <a:rPr lang="en-US" sz="1200" b="1" dirty="0">
                <a:solidFill>
                  <a:srgbClr val="6B7590"/>
                </a:solidFill>
                <a:latin typeface="Calibri" pitchFamily="34" charset="0"/>
                <a:ea typeface="Calibri" pitchFamily="34" charset="-122"/>
                <a:cs typeface="Calibri" pitchFamily="34" charset="-120"/>
              </a:rPr>
              <a:t>Result</a:t>
            </a:r>
            <a:endParaRPr lang="en-US" sz="1200" dirty="0"/>
          </a:p>
        </p:txBody>
      </p:sp>
      <p:sp>
        <p:nvSpPr>
          <p:cNvPr id="17" name="Text 15"/>
          <p:cNvSpPr/>
          <p:nvPr/>
        </p:nvSpPr>
        <p:spPr>
          <a:xfrm>
            <a:off x="914400" y="4160520"/>
            <a:ext cx="10332720" cy="1554480"/>
          </a:xfrm>
          <a:prstGeom prst="rect">
            <a:avLst/>
          </a:prstGeom>
          <a:noFill/>
          <a:ln/>
        </p:spPr>
        <p:txBody>
          <a:bodyPr wrap="square" lIns="0" tIns="0" rIns="0" bIns="0" rtlCol="0" anchor="ctr"/>
          <a:lstStyle/>
          <a:p>
            <a:pPr indent="0" marL="0">
              <a:lnSpc>
                <a:spcPct val="130000"/>
              </a:lnSpc>
              <a:buNone/>
            </a:pPr>
            <a:r>
              <a:rPr lang="en-US" sz="1800" i="1" dirty="0">
                <a:solidFill>
                  <a:srgbClr val="1E2761"/>
                </a:solidFill>
                <a:latin typeface="Calibri" pitchFamily="34" charset="0"/>
                <a:ea typeface="Calibri" pitchFamily="34" charset="-122"/>
                <a:cs typeface="Calibri" pitchFamily="34" charset="-120"/>
              </a:rPr>
              <a:t>“Great question — here are a few quick directions we could explore, so you can pick a favourite fast.”</a:t>
            </a:r>
            <a:endParaRPr lang="en-US" sz="1800" dirty="0"/>
          </a:p>
        </p:txBody>
      </p:sp>
      <p:sp>
        <p:nvSpPr>
          <p:cNvPr id="18" name="Text 16"/>
          <p:cNvSpPr/>
          <p:nvPr/>
        </p:nvSpPr>
        <p:spPr>
          <a:xfrm>
            <a:off x="457200" y="6537960"/>
            <a:ext cx="3657600" cy="274320"/>
          </a:xfrm>
          <a:prstGeom prst="rect">
            <a:avLst/>
          </a:prstGeom>
          <a:noFill/>
          <a:ln/>
        </p:spPr>
        <p:txBody>
          <a:bodyPr wrap="square" lIns="0" tIns="0" rIns="0" bIns="0" rtlCol="0" anchor="ctr"/>
          <a:lstStyle/>
          <a:p>
            <a:pPr algn="l" indent="0" marL="0">
              <a:buNone/>
            </a:pPr>
            <a:r>
              <a:rPr lang="en-US" sz="1000" dirty="0">
                <a:solidFill>
                  <a:srgbClr val="CADCFC"/>
                </a:solidFill>
                <a:latin typeface="Calibri" pitchFamily="34" charset="0"/>
                <a:ea typeface="Calibri" pitchFamily="34" charset="-122"/>
                <a:cs typeface="Calibri" pitchFamily="34" charset="-120"/>
              </a:rPr>
              <a:t>/ Commands</a:t>
            </a:r>
            <a:endParaRPr lang="en-US" sz="1000" dirty="0"/>
          </a:p>
        </p:txBody>
      </p:sp>
      <p:sp>
        <p:nvSpPr>
          <p:cNvPr id="19" name="Text 17"/>
          <p:cNvSpPr/>
          <p:nvPr/>
        </p:nvSpPr>
        <p:spPr>
          <a:xfrm>
            <a:off x="11247120" y="6537960"/>
            <a:ext cx="457200" cy="274320"/>
          </a:xfrm>
          <a:prstGeom prst="rect">
            <a:avLst/>
          </a:prstGeom>
          <a:noFill/>
          <a:ln/>
        </p:spPr>
        <p:txBody>
          <a:bodyPr wrap="square" lIns="0" tIns="0" rIns="0" bIns="0"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roundRect">
            <a:avLst>
              <a:gd name="adj" fmla="val 18824"/>
            </a:avLst>
          </a:prstGeom>
          <a:solidFill>
            <a:srgbClr val="1E2761"/>
          </a:solidFill>
          <a:ln/>
        </p:spPr>
      </p:sp>
      <p:sp>
        <p:nvSpPr>
          <p:cNvPr id="3" name="Text 1"/>
          <p:cNvSpPr/>
          <p:nvPr/>
        </p:nvSpPr>
        <p:spPr>
          <a:xfrm>
            <a:off x="548640" y="457200"/>
            <a:ext cx="777240" cy="777240"/>
          </a:xfrm>
          <a:prstGeom prst="rect">
            <a:avLst/>
          </a:prstGeom>
          <a:noFill/>
          <a:ln/>
        </p:spPr>
        <p:txBody>
          <a:bodyPr wrap="square" lIns="0" tIns="0" rIns="0" bIns="0" rtlCol="0" anchor="ctr"/>
          <a:lstStyle/>
          <a:p>
            <a:pPr algn="ctr" indent="0" marL="0">
              <a:buNone/>
            </a:pPr>
            <a:r>
              <a:rPr lang="en-US" sz="2200" dirty="0">
                <a:solidFill>
                  <a:srgbClr val="FFFFFF"/>
                </a:solidFill>
                <a:latin typeface="Calibri" pitchFamily="34" charset="0"/>
                <a:ea typeface="Calibri" pitchFamily="34" charset="-122"/>
                <a:cs typeface="Calibri" pitchFamily="34" charset="-120"/>
              </a:rPr>
              <a:t>★</a:t>
            </a:r>
            <a:endParaRPr lang="en-US" sz="2200" dirty="0"/>
          </a:p>
        </p:txBody>
      </p:sp>
      <p:sp>
        <p:nvSpPr>
          <p:cNvPr id="4" name="Text 2"/>
          <p:cNvSpPr/>
          <p:nvPr/>
        </p:nvSpPr>
        <p:spPr>
          <a:xfrm>
            <a:off x="1463040" y="457200"/>
            <a:ext cx="8229600" cy="411480"/>
          </a:xfrm>
          <a:prstGeom prst="rect">
            <a:avLst/>
          </a:prstGeom>
          <a:noFill/>
          <a:ln/>
        </p:spPr>
        <p:txBody>
          <a:bodyPr wrap="square" lIns="0" tIns="0" rIns="0" bIns="0" rtlCol="0" anchor="ctr"/>
          <a:lstStyle/>
          <a:p>
            <a:pPr indent="0" marL="0">
              <a:buNone/>
            </a:pPr>
            <a:r>
              <a:rPr lang="en-US" sz="1250" b="1" dirty="0">
                <a:solidFill>
                  <a:srgbClr val="6B7590"/>
                </a:solidFill>
                <a:latin typeface="Calibri" pitchFamily="34" charset="0"/>
                <a:ea typeface="Calibri" pitchFamily="34" charset="-122"/>
                <a:cs typeface="Calibri" pitchFamily="34" charset="-120"/>
              </a:rPr>
              <a:t>BUSINESS USE CASE 1</a:t>
            </a:r>
            <a:endParaRPr lang="en-US" sz="1250" dirty="0"/>
          </a:p>
        </p:txBody>
      </p:sp>
      <p:sp>
        <p:nvSpPr>
          <p:cNvPr id="5" name="Text 3"/>
          <p:cNvSpPr/>
          <p:nvPr/>
        </p:nvSpPr>
        <p:spPr>
          <a:xfrm>
            <a:off x="1463040" y="777240"/>
            <a:ext cx="868680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Private Banking Client — Strict, Formal, Accurate</a:t>
            </a:r>
            <a:endParaRPr lang="en-US" sz="2400" dirty="0"/>
          </a:p>
        </p:txBody>
      </p:sp>
      <p:sp>
        <p:nvSpPr>
          <p:cNvPr id="6" name="Text 4"/>
          <p:cNvSpPr/>
          <p:nvPr/>
        </p:nvSpPr>
        <p:spPr>
          <a:xfrm>
            <a:off x="548640" y="1600200"/>
            <a:ext cx="4892040" cy="320040"/>
          </a:xfrm>
          <a:prstGeom prst="rect">
            <a:avLst/>
          </a:prstGeom>
          <a:noFill/>
          <a:ln/>
        </p:spPr>
        <p:txBody>
          <a:bodyPr wrap="square" lIns="0" tIns="0" rIns="0" bIns="0" rtlCol="0" anchor="ctr"/>
          <a:lstStyle/>
          <a:p>
            <a:pPr indent="0" marL="0">
              <a:buNone/>
            </a:pPr>
            <a:r>
              <a:rPr lang="en-US" sz="1100" b="1" spc="100" kern="0" dirty="0">
                <a:solidFill>
                  <a:srgbClr val="1E2761"/>
                </a:solidFill>
                <a:latin typeface="Calibri" pitchFamily="34" charset="0"/>
                <a:ea typeface="Calibri" pitchFamily="34" charset="-122"/>
                <a:cs typeface="Calibri" pitchFamily="34" charset="-120"/>
              </a:rPr>
              <a:t>INTENT &amp; PURPOSE</a:t>
            </a:r>
            <a:endParaRPr lang="en-US" sz="1100" dirty="0"/>
          </a:p>
        </p:txBody>
      </p:sp>
      <p:sp>
        <p:nvSpPr>
          <p:cNvPr id="7" name="Shape 5"/>
          <p:cNvSpPr/>
          <p:nvPr/>
        </p:nvSpPr>
        <p:spPr>
          <a:xfrm>
            <a:off x="548640" y="1965960"/>
            <a:ext cx="4892040" cy="1417320"/>
          </a:xfrm>
          <a:prstGeom prst="roundRect">
            <a:avLst>
              <a:gd name="adj" fmla="val 6452"/>
            </a:avLst>
          </a:prstGeom>
          <a:solidFill>
            <a:srgbClr val="F4F6FC"/>
          </a:solidFill>
          <a:ln/>
        </p:spPr>
      </p:sp>
      <p:sp>
        <p:nvSpPr>
          <p:cNvPr id="8" name="Text 6"/>
          <p:cNvSpPr/>
          <p:nvPr/>
        </p:nvSpPr>
        <p:spPr>
          <a:xfrm>
            <a:off x="777240" y="2103120"/>
            <a:ext cx="4434840" cy="1188720"/>
          </a:xfrm>
          <a:prstGeom prst="rect">
            <a:avLst/>
          </a:prstGeom>
          <a:noFill/>
          <a:ln/>
        </p:spPr>
        <p:txBody>
          <a:bodyPr wrap="square" lIns="0" tIns="0" rIns="0" bIns="0" rtlCol="0" anchor="ctr"/>
          <a:lstStyle/>
          <a:p>
            <a:pPr indent="0" marL="0">
              <a:lnSpc>
                <a:spcPct val="130000"/>
              </a:lnSpc>
              <a:buNone/>
            </a:pPr>
            <a:r>
              <a:rPr lang="en-US" sz="1250" dirty="0">
                <a:solidFill>
                  <a:srgbClr val="1E2761"/>
                </a:solidFill>
                <a:latin typeface="Calibri" pitchFamily="34" charset="0"/>
                <a:ea typeface="Calibri" pitchFamily="34" charset="-122"/>
                <a:cs typeface="Calibri" pitchFamily="34" charset="-120"/>
              </a:rPr>
              <a:t>A high-stakes message to a private banking or corporate VIP client. In a relationship-driven market like Singapore, a tone misstep or inaccuracy carries real reputational and regulatory risk — precision and professionalism outweigh speed.</a:t>
            </a:r>
            <a:endParaRPr lang="en-US" sz="1250" dirty="0"/>
          </a:p>
        </p:txBody>
      </p:sp>
      <p:sp>
        <p:nvSpPr>
          <p:cNvPr id="9" name="Text 7"/>
          <p:cNvSpPr/>
          <p:nvPr/>
        </p:nvSpPr>
        <p:spPr>
          <a:xfrm>
            <a:off x="548640" y="3566160"/>
            <a:ext cx="4892040" cy="320040"/>
          </a:xfrm>
          <a:prstGeom prst="rect">
            <a:avLst/>
          </a:prstGeom>
          <a:noFill/>
          <a:ln/>
        </p:spPr>
        <p:txBody>
          <a:bodyPr wrap="square" lIns="0" tIns="0" rIns="0" bIns="0" rtlCol="0" anchor="ctr"/>
          <a:lstStyle/>
          <a:p>
            <a:pPr indent="0" marL="0">
              <a:buNone/>
            </a:pPr>
            <a:r>
              <a:rPr lang="en-US" sz="1100" b="1" spc="100" kern="0" dirty="0">
                <a:solidFill>
                  <a:srgbClr val="1E2761"/>
                </a:solidFill>
                <a:latin typeface="Calibri" pitchFamily="34" charset="0"/>
                <a:ea typeface="Calibri" pitchFamily="34" charset="-122"/>
                <a:cs typeface="Calibri" pitchFamily="34" charset="-120"/>
              </a:rPr>
              <a:t>SETTING COMBINATION</a:t>
            </a:r>
            <a:endParaRPr lang="en-US" sz="1100" dirty="0"/>
          </a:p>
        </p:txBody>
      </p:sp>
      <p:sp>
        <p:nvSpPr>
          <p:cNvPr id="10" name="Shape 8"/>
          <p:cNvSpPr/>
          <p:nvPr/>
        </p:nvSpPr>
        <p:spPr>
          <a:xfrm>
            <a:off x="548640" y="3931920"/>
            <a:ext cx="4892040" cy="530352"/>
          </a:xfrm>
          <a:prstGeom prst="roundRect">
            <a:avLst>
              <a:gd name="adj" fmla="val 15517"/>
            </a:avLst>
          </a:prstGeom>
          <a:solidFill>
            <a:srgbClr val="1E2761"/>
          </a:solidFill>
          <a:ln/>
        </p:spPr>
      </p:sp>
      <p:sp>
        <p:nvSpPr>
          <p:cNvPr id="11" name="Text 9"/>
          <p:cNvSpPr/>
          <p:nvPr/>
        </p:nvSpPr>
        <p:spPr>
          <a:xfrm>
            <a:off x="777240" y="3931920"/>
            <a:ext cx="2011680" cy="530352"/>
          </a:xfrm>
          <a:prstGeom prst="rect">
            <a:avLst/>
          </a:prstGeom>
          <a:noFill/>
          <a:ln/>
        </p:spPr>
        <p:txBody>
          <a:bodyPr wrap="square" lIns="0" tIns="0" rIns="0" bIns="0" rtlCol="0" anchor="ctr"/>
          <a:lstStyle/>
          <a:p>
            <a:pPr algn="l" indent="0" marL="0">
              <a:buNone/>
            </a:pPr>
            <a:r>
              <a:rPr lang="en-US" sz="1300" b="1" dirty="0">
                <a:solidFill>
                  <a:srgbClr val="CADCFC"/>
                </a:solidFill>
                <a:latin typeface="Courier New" pitchFamily="34" charset="0"/>
                <a:ea typeface="Courier New" pitchFamily="34" charset="-122"/>
                <a:cs typeface="Courier New" pitchFamily="34" charset="-120"/>
              </a:rPr>
              <a:t>/tone formal</a:t>
            </a:r>
            <a:endParaRPr lang="en-US" sz="1300" dirty="0"/>
          </a:p>
        </p:txBody>
      </p:sp>
      <p:sp>
        <p:nvSpPr>
          <p:cNvPr id="12" name="Text 10"/>
          <p:cNvSpPr/>
          <p:nvPr/>
        </p:nvSpPr>
        <p:spPr>
          <a:xfrm>
            <a:off x="2743200" y="3931920"/>
            <a:ext cx="2514600" cy="530352"/>
          </a:xfrm>
          <a:prstGeom prst="rect">
            <a:avLst/>
          </a:prstGeom>
          <a:noFill/>
          <a:ln/>
        </p:spPr>
        <p:txBody>
          <a:bodyPr wrap="square" lIns="0" tIns="0" rIns="0" bIns="0" rtlCol="0" anchor="ctr"/>
          <a:lstStyle/>
          <a:p>
            <a:pPr algn="l" indent="0" marL="0">
              <a:lnSpc>
                <a:spcPct val="110000"/>
              </a:lnSpc>
              <a:buNone/>
            </a:pPr>
            <a:r>
              <a:rPr lang="en-US" sz="1050" dirty="0">
                <a:solidFill>
                  <a:srgbClr val="C7CEEE"/>
                </a:solidFill>
                <a:latin typeface="Calibri" pitchFamily="34" charset="0"/>
                <a:ea typeface="Calibri" pitchFamily="34" charset="-122"/>
                <a:cs typeface="Calibri" pitchFamily="34" charset="-120"/>
              </a:rPr>
              <a:t>polished, professional language</a:t>
            </a:r>
            <a:endParaRPr lang="en-US" sz="1050" dirty="0"/>
          </a:p>
        </p:txBody>
      </p:sp>
      <p:sp>
        <p:nvSpPr>
          <p:cNvPr id="13" name="Shape 11"/>
          <p:cNvSpPr/>
          <p:nvPr/>
        </p:nvSpPr>
        <p:spPr>
          <a:xfrm>
            <a:off x="548640" y="4590288"/>
            <a:ext cx="4892040" cy="530352"/>
          </a:xfrm>
          <a:prstGeom prst="roundRect">
            <a:avLst>
              <a:gd name="adj" fmla="val 15517"/>
            </a:avLst>
          </a:prstGeom>
          <a:solidFill>
            <a:srgbClr val="1E2761"/>
          </a:solidFill>
          <a:ln/>
        </p:spPr>
      </p:sp>
      <p:sp>
        <p:nvSpPr>
          <p:cNvPr id="14" name="Text 12"/>
          <p:cNvSpPr/>
          <p:nvPr/>
        </p:nvSpPr>
        <p:spPr>
          <a:xfrm>
            <a:off x="777240" y="4590288"/>
            <a:ext cx="2011680" cy="530352"/>
          </a:xfrm>
          <a:prstGeom prst="rect">
            <a:avLst/>
          </a:prstGeom>
          <a:noFill/>
          <a:ln/>
        </p:spPr>
        <p:txBody>
          <a:bodyPr wrap="square" lIns="0" tIns="0" rIns="0" bIns="0" rtlCol="0" anchor="ctr"/>
          <a:lstStyle/>
          <a:p>
            <a:pPr algn="l" indent="0" marL="0">
              <a:buNone/>
            </a:pPr>
            <a:r>
              <a:rPr lang="en-US" sz="1300" b="1" dirty="0">
                <a:solidFill>
                  <a:srgbClr val="CADCFC"/>
                </a:solidFill>
                <a:latin typeface="Courier New" pitchFamily="34" charset="0"/>
                <a:ea typeface="Courier New" pitchFamily="34" charset="-122"/>
                <a:cs typeface="Courier New" pitchFamily="34" charset="-120"/>
              </a:rPr>
              <a:t>/instant off</a:t>
            </a:r>
            <a:endParaRPr lang="en-US" sz="1300" dirty="0"/>
          </a:p>
        </p:txBody>
      </p:sp>
      <p:sp>
        <p:nvSpPr>
          <p:cNvPr id="15" name="Text 13"/>
          <p:cNvSpPr/>
          <p:nvPr/>
        </p:nvSpPr>
        <p:spPr>
          <a:xfrm>
            <a:off x="2743200" y="4590288"/>
            <a:ext cx="2514600" cy="530352"/>
          </a:xfrm>
          <a:prstGeom prst="rect">
            <a:avLst/>
          </a:prstGeom>
          <a:noFill/>
          <a:ln/>
        </p:spPr>
        <p:txBody>
          <a:bodyPr wrap="square" lIns="0" tIns="0" rIns="0" bIns="0" rtlCol="0" anchor="ctr"/>
          <a:lstStyle/>
          <a:p>
            <a:pPr algn="l" indent="0" marL="0">
              <a:lnSpc>
                <a:spcPct val="110000"/>
              </a:lnSpc>
              <a:buNone/>
            </a:pPr>
            <a:r>
              <a:rPr lang="en-US" sz="1050" dirty="0">
                <a:solidFill>
                  <a:srgbClr val="C7CEEE"/>
                </a:solidFill>
                <a:latin typeface="Calibri" pitchFamily="34" charset="0"/>
                <a:ea typeface="Calibri" pitchFamily="34" charset="-122"/>
                <a:cs typeface="Calibri" pitchFamily="34" charset="-120"/>
              </a:rPr>
              <a:t>extra reasoning time for accuracy</a:t>
            </a:r>
            <a:endParaRPr lang="en-US" sz="1050" dirty="0"/>
          </a:p>
        </p:txBody>
      </p:sp>
      <p:sp>
        <p:nvSpPr>
          <p:cNvPr id="16" name="Shape 14"/>
          <p:cNvSpPr/>
          <p:nvPr/>
        </p:nvSpPr>
        <p:spPr>
          <a:xfrm>
            <a:off x="548640" y="5248656"/>
            <a:ext cx="4892040" cy="530352"/>
          </a:xfrm>
          <a:prstGeom prst="roundRect">
            <a:avLst>
              <a:gd name="adj" fmla="val 15517"/>
            </a:avLst>
          </a:prstGeom>
          <a:solidFill>
            <a:srgbClr val="1E2761"/>
          </a:solidFill>
          <a:ln/>
        </p:spPr>
      </p:sp>
      <p:sp>
        <p:nvSpPr>
          <p:cNvPr id="17" name="Text 15"/>
          <p:cNvSpPr/>
          <p:nvPr/>
        </p:nvSpPr>
        <p:spPr>
          <a:xfrm>
            <a:off x="777240" y="5248656"/>
            <a:ext cx="2011680" cy="530352"/>
          </a:xfrm>
          <a:prstGeom prst="rect">
            <a:avLst/>
          </a:prstGeom>
          <a:noFill/>
          <a:ln/>
        </p:spPr>
        <p:txBody>
          <a:bodyPr wrap="square" lIns="0" tIns="0" rIns="0" bIns="0" rtlCol="0" anchor="ctr"/>
          <a:lstStyle/>
          <a:p>
            <a:pPr algn="l" indent="0" marL="0">
              <a:buNone/>
            </a:pPr>
            <a:r>
              <a:rPr lang="en-US" sz="1300" b="1" dirty="0">
                <a:solidFill>
                  <a:srgbClr val="CADCFC"/>
                </a:solidFill>
                <a:latin typeface="Courier New" pitchFamily="34" charset="0"/>
                <a:ea typeface="Courier New" pitchFamily="34" charset="-122"/>
                <a:cs typeface="Courier New" pitchFamily="34" charset="-120"/>
              </a:rPr>
              <a:t>/creativity low</a:t>
            </a:r>
            <a:endParaRPr lang="en-US" sz="1300" dirty="0"/>
          </a:p>
        </p:txBody>
      </p:sp>
      <p:sp>
        <p:nvSpPr>
          <p:cNvPr id="18" name="Text 16"/>
          <p:cNvSpPr/>
          <p:nvPr/>
        </p:nvSpPr>
        <p:spPr>
          <a:xfrm>
            <a:off x="2743200" y="5248656"/>
            <a:ext cx="2514600" cy="530352"/>
          </a:xfrm>
          <a:prstGeom prst="rect">
            <a:avLst/>
          </a:prstGeom>
          <a:noFill/>
          <a:ln/>
        </p:spPr>
        <p:txBody>
          <a:bodyPr wrap="square" lIns="0" tIns="0" rIns="0" bIns="0" rtlCol="0" anchor="ctr"/>
          <a:lstStyle/>
          <a:p>
            <a:pPr algn="l" indent="0" marL="0">
              <a:lnSpc>
                <a:spcPct val="110000"/>
              </a:lnSpc>
              <a:buNone/>
            </a:pPr>
            <a:r>
              <a:rPr lang="en-US" sz="1050" dirty="0">
                <a:solidFill>
                  <a:srgbClr val="C7CEEE"/>
                </a:solidFill>
                <a:latin typeface="Calibri" pitchFamily="34" charset="0"/>
                <a:ea typeface="Calibri" pitchFamily="34" charset="-122"/>
                <a:cs typeface="Calibri" pitchFamily="34" charset="-120"/>
              </a:rPr>
              <a:t>precise, closely grounded wording</a:t>
            </a:r>
            <a:endParaRPr lang="en-US" sz="1050" dirty="0"/>
          </a:p>
        </p:txBody>
      </p:sp>
      <p:sp>
        <p:nvSpPr>
          <p:cNvPr id="19" name="Shape 17"/>
          <p:cNvSpPr/>
          <p:nvPr/>
        </p:nvSpPr>
        <p:spPr>
          <a:xfrm>
            <a:off x="5760720" y="1600200"/>
            <a:ext cx="5852160" cy="4617720"/>
          </a:xfrm>
          <a:prstGeom prst="roundRect">
            <a:avLst>
              <a:gd name="adj" fmla="val 2376"/>
            </a:avLst>
          </a:prstGeom>
          <a:solidFill>
            <a:srgbClr val="FFFFFF"/>
          </a:solidFill>
          <a:ln w="15875">
            <a:solidFill>
              <a:srgbClr val="E4E8F5"/>
            </a:solidFill>
            <a:prstDash val="solid"/>
          </a:ln>
          <a:effectLst>
            <a:outerShdw sx="100000" sy="100000" kx="0" ky="0" algn="bl" rotWithShape="0" blurRad="127000" dist="38100" dir="5400000">
              <a:srgbClr val="1E2761">
                <a:alpha val="12000"/>
              </a:srgbClr>
            </a:outerShdw>
          </a:effectLst>
        </p:spPr>
      </p:sp>
      <p:sp>
        <p:nvSpPr>
          <p:cNvPr id="20" name="Shape 18"/>
          <p:cNvSpPr/>
          <p:nvPr/>
        </p:nvSpPr>
        <p:spPr>
          <a:xfrm>
            <a:off x="5760720" y="1600200"/>
            <a:ext cx="5852160" cy="777240"/>
          </a:xfrm>
          <a:prstGeom prst="roundRect">
            <a:avLst>
              <a:gd name="adj" fmla="val 14118"/>
            </a:avLst>
          </a:prstGeom>
          <a:solidFill>
            <a:srgbClr val="F4F6FC"/>
          </a:solidFill>
          <a:ln/>
        </p:spPr>
      </p:sp>
      <p:sp>
        <p:nvSpPr>
          <p:cNvPr id="21" name="Shape 19"/>
          <p:cNvSpPr/>
          <p:nvPr/>
        </p:nvSpPr>
        <p:spPr>
          <a:xfrm>
            <a:off x="5760720" y="1984248"/>
            <a:ext cx="5852160" cy="393192"/>
          </a:xfrm>
          <a:prstGeom prst="rect">
            <a:avLst/>
          </a:prstGeom>
          <a:solidFill>
            <a:srgbClr val="F4F6FC"/>
          </a:solidFill>
          <a:ln/>
        </p:spPr>
      </p:sp>
      <p:sp>
        <p:nvSpPr>
          <p:cNvPr id="22" name="Text 20"/>
          <p:cNvSpPr/>
          <p:nvPr/>
        </p:nvSpPr>
        <p:spPr>
          <a:xfrm>
            <a:off x="6035040" y="1691640"/>
            <a:ext cx="548640" cy="274320"/>
          </a:xfrm>
          <a:prstGeom prst="rect">
            <a:avLst/>
          </a:prstGeom>
          <a:noFill/>
          <a:ln/>
        </p:spPr>
        <p:txBody>
          <a:bodyPr wrap="square" lIns="0" tIns="0" rIns="0" bIns="0" rtlCol="0" anchor="ctr"/>
          <a:lstStyle/>
          <a:p>
            <a:pPr indent="0" marL="0">
              <a:buNone/>
            </a:pPr>
            <a:r>
              <a:rPr lang="en-US" sz="1050" b="1" dirty="0">
                <a:solidFill>
                  <a:srgbClr val="6B7590"/>
                </a:solidFill>
                <a:latin typeface="Calibri" pitchFamily="34" charset="0"/>
                <a:ea typeface="Calibri" pitchFamily="34" charset="-122"/>
                <a:cs typeface="Calibri" pitchFamily="34" charset="-120"/>
              </a:rPr>
              <a:t>To:</a:t>
            </a:r>
            <a:endParaRPr lang="en-US" sz="1050" dirty="0"/>
          </a:p>
        </p:txBody>
      </p:sp>
      <p:sp>
        <p:nvSpPr>
          <p:cNvPr id="23" name="Text 21"/>
          <p:cNvSpPr/>
          <p:nvPr/>
        </p:nvSpPr>
        <p:spPr>
          <a:xfrm>
            <a:off x="6537960" y="1691640"/>
            <a:ext cx="4846320" cy="274320"/>
          </a:xfrm>
          <a:prstGeom prst="rect">
            <a:avLst/>
          </a:prstGeom>
          <a:noFill/>
          <a:ln/>
        </p:spPr>
        <p:txBody>
          <a:bodyPr wrap="square" lIns="0" tIns="0" rIns="0" bIns="0" rtlCol="0" anchor="ctr"/>
          <a:lstStyle/>
          <a:p>
            <a:pPr indent="0" marL="0">
              <a:buNone/>
            </a:pPr>
            <a:r>
              <a:rPr lang="en-US" sz="1050" dirty="0">
                <a:solidFill>
                  <a:srgbClr val="1E2761"/>
                </a:solidFill>
                <a:latin typeface="Calibri" pitchFamily="34" charset="0"/>
                <a:ea typeface="Calibri" pitchFamily="34" charset="-122"/>
                <a:cs typeface="Calibri" pitchFamily="34" charset="-120"/>
              </a:rPr>
              <a:t>wm.tan@raffleswealth.com.sg</a:t>
            </a:r>
            <a:endParaRPr lang="en-US" sz="1050" dirty="0"/>
          </a:p>
        </p:txBody>
      </p:sp>
      <p:sp>
        <p:nvSpPr>
          <p:cNvPr id="24" name="Text 22"/>
          <p:cNvSpPr/>
          <p:nvPr/>
        </p:nvSpPr>
        <p:spPr>
          <a:xfrm>
            <a:off x="6035040" y="2011680"/>
            <a:ext cx="822960" cy="274320"/>
          </a:xfrm>
          <a:prstGeom prst="rect">
            <a:avLst/>
          </a:prstGeom>
          <a:noFill/>
          <a:ln/>
        </p:spPr>
        <p:txBody>
          <a:bodyPr wrap="square" lIns="0" tIns="0" rIns="0" bIns="0" rtlCol="0" anchor="ctr"/>
          <a:lstStyle/>
          <a:p>
            <a:pPr indent="0" marL="0">
              <a:buNone/>
            </a:pPr>
            <a:r>
              <a:rPr lang="en-US" sz="1050" b="1" dirty="0">
                <a:solidFill>
                  <a:srgbClr val="6B7590"/>
                </a:solidFill>
                <a:latin typeface="Calibri" pitchFamily="34" charset="0"/>
                <a:ea typeface="Calibri" pitchFamily="34" charset="-122"/>
                <a:cs typeface="Calibri" pitchFamily="34" charset="-120"/>
              </a:rPr>
              <a:t>Subject:</a:t>
            </a:r>
            <a:endParaRPr lang="en-US" sz="1050" dirty="0"/>
          </a:p>
        </p:txBody>
      </p:sp>
      <p:sp>
        <p:nvSpPr>
          <p:cNvPr id="25" name="Text 23"/>
          <p:cNvSpPr/>
          <p:nvPr/>
        </p:nvSpPr>
        <p:spPr>
          <a:xfrm>
            <a:off x="6812280" y="2011680"/>
            <a:ext cx="4572000" cy="27432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Re: Portfolio Review — Q3 Rebalancing</a:t>
            </a:r>
            <a:endParaRPr lang="en-US" sz="1050" dirty="0"/>
          </a:p>
        </p:txBody>
      </p:sp>
      <p:sp>
        <p:nvSpPr>
          <p:cNvPr id="26" name="Text 24"/>
          <p:cNvSpPr/>
          <p:nvPr/>
        </p:nvSpPr>
        <p:spPr>
          <a:xfrm>
            <a:off x="6080760" y="2606040"/>
            <a:ext cx="5212080" cy="3429000"/>
          </a:xfrm>
          <a:prstGeom prst="rect">
            <a:avLst/>
          </a:prstGeom>
          <a:noFill/>
          <a:ln/>
        </p:spPr>
        <p:txBody>
          <a:bodyPr wrap="square" lIns="0" tIns="0" rIns="0" bIns="0" rtlCol="0" anchor="t"/>
          <a:lstStyle/>
          <a:p>
            <a:pPr indent="0" marL="0">
              <a:lnSpc>
                <a:spcPct val="135000"/>
              </a:lnSpc>
              <a:buNone/>
            </a:pPr>
            <a:r>
              <a:rPr lang="en-US" sz="1250" dirty="0">
                <a:solidFill>
                  <a:srgbClr val="1E2761"/>
                </a:solidFill>
                <a:latin typeface="Calibri" pitchFamily="34" charset="0"/>
                <a:ea typeface="Calibri" pitchFamily="34" charset="-122"/>
                <a:cs typeface="Calibri" pitchFamily="34" charset="-120"/>
              </a:rPr>
              <a:t>Dear Mr. Tan,</a:t>
            </a:r>
            <a:endParaRPr lang="en-US" sz="1250" dirty="0"/>
          </a:p>
          <a:p>
            <a:pPr indent="0" marL="0">
              <a:lnSpc>
                <a:spcPct val="135000"/>
              </a:lnSpc>
              <a:buNone/>
            </a:pPr>
            <a:endParaRPr lang="en-US" sz="1250" dirty="0"/>
          </a:p>
          <a:p>
            <a:pPr indent="0" marL="0">
              <a:lnSpc>
                <a:spcPct val="135000"/>
              </a:lnSpc>
              <a:buNone/>
            </a:pPr>
            <a:r>
              <a:rPr lang="en-US" sz="1250" dirty="0">
                <a:solidFill>
                  <a:srgbClr val="1E2761"/>
                </a:solidFill>
                <a:latin typeface="Calibri" pitchFamily="34" charset="0"/>
                <a:ea typeface="Calibri" pitchFamily="34" charset="-122"/>
                <a:cs typeface="Calibri" pitchFamily="34" charset="-120"/>
              </a:rPr>
              <a:t>Thank you for your patience while we finalised the updated portfolio allocation. I can confirm the rebalancing aligns with the risk profile agreed during our last review, with no change to the overall mandate.</a:t>
            </a:r>
            <a:endParaRPr lang="en-US" sz="1250" dirty="0"/>
          </a:p>
          <a:p>
            <a:pPr indent="0" marL="0">
              <a:lnSpc>
                <a:spcPct val="135000"/>
              </a:lnSpc>
              <a:buNone/>
            </a:pPr>
            <a:endParaRPr lang="en-US" sz="1250" dirty="0"/>
          </a:p>
          <a:p>
            <a:pPr indent="0" marL="0">
              <a:lnSpc>
                <a:spcPct val="135000"/>
              </a:lnSpc>
              <a:buNone/>
            </a:pPr>
            <a:r>
              <a:rPr lang="en-US" sz="1250" dirty="0">
                <a:solidFill>
                  <a:srgbClr val="1E2761"/>
                </a:solidFill>
                <a:latin typeface="Calibri" pitchFamily="34" charset="0"/>
                <a:ea typeface="Calibri" pitchFamily="34" charset="-122"/>
                <a:cs typeface="Calibri" pitchFamily="34" charset="-120"/>
              </a:rPr>
              <a:t>Please let me know a suitable time this week for a short call to walk through the details.</a:t>
            </a:r>
            <a:endParaRPr lang="en-US" sz="1250" dirty="0"/>
          </a:p>
          <a:p>
            <a:pPr indent="0" marL="0">
              <a:lnSpc>
                <a:spcPct val="135000"/>
              </a:lnSpc>
              <a:buNone/>
            </a:pPr>
            <a:endParaRPr lang="en-US" sz="1250" dirty="0"/>
          </a:p>
          <a:p>
            <a:pPr indent="0" marL="0">
              <a:lnSpc>
                <a:spcPct val="135000"/>
              </a:lnSpc>
              <a:buNone/>
            </a:pPr>
            <a:r>
              <a:rPr lang="en-US" sz="1250" dirty="0">
                <a:solidFill>
                  <a:srgbClr val="1E2761"/>
                </a:solidFill>
                <a:latin typeface="Calibri" pitchFamily="34" charset="0"/>
                <a:ea typeface="Calibri" pitchFamily="34" charset="-122"/>
                <a:cs typeface="Calibri" pitchFamily="34" charset="-120"/>
              </a:rPr>
              <a:t>Warm regards,</a:t>
            </a:r>
            <a:endParaRPr lang="en-US" sz="1250" dirty="0"/>
          </a:p>
          <a:p>
            <a:pPr indent="0" marL="0">
              <a:lnSpc>
                <a:spcPct val="135000"/>
              </a:lnSpc>
              <a:buNone/>
            </a:pPr>
            <a:r>
              <a:rPr lang="en-US" sz="1250" dirty="0">
                <a:solidFill>
                  <a:srgbClr val="1E2761"/>
                </a:solidFill>
                <a:latin typeface="Calibri" pitchFamily="34" charset="0"/>
                <a:ea typeface="Calibri" pitchFamily="34" charset="-122"/>
                <a:cs typeface="Calibri" pitchFamily="34" charset="-120"/>
              </a:rPr>
              <a:t>Jordan Lim</a:t>
            </a:r>
            <a:endParaRPr lang="en-US" sz="1250" dirty="0"/>
          </a:p>
        </p:txBody>
      </p:sp>
      <p:sp>
        <p:nvSpPr>
          <p:cNvPr id="27" name="Text 25"/>
          <p:cNvSpPr/>
          <p:nvPr/>
        </p:nvSpPr>
        <p:spPr>
          <a:xfrm>
            <a:off x="457200" y="6537960"/>
            <a:ext cx="3657600" cy="274320"/>
          </a:xfrm>
          <a:prstGeom prst="rect">
            <a:avLst/>
          </a:prstGeom>
          <a:noFill/>
          <a:ln/>
        </p:spPr>
        <p:txBody>
          <a:bodyPr wrap="square" lIns="0" tIns="0" rIns="0" bIns="0" rtlCol="0" anchor="ctr"/>
          <a:lstStyle/>
          <a:p>
            <a:pPr algn="l" indent="0" marL="0">
              <a:buNone/>
            </a:pPr>
            <a:r>
              <a:rPr lang="en-US" sz="1000" dirty="0">
                <a:solidFill>
                  <a:srgbClr val="6B7590"/>
                </a:solidFill>
                <a:latin typeface="Calibri" pitchFamily="34" charset="0"/>
                <a:ea typeface="Calibri" pitchFamily="34" charset="-122"/>
                <a:cs typeface="Calibri" pitchFamily="34" charset="-120"/>
              </a:rPr>
              <a:t>/ Commands</a:t>
            </a:r>
            <a:endParaRPr lang="en-US" sz="1000" dirty="0"/>
          </a:p>
        </p:txBody>
      </p:sp>
      <p:sp>
        <p:nvSpPr>
          <p:cNvPr id="28" name="Text 26"/>
          <p:cNvSpPr/>
          <p:nvPr/>
        </p:nvSpPr>
        <p:spPr>
          <a:xfrm>
            <a:off x="11247120" y="6537960"/>
            <a:ext cx="457200" cy="274320"/>
          </a:xfrm>
          <a:prstGeom prst="rect">
            <a:avLst/>
          </a:prstGeom>
          <a:noFill/>
          <a:ln/>
        </p:spPr>
        <p:txBody>
          <a:bodyPr wrap="square" lIns="0" tIns="0" rIns="0" bIns="0" rtlCol="0" anchor="ctr"/>
          <a:lstStyle/>
          <a:p>
            <a:pPr algn="r" indent="0" marL="0">
              <a:buNone/>
            </a:pPr>
            <a:r>
              <a:rPr lang="en-US" sz="1000" dirty="0">
                <a:solidFill>
                  <a:srgbClr val="6B759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roundRect">
            <a:avLst>
              <a:gd name="adj" fmla="val 18824"/>
            </a:avLst>
          </a:prstGeom>
          <a:solidFill>
            <a:srgbClr val="1E2761"/>
          </a:solidFill>
          <a:ln/>
        </p:spPr>
      </p:sp>
      <p:sp>
        <p:nvSpPr>
          <p:cNvPr id="3" name="Shape 1"/>
          <p:cNvSpPr/>
          <p:nvPr/>
        </p:nvSpPr>
        <p:spPr>
          <a:xfrm>
            <a:off x="758952" y="649224"/>
            <a:ext cx="365760" cy="365760"/>
          </a:xfrm>
          <a:prstGeom prst="heart">
            <a:avLst/>
          </a:prstGeom>
          <a:solidFill>
            <a:srgbClr val="FFFFFF"/>
          </a:solidFill>
          <a:ln/>
        </p:spPr>
      </p:sp>
      <p:sp>
        <p:nvSpPr>
          <p:cNvPr id="4" name="Text 2"/>
          <p:cNvSpPr/>
          <p:nvPr/>
        </p:nvSpPr>
        <p:spPr>
          <a:xfrm>
            <a:off x="1463040" y="457200"/>
            <a:ext cx="8229600" cy="411480"/>
          </a:xfrm>
          <a:prstGeom prst="rect">
            <a:avLst/>
          </a:prstGeom>
          <a:noFill/>
          <a:ln/>
        </p:spPr>
        <p:txBody>
          <a:bodyPr wrap="square" lIns="0" tIns="0" rIns="0" bIns="0" rtlCol="0" anchor="ctr"/>
          <a:lstStyle/>
          <a:p>
            <a:pPr indent="0" marL="0">
              <a:buNone/>
            </a:pPr>
            <a:r>
              <a:rPr lang="en-US" sz="1250" b="1" dirty="0">
                <a:solidFill>
                  <a:srgbClr val="6B7590"/>
                </a:solidFill>
                <a:latin typeface="Calibri" pitchFamily="34" charset="0"/>
                <a:ea typeface="Calibri" pitchFamily="34" charset="-122"/>
                <a:cs typeface="Calibri" pitchFamily="34" charset="-120"/>
              </a:rPr>
              <a:t>BUSINESS USE CASE 2</a:t>
            </a:r>
            <a:endParaRPr lang="en-US" sz="1250" dirty="0"/>
          </a:p>
        </p:txBody>
      </p:sp>
      <p:sp>
        <p:nvSpPr>
          <p:cNvPr id="5" name="Text 3"/>
          <p:cNvSpPr/>
          <p:nvPr/>
        </p:nvSpPr>
        <p:spPr>
          <a:xfrm>
            <a:off x="1463040" y="777240"/>
            <a:ext cx="868680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Long-Standing Client — Casual, Warm, Personal</a:t>
            </a:r>
            <a:endParaRPr lang="en-US" sz="2400" dirty="0"/>
          </a:p>
        </p:txBody>
      </p:sp>
      <p:sp>
        <p:nvSpPr>
          <p:cNvPr id="6" name="Text 4"/>
          <p:cNvSpPr/>
          <p:nvPr/>
        </p:nvSpPr>
        <p:spPr>
          <a:xfrm>
            <a:off x="548640" y="1600200"/>
            <a:ext cx="4892040" cy="320040"/>
          </a:xfrm>
          <a:prstGeom prst="rect">
            <a:avLst/>
          </a:prstGeom>
          <a:noFill/>
          <a:ln/>
        </p:spPr>
        <p:txBody>
          <a:bodyPr wrap="square" lIns="0" tIns="0" rIns="0" bIns="0" rtlCol="0" anchor="ctr"/>
          <a:lstStyle/>
          <a:p>
            <a:pPr indent="0" marL="0">
              <a:buNone/>
            </a:pPr>
            <a:r>
              <a:rPr lang="en-US" sz="1100" b="1" spc="100" kern="0" dirty="0">
                <a:solidFill>
                  <a:srgbClr val="1E2761"/>
                </a:solidFill>
                <a:latin typeface="Calibri" pitchFamily="34" charset="0"/>
                <a:ea typeface="Calibri" pitchFamily="34" charset="-122"/>
                <a:cs typeface="Calibri" pitchFamily="34" charset="-120"/>
              </a:rPr>
              <a:t>INTENT &amp; PURPOSE</a:t>
            </a:r>
            <a:endParaRPr lang="en-US" sz="1100" dirty="0"/>
          </a:p>
        </p:txBody>
      </p:sp>
      <p:sp>
        <p:nvSpPr>
          <p:cNvPr id="7" name="Shape 5"/>
          <p:cNvSpPr/>
          <p:nvPr/>
        </p:nvSpPr>
        <p:spPr>
          <a:xfrm>
            <a:off x="548640" y="1965960"/>
            <a:ext cx="4892040" cy="1417320"/>
          </a:xfrm>
          <a:prstGeom prst="roundRect">
            <a:avLst>
              <a:gd name="adj" fmla="val 6452"/>
            </a:avLst>
          </a:prstGeom>
          <a:solidFill>
            <a:srgbClr val="F4F6FC"/>
          </a:solidFill>
          <a:ln/>
        </p:spPr>
      </p:sp>
      <p:sp>
        <p:nvSpPr>
          <p:cNvPr id="8" name="Text 6"/>
          <p:cNvSpPr/>
          <p:nvPr/>
        </p:nvSpPr>
        <p:spPr>
          <a:xfrm>
            <a:off x="777240" y="2103120"/>
            <a:ext cx="4434840" cy="1188720"/>
          </a:xfrm>
          <a:prstGeom prst="rect">
            <a:avLst/>
          </a:prstGeom>
          <a:noFill/>
          <a:ln/>
        </p:spPr>
        <p:txBody>
          <a:bodyPr wrap="square" lIns="0" tIns="0" rIns="0" bIns="0" rtlCol="0" anchor="ctr"/>
          <a:lstStyle/>
          <a:p>
            <a:pPr indent="0" marL="0">
              <a:lnSpc>
                <a:spcPct val="130000"/>
              </a:lnSpc>
              <a:buNone/>
            </a:pPr>
            <a:r>
              <a:rPr lang="en-US" sz="1250" dirty="0">
                <a:solidFill>
                  <a:srgbClr val="1E2761"/>
                </a:solidFill>
                <a:latin typeface="Calibri" pitchFamily="34" charset="0"/>
                <a:ea typeface="Calibri" pitchFamily="34" charset="-122"/>
                <a:cs typeface="Calibri" pitchFamily="34" charset="-120"/>
              </a:rPr>
              <a:t>A personal note to a client or contact the relationship manager has worked with for years. Warmth and familiarity matter more than formal structure, while the message still stays professional enough to share within the team.</a:t>
            </a:r>
            <a:endParaRPr lang="en-US" sz="1250" dirty="0"/>
          </a:p>
        </p:txBody>
      </p:sp>
      <p:sp>
        <p:nvSpPr>
          <p:cNvPr id="9" name="Text 7"/>
          <p:cNvSpPr/>
          <p:nvPr/>
        </p:nvSpPr>
        <p:spPr>
          <a:xfrm>
            <a:off x="548640" y="3566160"/>
            <a:ext cx="4892040" cy="320040"/>
          </a:xfrm>
          <a:prstGeom prst="rect">
            <a:avLst/>
          </a:prstGeom>
          <a:noFill/>
          <a:ln/>
        </p:spPr>
        <p:txBody>
          <a:bodyPr wrap="square" lIns="0" tIns="0" rIns="0" bIns="0" rtlCol="0" anchor="ctr"/>
          <a:lstStyle/>
          <a:p>
            <a:pPr indent="0" marL="0">
              <a:buNone/>
            </a:pPr>
            <a:r>
              <a:rPr lang="en-US" sz="1100" b="1" spc="100" kern="0" dirty="0">
                <a:solidFill>
                  <a:srgbClr val="1E2761"/>
                </a:solidFill>
                <a:latin typeface="Calibri" pitchFamily="34" charset="0"/>
                <a:ea typeface="Calibri" pitchFamily="34" charset="-122"/>
                <a:cs typeface="Calibri" pitchFamily="34" charset="-120"/>
              </a:rPr>
              <a:t>SETTING COMBINATION</a:t>
            </a:r>
            <a:endParaRPr lang="en-US" sz="1100" dirty="0"/>
          </a:p>
        </p:txBody>
      </p:sp>
      <p:sp>
        <p:nvSpPr>
          <p:cNvPr id="10" name="Shape 8"/>
          <p:cNvSpPr/>
          <p:nvPr/>
        </p:nvSpPr>
        <p:spPr>
          <a:xfrm>
            <a:off x="548640" y="3931920"/>
            <a:ext cx="4892040" cy="530352"/>
          </a:xfrm>
          <a:prstGeom prst="roundRect">
            <a:avLst>
              <a:gd name="adj" fmla="val 15517"/>
            </a:avLst>
          </a:prstGeom>
          <a:solidFill>
            <a:srgbClr val="1E2761"/>
          </a:solidFill>
          <a:ln/>
        </p:spPr>
      </p:sp>
      <p:sp>
        <p:nvSpPr>
          <p:cNvPr id="11" name="Text 9"/>
          <p:cNvSpPr/>
          <p:nvPr/>
        </p:nvSpPr>
        <p:spPr>
          <a:xfrm>
            <a:off x="777240" y="3931920"/>
            <a:ext cx="2011680" cy="530352"/>
          </a:xfrm>
          <a:prstGeom prst="rect">
            <a:avLst/>
          </a:prstGeom>
          <a:noFill/>
          <a:ln/>
        </p:spPr>
        <p:txBody>
          <a:bodyPr wrap="square" lIns="0" tIns="0" rIns="0" bIns="0" rtlCol="0" anchor="ctr"/>
          <a:lstStyle/>
          <a:p>
            <a:pPr algn="l" indent="0" marL="0">
              <a:buNone/>
            </a:pPr>
            <a:r>
              <a:rPr lang="en-US" sz="1300" b="1" dirty="0">
                <a:solidFill>
                  <a:srgbClr val="CADCFC"/>
                </a:solidFill>
                <a:latin typeface="Courier New" pitchFamily="34" charset="0"/>
                <a:ea typeface="Courier New" pitchFamily="34" charset="-122"/>
                <a:cs typeface="Courier New" pitchFamily="34" charset="-120"/>
              </a:rPr>
              <a:t>/tone casual</a:t>
            </a:r>
            <a:endParaRPr lang="en-US" sz="1300" dirty="0"/>
          </a:p>
        </p:txBody>
      </p:sp>
      <p:sp>
        <p:nvSpPr>
          <p:cNvPr id="12" name="Text 10"/>
          <p:cNvSpPr/>
          <p:nvPr/>
        </p:nvSpPr>
        <p:spPr>
          <a:xfrm>
            <a:off x="2743200" y="3931920"/>
            <a:ext cx="2514600" cy="530352"/>
          </a:xfrm>
          <a:prstGeom prst="rect">
            <a:avLst/>
          </a:prstGeom>
          <a:noFill/>
          <a:ln/>
        </p:spPr>
        <p:txBody>
          <a:bodyPr wrap="square" lIns="0" tIns="0" rIns="0" bIns="0" rtlCol="0" anchor="ctr"/>
          <a:lstStyle/>
          <a:p>
            <a:pPr algn="l" indent="0" marL="0">
              <a:lnSpc>
                <a:spcPct val="110000"/>
              </a:lnSpc>
              <a:buNone/>
            </a:pPr>
            <a:r>
              <a:rPr lang="en-US" sz="1050" dirty="0">
                <a:solidFill>
                  <a:srgbClr val="C7CEEE"/>
                </a:solidFill>
                <a:latin typeface="Calibri" pitchFamily="34" charset="0"/>
                <a:ea typeface="Calibri" pitchFamily="34" charset="-122"/>
                <a:cs typeface="Calibri" pitchFamily="34" charset="-120"/>
              </a:rPr>
              <a:t>relaxed, everyday phrasing</a:t>
            </a:r>
            <a:endParaRPr lang="en-US" sz="1050" dirty="0"/>
          </a:p>
        </p:txBody>
      </p:sp>
      <p:sp>
        <p:nvSpPr>
          <p:cNvPr id="13" name="Shape 11"/>
          <p:cNvSpPr/>
          <p:nvPr/>
        </p:nvSpPr>
        <p:spPr>
          <a:xfrm>
            <a:off x="548640" y="4590288"/>
            <a:ext cx="4892040" cy="530352"/>
          </a:xfrm>
          <a:prstGeom prst="roundRect">
            <a:avLst>
              <a:gd name="adj" fmla="val 15517"/>
            </a:avLst>
          </a:prstGeom>
          <a:solidFill>
            <a:srgbClr val="1E2761"/>
          </a:solidFill>
          <a:ln/>
        </p:spPr>
      </p:sp>
      <p:sp>
        <p:nvSpPr>
          <p:cNvPr id="14" name="Text 12"/>
          <p:cNvSpPr/>
          <p:nvPr/>
        </p:nvSpPr>
        <p:spPr>
          <a:xfrm>
            <a:off x="777240" y="4590288"/>
            <a:ext cx="2011680" cy="530352"/>
          </a:xfrm>
          <a:prstGeom prst="rect">
            <a:avLst/>
          </a:prstGeom>
          <a:noFill/>
          <a:ln/>
        </p:spPr>
        <p:txBody>
          <a:bodyPr wrap="square" lIns="0" tIns="0" rIns="0" bIns="0" rtlCol="0" anchor="ctr"/>
          <a:lstStyle/>
          <a:p>
            <a:pPr algn="l" indent="0" marL="0">
              <a:buNone/>
            </a:pPr>
            <a:r>
              <a:rPr lang="en-US" sz="1300" b="1" dirty="0">
                <a:solidFill>
                  <a:srgbClr val="CADCFC"/>
                </a:solidFill>
                <a:latin typeface="Courier New" pitchFamily="34" charset="0"/>
                <a:ea typeface="Courier New" pitchFamily="34" charset="-122"/>
                <a:cs typeface="Courier New" pitchFamily="34" charset="-120"/>
              </a:rPr>
              <a:t>/instant on</a:t>
            </a:r>
            <a:endParaRPr lang="en-US" sz="1300" dirty="0"/>
          </a:p>
        </p:txBody>
      </p:sp>
      <p:sp>
        <p:nvSpPr>
          <p:cNvPr id="15" name="Text 13"/>
          <p:cNvSpPr/>
          <p:nvPr/>
        </p:nvSpPr>
        <p:spPr>
          <a:xfrm>
            <a:off x="2743200" y="4590288"/>
            <a:ext cx="2514600" cy="530352"/>
          </a:xfrm>
          <a:prstGeom prst="rect">
            <a:avLst/>
          </a:prstGeom>
          <a:noFill/>
          <a:ln/>
        </p:spPr>
        <p:txBody>
          <a:bodyPr wrap="square" lIns="0" tIns="0" rIns="0" bIns="0" rtlCol="0" anchor="ctr"/>
          <a:lstStyle/>
          <a:p>
            <a:pPr algn="l" indent="0" marL="0">
              <a:lnSpc>
                <a:spcPct val="110000"/>
              </a:lnSpc>
              <a:buNone/>
            </a:pPr>
            <a:r>
              <a:rPr lang="en-US" sz="1050" dirty="0">
                <a:solidFill>
                  <a:srgbClr val="C7CEEE"/>
                </a:solidFill>
                <a:latin typeface="Calibri" pitchFamily="34" charset="0"/>
                <a:ea typeface="Calibri" pitchFamily="34" charset="-122"/>
                <a:cs typeface="Calibri" pitchFamily="34" charset="-120"/>
              </a:rPr>
              <a:t>quick, natural back-and-forth</a:t>
            </a:r>
            <a:endParaRPr lang="en-US" sz="1050" dirty="0"/>
          </a:p>
        </p:txBody>
      </p:sp>
      <p:sp>
        <p:nvSpPr>
          <p:cNvPr id="16" name="Shape 14"/>
          <p:cNvSpPr/>
          <p:nvPr/>
        </p:nvSpPr>
        <p:spPr>
          <a:xfrm>
            <a:off x="548640" y="5248656"/>
            <a:ext cx="4892040" cy="530352"/>
          </a:xfrm>
          <a:prstGeom prst="roundRect">
            <a:avLst>
              <a:gd name="adj" fmla="val 15517"/>
            </a:avLst>
          </a:prstGeom>
          <a:solidFill>
            <a:srgbClr val="1E2761"/>
          </a:solidFill>
          <a:ln/>
        </p:spPr>
      </p:sp>
      <p:sp>
        <p:nvSpPr>
          <p:cNvPr id="17" name="Text 15"/>
          <p:cNvSpPr/>
          <p:nvPr/>
        </p:nvSpPr>
        <p:spPr>
          <a:xfrm>
            <a:off x="777240" y="5248656"/>
            <a:ext cx="2011680" cy="530352"/>
          </a:xfrm>
          <a:prstGeom prst="rect">
            <a:avLst/>
          </a:prstGeom>
          <a:noFill/>
          <a:ln/>
        </p:spPr>
        <p:txBody>
          <a:bodyPr wrap="square" lIns="0" tIns="0" rIns="0" bIns="0" rtlCol="0" anchor="ctr"/>
          <a:lstStyle/>
          <a:p>
            <a:pPr algn="l" indent="0" marL="0">
              <a:buNone/>
            </a:pPr>
            <a:r>
              <a:rPr lang="en-US" sz="1300" b="1" dirty="0">
                <a:solidFill>
                  <a:srgbClr val="CADCFC"/>
                </a:solidFill>
                <a:latin typeface="Courier New" pitchFamily="34" charset="0"/>
                <a:ea typeface="Courier New" pitchFamily="34" charset="-122"/>
                <a:cs typeface="Courier New" pitchFamily="34" charset="-120"/>
              </a:rPr>
              <a:t>/creativity medium</a:t>
            </a:r>
            <a:endParaRPr lang="en-US" sz="1300" dirty="0"/>
          </a:p>
        </p:txBody>
      </p:sp>
      <p:sp>
        <p:nvSpPr>
          <p:cNvPr id="18" name="Text 16"/>
          <p:cNvSpPr/>
          <p:nvPr/>
        </p:nvSpPr>
        <p:spPr>
          <a:xfrm>
            <a:off x="2743200" y="5248656"/>
            <a:ext cx="2514600" cy="530352"/>
          </a:xfrm>
          <a:prstGeom prst="rect">
            <a:avLst/>
          </a:prstGeom>
          <a:noFill/>
          <a:ln/>
        </p:spPr>
        <p:txBody>
          <a:bodyPr wrap="square" lIns="0" tIns="0" rIns="0" bIns="0" rtlCol="0" anchor="ctr"/>
          <a:lstStyle/>
          <a:p>
            <a:pPr algn="l" indent="0" marL="0">
              <a:lnSpc>
                <a:spcPct val="110000"/>
              </a:lnSpc>
              <a:buNone/>
            </a:pPr>
            <a:r>
              <a:rPr lang="en-US" sz="1050" dirty="0">
                <a:solidFill>
                  <a:srgbClr val="C7CEEE"/>
                </a:solidFill>
                <a:latin typeface="Calibri" pitchFamily="34" charset="0"/>
                <a:ea typeface="Calibri" pitchFamily="34" charset="-122"/>
                <a:cs typeface="Calibri" pitchFamily="34" charset="-120"/>
              </a:rPr>
              <a:t>genuine, expressive warmth</a:t>
            </a:r>
            <a:endParaRPr lang="en-US" sz="1050" dirty="0"/>
          </a:p>
        </p:txBody>
      </p:sp>
      <p:sp>
        <p:nvSpPr>
          <p:cNvPr id="19" name="Shape 17"/>
          <p:cNvSpPr/>
          <p:nvPr/>
        </p:nvSpPr>
        <p:spPr>
          <a:xfrm>
            <a:off x="5760720" y="1600200"/>
            <a:ext cx="5852160" cy="4617720"/>
          </a:xfrm>
          <a:prstGeom prst="roundRect">
            <a:avLst>
              <a:gd name="adj" fmla="val 2376"/>
            </a:avLst>
          </a:prstGeom>
          <a:solidFill>
            <a:srgbClr val="FFFFFF"/>
          </a:solidFill>
          <a:ln w="15875">
            <a:solidFill>
              <a:srgbClr val="E4E8F5"/>
            </a:solidFill>
            <a:prstDash val="solid"/>
          </a:ln>
          <a:effectLst>
            <a:outerShdw sx="100000" sy="100000" kx="0" ky="0" algn="bl" rotWithShape="0" blurRad="127000" dist="38100" dir="5400000">
              <a:srgbClr val="1E2761">
                <a:alpha val="12000"/>
              </a:srgbClr>
            </a:outerShdw>
          </a:effectLst>
        </p:spPr>
      </p:sp>
      <p:sp>
        <p:nvSpPr>
          <p:cNvPr id="20" name="Shape 18"/>
          <p:cNvSpPr/>
          <p:nvPr/>
        </p:nvSpPr>
        <p:spPr>
          <a:xfrm>
            <a:off x="5760720" y="1600200"/>
            <a:ext cx="5852160" cy="777240"/>
          </a:xfrm>
          <a:prstGeom prst="roundRect">
            <a:avLst>
              <a:gd name="adj" fmla="val 14118"/>
            </a:avLst>
          </a:prstGeom>
          <a:solidFill>
            <a:srgbClr val="F4F6FC"/>
          </a:solidFill>
          <a:ln/>
        </p:spPr>
      </p:sp>
      <p:sp>
        <p:nvSpPr>
          <p:cNvPr id="21" name="Shape 19"/>
          <p:cNvSpPr/>
          <p:nvPr/>
        </p:nvSpPr>
        <p:spPr>
          <a:xfrm>
            <a:off x="5760720" y="1984248"/>
            <a:ext cx="5852160" cy="393192"/>
          </a:xfrm>
          <a:prstGeom prst="rect">
            <a:avLst/>
          </a:prstGeom>
          <a:solidFill>
            <a:srgbClr val="F4F6FC"/>
          </a:solidFill>
          <a:ln/>
        </p:spPr>
      </p:sp>
      <p:sp>
        <p:nvSpPr>
          <p:cNvPr id="22" name="Text 20"/>
          <p:cNvSpPr/>
          <p:nvPr/>
        </p:nvSpPr>
        <p:spPr>
          <a:xfrm>
            <a:off x="6035040" y="1691640"/>
            <a:ext cx="548640" cy="274320"/>
          </a:xfrm>
          <a:prstGeom prst="rect">
            <a:avLst/>
          </a:prstGeom>
          <a:noFill/>
          <a:ln/>
        </p:spPr>
        <p:txBody>
          <a:bodyPr wrap="square" lIns="0" tIns="0" rIns="0" bIns="0" rtlCol="0" anchor="ctr"/>
          <a:lstStyle/>
          <a:p>
            <a:pPr indent="0" marL="0">
              <a:buNone/>
            </a:pPr>
            <a:r>
              <a:rPr lang="en-US" sz="1050" b="1" dirty="0">
                <a:solidFill>
                  <a:srgbClr val="6B7590"/>
                </a:solidFill>
                <a:latin typeface="Calibri" pitchFamily="34" charset="0"/>
                <a:ea typeface="Calibri" pitchFamily="34" charset="-122"/>
                <a:cs typeface="Calibri" pitchFamily="34" charset="-120"/>
              </a:rPr>
              <a:t>To:</a:t>
            </a:r>
            <a:endParaRPr lang="en-US" sz="1050" dirty="0"/>
          </a:p>
        </p:txBody>
      </p:sp>
      <p:sp>
        <p:nvSpPr>
          <p:cNvPr id="23" name="Text 21"/>
          <p:cNvSpPr/>
          <p:nvPr/>
        </p:nvSpPr>
        <p:spPr>
          <a:xfrm>
            <a:off x="6537960" y="1691640"/>
            <a:ext cx="4846320" cy="274320"/>
          </a:xfrm>
          <a:prstGeom prst="rect">
            <a:avLst/>
          </a:prstGeom>
          <a:noFill/>
          <a:ln/>
        </p:spPr>
        <p:txBody>
          <a:bodyPr wrap="square" lIns="0" tIns="0" rIns="0" bIns="0" rtlCol="0" anchor="ctr"/>
          <a:lstStyle/>
          <a:p>
            <a:pPr indent="0" marL="0">
              <a:buNone/>
            </a:pPr>
            <a:r>
              <a:rPr lang="en-US" sz="1050" dirty="0">
                <a:solidFill>
                  <a:srgbClr val="1E2761"/>
                </a:solidFill>
                <a:latin typeface="Calibri" pitchFamily="34" charset="0"/>
                <a:ea typeface="Calibri" pitchFamily="34" charset="-122"/>
                <a:cs typeface="Calibri" pitchFamily="34" charset="-120"/>
              </a:rPr>
              <a:t>meiling.ng@ngholdings.com.sg</a:t>
            </a:r>
            <a:endParaRPr lang="en-US" sz="1050" dirty="0"/>
          </a:p>
        </p:txBody>
      </p:sp>
      <p:sp>
        <p:nvSpPr>
          <p:cNvPr id="24" name="Text 22"/>
          <p:cNvSpPr/>
          <p:nvPr/>
        </p:nvSpPr>
        <p:spPr>
          <a:xfrm>
            <a:off x="6035040" y="2011680"/>
            <a:ext cx="822960" cy="274320"/>
          </a:xfrm>
          <a:prstGeom prst="rect">
            <a:avLst/>
          </a:prstGeom>
          <a:noFill/>
          <a:ln/>
        </p:spPr>
        <p:txBody>
          <a:bodyPr wrap="square" lIns="0" tIns="0" rIns="0" bIns="0" rtlCol="0" anchor="ctr"/>
          <a:lstStyle/>
          <a:p>
            <a:pPr indent="0" marL="0">
              <a:buNone/>
            </a:pPr>
            <a:r>
              <a:rPr lang="en-US" sz="1050" b="1" dirty="0">
                <a:solidFill>
                  <a:srgbClr val="6B7590"/>
                </a:solidFill>
                <a:latin typeface="Calibri" pitchFamily="34" charset="0"/>
                <a:ea typeface="Calibri" pitchFamily="34" charset="-122"/>
                <a:cs typeface="Calibri" pitchFamily="34" charset="-120"/>
              </a:rPr>
              <a:t>Subject:</a:t>
            </a:r>
            <a:endParaRPr lang="en-US" sz="1050" dirty="0"/>
          </a:p>
        </p:txBody>
      </p:sp>
      <p:sp>
        <p:nvSpPr>
          <p:cNvPr id="25" name="Text 23"/>
          <p:cNvSpPr/>
          <p:nvPr/>
        </p:nvSpPr>
        <p:spPr>
          <a:xfrm>
            <a:off x="6812280" y="2011680"/>
            <a:ext cx="4572000" cy="27432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Congratulations on the New Contract!</a:t>
            </a:r>
            <a:endParaRPr lang="en-US" sz="1050" dirty="0"/>
          </a:p>
        </p:txBody>
      </p:sp>
      <p:sp>
        <p:nvSpPr>
          <p:cNvPr id="26" name="Text 24"/>
          <p:cNvSpPr/>
          <p:nvPr/>
        </p:nvSpPr>
        <p:spPr>
          <a:xfrm>
            <a:off x="6080760" y="2606040"/>
            <a:ext cx="5212080" cy="3429000"/>
          </a:xfrm>
          <a:prstGeom prst="rect">
            <a:avLst/>
          </a:prstGeom>
          <a:noFill/>
          <a:ln/>
        </p:spPr>
        <p:txBody>
          <a:bodyPr wrap="square" lIns="0" tIns="0" rIns="0" bIns="0" rtlCol="0" anchor="t"/>
          <a:lstStyle/>
          <a:p>
            <a:pPr indent="0" marL="0">
              <a:lnSpc>
                <a:spcPct val="135000"/>
              </a:lnSpc>
              <a:buNone/>
            </a:pPr>
            <a:r>
              <a:rPr lang="en-US" sz="1250" dirty="0">
                <a:solidFill>
                  <a:srgbClr val="1E2761"/>
                </a:solidFill>
                <a:latin typeface="Calibri" pitchFamily="34" charset="0"/>
                <a:ea typeface="Calibri" pitchFamily="34" charset="-122"/>
                <a:cs typeface="Calibri" pitchFamily="34" charset="-120"/>
              </a:rPr>
              <a:t>Hi Mei Ling,</a:t>
            </a:r>
            <a:endParaRPr lang="en-US" sz="1250" dirty="0"/>
          </a:p>
          <a:p>
            <a:pPr indent="0" marL="0">
              <a:lnSpc>
                <a:spcPct val="135000"/>
              </a:lnSpc>
              <a:buNone/>
            </a:pPr>
            <a:endParaRPr lang="en-US" sz="1250" dirty="0"/>
          </a:p>
          <a:p>
            <a:pPr indent="0" marL="0">
              <a:lnSpc>
                <a:spcPct val="135000"/>
              </a:lnSpc>
              <a:buNone/>
            </a:pPr>
            <a:r>
              <a:rPr lang="en-US" sz="1250" dirty="0">
                <a:solidFill>
                  <a:srgbClr val="1E2761"/>
                </a:solidFill>
                <a:latin typeface="Calibri" pitchFamily="34" charset="0"/>
                <a:ea typeface="Calibri" pitchFamily="34" charset="-122"/>
                <a:cs typeface="Calibri" pitchFamily="34" charset="-120"/>
              </a:rPr>
              <a:t>Just heard the news about the new contract award — many congratulations! It's been great watching NG Holdings grow over these past few years, and this is such a well-deserved win.</a:t>
            </a:r>
            <a:endParaRPr lang="en-US" sz="1250" dirty="0"/>
          </a:p>
          <a:p>
            <a:pPr indent="0" marL="0">
              <a:lnSpc>
                <a:spcPct val="135000"/>
              </a:lnSpc>
              <a:buNone/>
            </a:pPr>
            <a:endParaRPr lang="en-US" sz="1250" dirty="0"/>
          </a:p>
          <a:p>
            <a:pPr indent="0" marL="0">
              <a:lnSpc>
                <a:spcPct val="135000"/>
              </a:lnSpc>
              <a:buNone/>
            </a:pPr>
            <a:r>
              <a:rPr lang="en-US" sz="1250" dirty="0">
                <a:solidFill>
                  <a:srgbClr val="1E2761"/>
                </a:solidFill>
                <a:latin typeface="Calibri" pitchFamily="34" charset="0"/>
                <a:ea typeface="Calibri" pitchFamily="34" charset="-122"/>
                <a:cs typeface="Calibri" pitchFamily="34" charset="-120"/>
              </a:rPr>
              <a:t>Let's catch up over coffee soon — my treat this time.</a:t>
            </a:r>
            <a:endParaRPr lang="en-US" sz="1250" dirty="0"/>
          </a:p>
          <a:p>
            <a:pPr indent="0" marL="0">
              <a:lnSpc>
                <a:spcPct val="135000"/>
              </a:lnSpc>
              <a:buNone/>
            </a:pPr>
            <a:endParaRPr lang="en-US" sz="1250" dirty="0"/>
          </a:p>
          <a:p>
            <a:pPr indent="0" marL="0">
              <a:lnSpc>
                <a:spcPct val="135000"/>
              </a:lnSpc>
              <a:buNone/>
            </a:pPr>
            <a:r>
              <a:rPr lang="en-US" sz="1250" dirty="0">
                <a:solidFill>
                  <a:srgbClr val="1E2761"/>
                </a:solidFill>
                <a:latin typeface="Calibri" pitchFamily="34" charset="0"/>
                <a:ea typeface="Calibri" pitchFamily="34" charset="-122"/>
                <a:cs typeface="Calibri" pitchFamily="34" charset="-120"/>
              </a:rPr>
              <a:t>Best,</a:t>
            </a:r>
            <a:endParaRPr lang="en-US" sz="1250" dirty="0"/>
          </a:p>
          <a:p>
            <a:pPr indent="0" marL="0">
              <a:lnSpc>
                <a:spcPct val="135000"/>
              </a:lnSpc>
              <a:buNone/>
            </a:pPr>
            <a:r>
              <a:rPr lang="en-US" sz="1250" dirty="0">
                <a:solidFill>
                  <a:srgbClr val="1E2761"/>
                </a:solidFill>
                <a:latin typeface="Calibri" pitchFamily="34" charset="0"/>
                <a:ea typeface="Calibri" pitchFamily="34" charset="-122"/>
                <a:cs typeface="Calibri" pitchFamily="34" charset="-120"/>
              </a:rPr>
              <a:t>Jordan</a:t>
            </a:r>
            <a:endParaRPr lang="en-US" sz="1250" dirty="0"/>
          </a:p>
        </p:txBody>
      </p:sp>
      <p:sp>
        <p:nvSpPr>
          <p:cNvPr id="27" name="Text 25"/>
          <p:cNvSpPr/>
          <p:nvPr/>
        </p:nvSpPr>
        <p:spPr>
          <a:xfrm>
            <a:off x="457200" y="6537960"/>
            <a:ext cx="3657600" cy="274320"/>
          </a:xfrm>
          <a:prstGeom prst="rect">
            <a:avLst/>
          </a:prstGeom>
          <a:noFill/>
          <a:ln/>
        </p:spPr>
        <p:txBody>
          <a:bodyPr wrap="square" lIns="0" tIns="0" rIns="0" bIns="0" rtlCol="0" anchor="ctr"/>
          <a:lstStyle/>
          <a:p>
            <a:pPr algn="l" indent="0" marL="0">
              <a:buNone/>
            </a:pPr>
            <a:r>
              <a:rPr lang="en-US" sz="1000" dirty="0">
                <a:solidFill>
                  <a:srgbClr val="6B7590"/>
                </a:solidFill>
                <a:latin typeface="Calibri" pitchFamily="34" charset="0"/>
                <a:ea typeface="Calibri" pitchFamily="34" charset="-122"/>
                <a:cs typeface="Calibri" pitchFamily="34" charset="-120"/>
              </a:rPr>
              <a:t>/ Commands</a:t>
            </a:r>
            <a:endParaRPr lang="en-US" sz="1000" dirty="0"/>
          </a:p>
        </p:txBody>
      </p:sp>
      <p:sp>
        <p:nvSpPr>
          <p:cNvPr id="28" name="Text 26"/>
          <p:cNvSpPr/>
          <p:nvPr/>
        </p:nvSpPr>
        <p:spPr>
          <a:xfrm>
            <a:off x="11247120" y="6537960"/>
            <a:ext cx="457200" cy="274320"/>
          </a:xfrm>
          <a:prstGeom prst="rect">
            <a:avLst/>
          </a:prstGeom>
          <a:noFill/>
          <a:ln/>
        </p:spPr>
        <p:txBody>
          <a:bodyPr wrap="square" lIns="0" tIns="0" rIns="0" bIns="0" rtlCol="0" anchor="ctr"/>
          <a:lstStyle/>
          <a:p>
            <a:pPr algn="r" indent="0" marL="0">
              <a:buNone/>
            </a:pPr>
            <a:r>
              <a:rPr lang="en-US" sz="1000" dirty="0">
                <a:solidFill>
                  <a:srgbClr val="6B759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777240" cy="777240"/>
          </a:xfrm>
          <a:prstGeom prst="roundRect">
            <a:avLst>
              <a:gd name="adj" fmla="val 18824"/>
            </a:avLst>
          </a:prstGeom>
          <a:solidFill>
            <a:srgbClr val="1E2761"/>
          </a:solidFill>
          <a:ln/>
        </p:spPr>
      </p:sp>
      <p:sp>
        <p:nvSpPr>
          <p:cNvPr id="3" name="Text 1"/>
          <p:cNvSpPr/>
          <p:nvPr/>
        </p:nvSpPr>
        <p:spPr>
          <a:xfrm>
            <a:off x="548640" y="457200"/>
            <a:ext cx="777240" cy="777240"/>
          </a:xfrm>
          <a:prstGeom prst="rect">
            <a:avLst/>
          </a:prstGeom>
          <a:noFill/>
          <a:ln/>
        </p:spPr>
        <p:txBody>
          <a:bodyPr wrap="square" lIns="0" tIns="0" rIns="0" bIns="0" rtlCol="0" anchor="ctr"/>
          <a:lstStyle/>
          <a:p>
            <a:pPr algn="ctr" indent="0" marL="0">
              <a:buNone/>
            </a:pPr>
            <a:r>
              <a:rPr lang="en-US" sz="2200" dirty="0">
                <a:solidFill>
                  <a:srgbClr val="FFFFFF"/>
                </a:solidFill>
                <a:latin typeface="Calibri" pitchFamily="34" charset="0"/>
                <a:ea typeface="Calibri" pitchFamily="34" charset="-122"/>
                <a:cs typeface="Calibri" pitchFamily="34" charset="-120"/>
              </a:rPr>
              <a:t>✦</a:t>
            </a:r>
            <a:endParaRPr lang="en-US" sz="2200" dirty="0"/>
          </a:p>
        </p:txBody>
      </p:sp>
      <p:sp>
        <p:nvSpPr>
          <p:cNvPr id="4" name="Text 2"/>
          <p:cNvSpPr/>
          <p:nvPr/>
        </p:nvSpPr>
        <p:spPr>
          <a:xfrm>
            <a:off x="1463040" y="457200"/>
            <a:ext cx="8229600" cy="411480"/>
          </a:xfrm>
          <a:prstGeom prst="rect">
            <a:avLst/>
          </a:prstGeom>
          <a:noFill/>
          <a:ln/>
        </p:spPr>
        <p:txBody>
          <a:bodyPr wrap="square" lIns="0" tIns="0" rIns="0" bIns="0" rtlCol="0" anchor="ctr"/>
          <a:lstStyle/>
          <a:p>
            <a:pPr indent="0" marL="0">
              <a:buNone/>
            </a:pPr>
            <a:r>
              <a:rPr lang="en-US" sz="1250" b="1" dirty="0">
                <a:solidFill>
                  <a:srgbClr val="6B7590"/>
                </a:solidFill>
                <a:latin typeface="Calibri" pitchFamily="34" charset="0"/>
                <a:ea typeface="Calibri" pitchFamily="34" charset="-122"/>
                <a:cs typeface="Calibri" pitchFamily="34" charset="-120"/>
              </a:rPr>
              <a:t>BUSINESS USE CASE 3</a:t>
            </a:r>
            <a:endParaRPr lang="en-US" sz="1250" dirty="0"/>
          </a:p>
        </p:txBody>
      </p:sp>
      <p:sp>
        <p:nvSpPr>
          <p:cNvPr id="5" name="Text 3"/>
          <p:cNvSpPr/>
          <p:nvPr/>
        </p:nvSpPr>
        <p:spPr>
          <a:xfrm>
            <a:off x="1463040" y="777240"/>
            <a:ext cx="8686800" cy="50292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Marketing Brainstorm — High Creativity</a:t>
            </a:r>
            <a:endParaRPr lang="en-US" sz="2400" dirty="0"/>
          </a:p>
        </p:txBody>
      </p:sp>
      <p:sp>
        <p:nvSpPr>
          <p:cNvPr id="6" name="Text 4"/>
          <p:cNvSpPr/>
          <p:nvPr/>
        </p:nvSpPr>
        <p:spPr>
          <a:xfrm>
            <a:off x="548640" y="1600200"/>
            <a:ext cx="4892040" cy="320040"/>
          </a:xfrm>
          <a:prstGeom prst="rect">
            <a:avLst/>
          </a:prstGeom>
          <a:noFill/>
          <a:ln/>
        </p:spPr>
        <p:txBody>
          <a:bodyPr wrap="square" lIns="0" tIns="0" rIns="0" bIns="0" rtlCol="0" anchor="ctr"/>
          <a:lstStyle/>
          <a:p>
            <a:pPr indent="0" marL="0">
              <a:buNone/>
            </a:pPr>
            <a:r>
              <a:rPr lang="en-US" sz="1100" b="1" spc="100" kern="0" dirty="0">
                <a:solidFill>
                  <a:srgbClr val="1E2761"/>
                </a:solidFill>
                <a:latin typeface="Calibri" pitchFamily="34" charset="0"/>
                <a:ea typeface="Calibri" pitchFamily="34" charset="-122"/>
                <a:cs typeface="Calibri" pitchFamily="34" charset="-120"/>
              </a:rPr>
              <a:t>INTENT &amp; PURPOSE</a:t>
            </a:r>
            <a:endParaRPr lang="en-US" sz="1100" dirty="0"/>
          </a:p>
        </p:txBody>
      </p:sp>
      <p:sp>
        <p:nvSpPr>
          <p:cNvPr id="7" name="Shape 5"/>
          <p:cNvSpPr/>
          <p:nvPr/>
        </p:nvSpPr>
        <p:spPr>
          <a:xfrm>
            <a:off x="548640" y="1965960"/>
            <a:ext cx="4892040" cy="1417320"/>
          </a:xfrm>
          <a:prstGeom prst="roundRect">
            <a:avLst>
              <a:gd name="adj" fmla="val 6452"/>
            </a:avLst>
          </a:prstGeom>
          <a:solidFill>
            <a:srgbClr val="F4F6FC"/>
          </a:solidFill>
          <a:ln/>
        </p:spPr>
      </p:sp>
      <p:sp>
        <p:nvSpPr>
          <p:cNvPr id="8" name="Text 6"/>
          <p:cNvSpPr/>
          <p:nvPr/>
        </p:nvSpPr>
        <p:spPr>
          <a:xfrm>
            <a:off x="777240" y="2103120"/>
            <a:ext cx="4434840" cy="1188720"/>
          </a:xfrm>
          <a:prstGeom prst="rect">
            <a:avLst/>
          </a:prstGeom>
          <a:noFill/>
          <a:ln/>
        </p:spPr>
        <p:txBody>
          <a:bodyPr wrap="square" lIns="0" tIns="0" rIns="0" bIns="0" rtlCol="0" anchor="ctr"/>
          <a:lstStyle/>
          <a:p>
            <a:pPr indent="0" marL="0">
              <a:lnSpc>
                <a:spcPct val="130000"/>
              </a:lnSpc>
              <a:buNone/>
            </a:pPr>
            <a:r>
              <a:rPr lang="en-US" sz="1250" dirty="0">
                <a:solidFill>
                  <a:srgbClr val="1E2761"/>
                </a:solidFill>
                <a:latin typeface="Calibri" pitchFamily="34" charset="0"/>
                <a:ea typeface="Calibri" pitchFamily="34" charset="-122"/>
                <a:cs typeface="Calibri" pitchFamily="34" charset="-120"/>
              </a:rPr>
              <a:t>Exploring fresh campaign angles for a specific target segment — here, young professionals in Singapore. Breadth and originality matter more than certainty at this stage; the goal is options, not a final answer.</a:t>
            </a:r>
            <a:endParaRPr lang="en-US" sz="1250" dirty="0"/>
          </a:p>
        </p:txBody>
      </p:sp>
      <p:sp>
        <p:nvSpPr>
          <p:cNvPr id="9" name="Text 7"/>
          <p:cNvSpPr/>
          <p:nvPr/>
        </p:nvSpPr>
        <p:spPr>
          <a:xfrm>
            <a:off x="548640" y="3566160"/>
            <a:ext cx="4892040" cy="320040"/>
          </a:xfrm>
          <a:prstGeom prst="rect">
            <a:avLst/>
          </a:prstGeom>
          <a:noFill/>
          <a:ln/>
        </p:spPr>
        <p:txBody>
          <a:bodyPr wrap="square" lIns="0" tIns="0" rIns="0" bIns="0" rtlCol="0" anchor="ctr"/>
          <a:lstStyle/>
          <a:p>
            <a:pPr indent="0" marL="0">
              <a:buNone/>
            </a:pPr>
            <a:r>
              <a:rPr lang="en-US" sz="1100" b="1" spc="100" kern="0" dirty="0">
                <a:solidFill>
                  <a:srgbClr val="1E2761"/>
                </a:solidFill>
                <a:latin typeface="Calibri" pitchFamily="34" charset="0"/>
                <a:ea typeface="Calibri" pitchFamily="34" charset="-122"/>
                <a:cs typeface="Calibri" pitchFamily="34" charset="-120"/>
              </a:rPr>
              <a:t>SETTING COMBINATION</a:t>
            </a:r>
            <a:endParaRPr lang="en-US" sz="1100" dirty="0"/>
          </a:p>
        </p:txBody>
      </p:sp>
      <p:sp>
        <p:nvSpPr>
          <p:cNvPr id="10" name="Shape 8"/>
          <p:cNvSpPr/>
          <p:nvPr/>
        </p:nvSpPr>
        <p:spPr>
          <a:xfrm>
            <a:off x="548640" y="3931920"/>
            <a:ext cx="4892040" cy="530352"/>
          </a:xfrm>
          <a:prstGeom prst="roundRect">
            <a:avLst>
              <a:gd name="adj" fmla="val 15517"/>
            </a:avLst>
          </a:prstGeom>
          <a:solidFill>
            <a:srgbClr val="1E2761"/>
          </a:solidFill>
          <a:ln/>
        </p:spPr>
      </p:sp>
      <p:sp>
        <p:nvSpPr>
          <p:cNvPr id="11" name="Text 9"/>
          <p:cNvSpPr/>
          <p:nvPr/>
        </p:nvSpPr>
        <p:spPr>
          <a:xfrm>
            <a:off x="777240" y="3931920"/>
            <a:ext cx="2011680" cy="530352"/>
          </a:xfrm>
          <a:prstGeom prst="rect">
            <a:avLst/>
          </a:prstGeom>
          <a:noFill/>
          <a:ln/>
        </p:spPr>
        <p:txBody>
          <a:bodyPr wrap="square" lIns="0" tIns="0" rIns="0" bIns="0" rtlCol="0" anchor="ctr"/>
          <a:lstStyle/>
          <a:p>
            <a:pPr algn="l" indent="0" marL="0">
              <a:buNone/>
            </a:pPr>
            <a:r>
              <a:rPr lang="en-US" sz="1300" b="1" dirty="0">
                <a:solidFill>
                  <a:srgbClr val="CADCFC"/>
                </a:solidFill>
                <a:latin typeface="Courier New" pitchFamily="34" charset="0"/>
                <a:ea typeface="Courier New" pitchFamily="34" charset="-122"/>
                <a:cs typeface="Courier New" pitchFamily="34" charset="-120"/>
              </a:rPr>
              <a:t>/tone simple</a:t>
            </a:r>
            <a:endParaRPr lang="en-US" sz="1300" dirty="0"/>
          </a:p>
        </p:txBody>
      </p:sp>
      <p:sp>
        <p:nvSpPr>
          <p:cNvPr id="12" name="Text 10"/>
          <p:cNvSpPr/>
          <p:nvPr/>
        </p:nvSpPr>
        <p:spPr>
          <a:xfrm>
            <a:off x="2743200" y="3931920"/>
            <a:ext cx="2514600" cy="530352"/>
          </a:xfrm>
          <a:prstGeom prst="rect">
            <a:avLst/>
          </a:prstGeom>
          <a:noFill/>
          <a:ln/>
        </p:spPr>
        <p:txBody>
          <a:bodyPr wrap="square" lIns="0" tIns="0" rIns="0" bIns="0" rtlCol="0" anchor="ctr"/>
          <a:lstStyle/>
          <a:p>
            <a:pPr algn="l" indent="0" marL="0">
              <a:lnSpc>
                <a:spcPct val="110000"/>
              </a:lnSpc>
              <a:buNone/>
            </a:pPr>
            <a:r>
              <a:rPr lang="en-US" sz="1050" dirty="0">
                <a:solidFill>
                  <a:srgbClr val="C7CEEE"/>
                </a:solidFill>
                <a:latin typeface="Calibri" pitchFamily="34" charset="0"/>
                <a:ea typeface="Calibri" pitchFamily="34" charset="-122"/>
                <a:cs typeface="Calibri" pitchFamily="34" charset="-120"/>
              </a:rPr>
              <a:t>clear, easy-to-scan ideas</a:t>
            </a:r>
            <a:endParaRPr lang="en-US" sz="1050" dirty="0"/>
          </a:p>
        </p:txBody>
      </p:sp>
      <p:sp>
        <p:nvSpPr>
          <p:cNvPr id="13" name="Shape 11"/>
          <p:cNvSpPr/>
          <p:nvPr/>
        </p:nvSpPr>
        <p:spPr>
          <a:xfrm>
            <a:off x="548640" y="4590288"/>
            <a:ext cx="4892040" cy="530352"/>
          </a:xfrm>
          <a:prstGeom prst="roundRect">
            <a:avLst>
              <a:gd name="adj" fmla="val 15517"/>
            </a:avLst>
          </a:prstGeom>
          <a:solidFill>
            <a:srgbClr val="1E2761"/>
          </a:solidFill>
          <a:ln/>
        </p:spPr>
      </p:sp>
      <p:sp>
        <p:nvSpPr>
          <p:cNvPr id="14" name="Text 12"/>
          <p:cNvSpPr/>
          <p:nvPr/>
        </p:nvSpPr>
        <p:spPr>
          <a:xfrm>
            <a:off x="777240" y="4590288"/>
            <a:ext cx="2011680" cy="530352"/>
          </a:xfrm>
          <a:prstGeom prst="rect">
            <a:avLst/>
          </a:prstGeom>
          <a:noFill/>
          <a:ln/>
        </p:spPr>
        <p:txBody>
          <a:bodyPr wrap="square" lIns="0" tIns="0" rIns="0" bIns="0" rtlCol="0" anchor="ctr"/>
          <a:lstStyle/>
          <a:p>
            <a:pPr algn="l" indent="0" marL="0">
              <a:buNone/>
            </a:pPr>
            <a:r>
              <a:rPr lang="en-US" sz="1300" b="1" dirty="0">
                <a:solidFill>
                  <a:srgbClr val="CADCFC"/>
                </a:solidFill>
                <a:latin typeface="Courier New" pitchFamily="34" charset="0"/>
                <a:ea typeface="Courier New" pitchFamily="34" charset="-122"/>
                <a:cs typeface="Courier New" pitchFamily="34" charset="-120"/>
              </a:rPr>
              <a:t>/instant off</a:t>
            </a:r>
            <a:endParaRPr lang="en-US" sz="1300" dirty="0"/>
          </a:p>
        </p:txBody>
      </p:sp>
      <p:sp>
        <p:nvSpPr>
          <p:cNvPr id="15" name="Text 13"/>
          <p:cNvSpPr/>
          <p:nvPr/>
        </p:nvSpPr>
        <p:spPr>
          <a:xfrm>
            <a:off x="2743200" y="4590288"/>
            <a:ext cx="2514600" cy="530352"/>
          </a:xfrm>
          <a:prstGeom prst="rect">
            <a:avLst/>
          </a:prstGeom>
          <a:noFill/>
          <a:ln/>
        </p:spPr>
        <p:txBody>
          <a:bodyPr wrap="square" lIns="0" tIns="0" rIns="0" bIns="0" rtlCol="0" anchor="ctr"/>
          <a:lstStyle/>
          <a:p>
            <a:pPr algn="l" indent="0" marL="0">
              <a:lnSpc>
                <a:spcPct val="110000"/>
              </a:lnSpc>
              <a:buNone/>
            </a:pPr>
            <a:r>
              <a:rPr lang="en-US" sz="1050" dirty="0">
                <a:solidFill>
                  <a:srgbClr val="C7CEEE"/>
                </a:solidFill>
                <a:latin typeface="Calibri" pitchFamily="34" charset="0"/>
                <a:ea typeface="Calibri" pitchFamily="34" charset="-122"/>
                <a:cs typeface="Calibri" pitchFamily="34" charset="-120"/>
              </a:rPr>
              <a:t>room to explore more directions</a:t>
            </a:r>
            <a:endParaRPr lang="en-US" sz="1050" dirty="0"/>
          </a:p>
        </p:txBody>
      </p:sp>
      <p:sp>
        <p:nvSpPr>
          <p:cNvPr id="16" name="Shape 14"/>
          <p:cNvSpPr/>
          <p:nvPr/>
        </p:nvSpPr>
        <p:spPr>
          <a:xfrm>
            <a:off x="548640" y="5248656"/>
            <a:ext cx="4892040" cy="530352"/>
          </a:xfrm>
          <a:prstGeom prst="roundRect">
            <a:avLst>
              <a:gd name="adj" fmla="val 15517"/>
            </a:avLst>
          </a:prstGeom>
          <a:solidFill>
            <a:srgbClr val="1E2761"/>
          </a:solidFill>
          <a:ln/>
        </p:spPr>
      </p:sp>
      <p:sp>
        <p:nvSpPr>
          <p:cNvPr id="17" name="Text 15"/>
          <p:cNvSpPr/>
          <p:nvPr/>
        </p:nvSpPr>
        <p:spPr>
          <a:xfrm>
            <a:off x="777240" y="5248656"/>
            <a:ext cx="2011680" cy="530352"/>
          </a:xfrm>
          <a:prstGeom prst="rect">
            <a:avLst/>
          </a:prstGeom>
          <a:noFill/>
          <a:ln/>
        </p:spPr>
        <p:txBody>
          <a:bodyPr wrap="square" lIns="0" tIns="0" rIns="0" bIns="0" rtlCol="0" anchor="ctr"/>
          <a:lstStyle/>
          <a:p>
            <a:pPr algn="l" indent="0" marL="0">
              <a:buNone/>
            </a:pPr>
            <a:r>
              <a:rPr lang="en-US" sz="1300" b="1" dirty="0">
                <a:solidFill>
                  <a:srgbClr val="CADCFC"/>
                </a:solidFill>
                <a:latin typeface="Courier New" pitchFamily="34" charset="0"/>
                <a:ea typeface="Courier New" pitchFamily="34" charset="-122"/>
                <a:cs typeface="Courier New" pitchFamily="34" charset="-120"/>
              </a:rPr>
              <a:t>/creativity high</a:t>
            </a:r>
            <a:endParaRPr lang="en-US" sz="1300" dirty="0"/>
          </a:p>
        </p:txBody>
      </p:sp>
      <p:sp>
        <p:nvSpPr>
          <p:cNvPr id="18" name="Text 16"/>
          <p:cNvSpPr/>
          <p:nvPr/>
        </p:nvSpPr>
        <p:spPr>
          <a:xfrm>
            <a:off x="2743200" y="5248656"/>
            <a:ext cx="2514600" cy="530352"/>
          </a:xfrm>
          <a:prstGeom prst="rect">
            <a:avLst/>
          </a:prstGeom>
          <a:noFill/>
          <a:ln/>
        </p:spPr>
        <p:txBody>
          <a:bodyPr wrap="square" lIns="0" tIns="0" rIns="0" bIns="0" rtlCol="0" anchor="ctr"/>
          <a:lstStyle/>
          <a:p>
            <a:pPr algn="l" indent="0" marL="0">
              <a:lnSpc>
                <a:spcPct val="110000"/>
              </a:lnSpc>
              <a:buNone/>
            </a:pPr>
            <a:r>
              <a:rPr lang="en-US" sz="1050" dirty="0">
                <a:solidFill>
                  <a:srgbClr val="C7CEEE"/>
                </a:solidFill>
                <a:latin typeface="Calibri" pitchFamily="34" charset="0"/>
                <a:ea typeface="Calibri" pitchFamily="34" charset="-122"/>
                <a:cs typeface="Calibri" pitchFamily="34" charset="-120"/>
              </a:rPr>
              <a:t>exploratory, original thinking</a:t>
            </a:r>
            <a:endParaRPr lang="en-US" sz="1050" dirty="0"/>
          </a:p>
        </p:txBody>
      </p:sp>
      <p:sp>
        <p:nvSpPr>
          <p:cNvPr id="19" name="Shape 17"/>
          <p:cNvSpPr/>
          <p:nvPr/>
        </p:nvSpPr>
        <p:spPr>
          <a:xfrm>
            <a:off x="5760720" y="1600200"/>
            <a:ext cx="5852160" cy="4617720"/>
          </a:xfrm>
          <a:prstGeom prst="roundRect">
            <a:avLst>
              <a:gd name="adj" fmla="val 2376"/>
            </a:avLst>
          </a:prstGeom>
          <a:solidFill>
            <a:srgbClr val="FFFFFF"/>
          </a:solidFill>
          <a:ln w="15875">
            <a:solidFill>
              <a:srgbClr val="E4E8F5"/>
            </a:solidFill>
            <a:prstDash val="solid"/>
          </a:ln>
          <a:effectLst>
            <a:outerShdw sx="100000" sy="100000" kx="0" ky="0" algn="bl" rotWithShape="0" blurRad="127000" dist="38100" dir="5400000">
              <a:srgbClr val="1E2761">
                <a:alpha val="12000"/>
              </a:srgbClr>
            </a:outerShdw>
          </a:effectLst>
        </p:spPr>
      </p:sp>
      <p:sp>
        <p:nvSpPr>
          <p:cNvPr id="20" name="Shape 18"/>
          <p:cNvSpPr/>
          <p:nvPr/>
        </p:nvSpPr>
        <p:spPr>
          <a:xfrm>
            <a:off x="5760720" y="1600200"/>
            <a:ext cx="5852160" cy="777240"/>
          </a:xfrm>
          <a:prstGeom prst="roundRect">
            <a:avLst>
              <a:gd name="adj" fmla="val 14118"/>
            </a:avLst>
          </a:prstGeom>
          <a:solidFill>
            <a:srgbClr val="F4F6FC"/>
          </a:solidFill>
          <a:ln/>
        </p:spPr>
      </p:sp>
      <p:sp>
        <p:nvSpPr>
          <p:cNvPr id="21" name="Shape 19"/>
          <p:cNvSpPr/>
          <p:nvPr/>
        </p:nvSpPr>
        <p:spPr>
          <a:xfrm>
            <a:off x="5760720" y="1984248"/>
            <a:ext cx="5852160" cy="393192"/>
          </a:xfrm>
          <a:prstGeom prst="rect">
            <a:avLst/>
          </a:prstGeom>
          <a:solidFill>
            <a:srgbClr val="F4F6FC"/>
          </a:solidFill>
          <a:ln/>
        </p:spPr>
      </p:sp>
      <p:sp>
        <p:nvSpPr>
          <p:cNvPr id="22" name="Text 20"/>
          <p:cNvSpPr/>
          <p:nvPr/>
        </p:nvSpPr>
        <p:spPr>
          <a:xfrm>
            <a:off x="6035040" y="1691640"/>
            <a:ext cx="548640" cy="274320"/>
          </a:xfrm>
          <a:prstGeom prst="rect">
            <a:avLst/>
          </a:prstGeom>
          <a:noFill/>
          <a:ln/>
        </p:spPr>
        <p:txBody>
          <a:bodyPr wrap="square" lIns="0" tIns="0" rIns="0" bIns="0" rtlCol="0" anchor="ctr"/>
          <a:lstStyle/>
          <a:p>
            <a:pPr indent="0" marL="0">
              <a:buNone/>
            </a:pPr>
            <a:r>
              <a:rPr lang="en-US" sz="1050" b="1" dirty="0">
                <a:solidFill>
                  <a:srgbClr val="6B7590"/>
                </a:solidFill>
                <a:latin typeface="Calibri" pitchFamily="34" charset="0"/>
                <a:ea typeface="Calibri" pitchFamily="34" charset="-122"/>
                <a:cs typeface="Calibri" pitchFamily="34" charset="-120"/>
              </a:rPr>
              <a:t>To:</a:t>
            </a:r>
            <a:endParaRPr lang="en-US" sz="1050" dirty="0"/>
          </a:p>
        </p:txBody>
      </p:sp>
      <p:sp>
        <p:nvSpPr>
          <p:cNvPr id="23" name="Text 21"/>
          <p:cNvSpPr/>
          <p:nvPr/>
        </p:nvSpPr>
        <p:spPr>
          <a:xfrm>
            <a:off x="6537960" y="1691640"/>
            <a:ext cx="4846320" cy="274320"/>
          </a:xfrm>
          <a:prstGeom prst="rect">
            <a:avLst/>
          </a:prstGeom>
          <a:noFill/>
          <a:ln/>
        </p:spPr>
        <p:txBody>
          <a:bodyPr wrap="square" lIns="0" tIns="0" rIns="0" bIns="0" rtlCol="0" anchor="ctr"/>
          <a:lstStyle/>
          <a:p>
            <a:pPr indent="0" marL="0">
              <a:buNone/>
            </a:pPr>
            <a:r>
              <a:rPr lang="en-US" sz="1050" dirty="0">
                <a:solidFill>
                  <a:srgbClr val="1E2761"/>
                </a:solidFill>
                <a:latin typeface="Calibri" pitchFamily="34" charset="0"/>
                <a:ea typeface="Calibri" pitchFamily="34" charset="-122"/>
                <a:cs typeface="Calibri" pitchFamily="34" charset="-120"/>
              </a:rPr>
              <a:t>regional.marketing@brightwave.com.sg</a:t>
            </a:r>
            <a:endParaRPr lang="en-US" sz="1050" dirty="0"/>
          </a:p>
        </p:txBody>
      </p:sp>
      <p:sp>
        <p:nvSpPr>
          <p:cNvPr id="24" name="Text 22"/>
          <p:cNvSpPr/>
          <p:nvPr/>
        </p:nvSpPr>
        <p:spPr>
          <a:xfrm>
            <a:off x="6035040" y="2011680"/>
            <a:ext cx="822960" cy="274320"/>
          </a:xfrm>
          <a:prstGeom prst="rect">
            <a:avLst/>
          </a:prstGeom>
          <a:noFill/>
          <a:ln/>
        </p:spPr>
        <p:txBody>
          <a:bodyPr wrap="square" lIns="0" tIns="0" rIns="0" bIns="0" rtlCol="0" anchor="ctr"/>
          <a:lstStyle/>
          <a:p>
            <a:pPr indent="0" marL="0">
              <a:buNone/>
            </a:pPr>
            <a:r>
              <a:rPr lang="en-US" sz="1050" b="1" dirty="0">
                <a:solidFill>
                  <a:srgbClr val="6B7590"/>
                </a:solidFill>
                <a:latin typeface="Calibri" pitchFamily="34" charset="0"/>
                <a:ea typeface="Calibri" pitchFamily="34" charset="-122"/>
                <a:cs typeface="Calibri" pitchFamily="34" charset="-120"/>
              </a:rPr>
              <a:t>Subject:</a:t>
            </a:r>
            <a:endParaRPr lang="en-US" sz="1050" dirty="0"/>
          </a:p>
        </p:txBody>
      </p:sp>
      <p:sp>
        <p:nvSpPr>
          <p:cNvPr id="25" name="Text 23"/>
          <p:cNvSpPr/>
          <p:nvPr/>
        </p:nvSpPr>
        <p:spPr>
          <a:xfrm>
            <a:off x="6812280" y="2011680"/>
            <a:ext cx="4572000" cy="27432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Re: Campaign Ideas — Young Professionals in Singapore</a:t>
            </a:r>
            <a:endParaRPr lang="en-US" sz="1050" dirty="0"/>
          </a:p>
        </p:txBody>
      </p:sp>
      <p:sp>
        <p:nvSpPr>
          <p:cNvPr id="26" name="Text 24"/>
          <p:cNvSpPr/>
          <p:nvPr/>
        </p:nvSpPr>
        <p:spPr>
          <a:xfrm>
            <a:off x="6080760" y="2606040"/>
            <a:ext cx="5212080" cy="3429000"/>
          </a:xfrm>
          <a:prstGeom prst="rect">
            <a:avLst/>
          </a:prstGeom>
          <a:noFill/>
          <a:ln/>
        </p:spPr>
        <p:txBody>
          <a:bodyPr wrap="square" lIns="0" tIns="0" rIns="0" bIns="0" rtlCol="0" anchor="t"/>
          <a:lstStyle/>
          <a:p>
            <a:pPr indent="0" marL="0">
              <a:lnSpc>
                <a:spcPct val="135000"/>
              </a:lnSpc>
              <a:buNone/>
            </a:pPr>
            <a:r>
              <a:rPr lang="en-US" sz="1250" dirty="0">
                <a:solidFill>
                  <a:srgbClr val="1E2761"/>
                </a:solidFill>
                <a:latin typeface="Calibri" pitchFamily="34" charset="0"/>
                <a:ea typeface="Calibri" pitchFamily="34" charset="-122"/>
                <a:cs typeface="Calibri" pitchFamily="34" charset="-120"/>
              </a:rPr>
              <a:t>Hi team,</a:t>
            </a:r>
            <a:endParaRPr lang="en-US" sz="1250" dirty="0"/>
          </a:p>
          <a:p>
            <a:pPr indent="0" marL="0">
              <a:lnSpc>
                <a:spcPct val="135000"/>
              </a:lnSpc>
              <a:buNone/>
            </a:pPr>
            <a:endParaRPr lang="en-US" sz="1250" dirty="0"/>
          </a:p>
          <a:p>
            <a:pPr indent="0" marL="0">
              <a:lnSpc>
                <a:spcPct val="135000"/>
              </a:lnSpc>
              <a:buNone/>
            </a:pPr>
            <a:r>
              <a:rPr lang="en-US" sz="1250" dirty="0">
                <a:solidFill>
                  <a:srgbClr val="1E2761"/>
                </a:solidFill>
                <a:latin typeface="Calibri" pitchFamily="34" charset="0"/>
                <a:ea typeface="Calibri" pitchFamily="34" charset="-122"/>
                <a:cs typeface="Calibri" pitchFamily="34" charset="-120"/>
              </a:rPr>
              <a:t>Here are a few directions we could explore for the young-professionals segment: a lunchtime webinar series near the CBD, a financial-wellness pop-up with co-working spaces, or a short video series featuring real client stories.</a:t>
            </a:r>
            <a:endParaRPr lang="en-US" sz="1250" dirty="0"/>
          </a:p>
          <a:p>
            <a:pPr indent="0" marL="0">
              <a:lnSpc>
                <a:spcPct val="135000"/>
              </a:lnSpc>
              <a:buNone/>
            </a:pPr>
            <a:endParaRPr lang="en-US" sz="1250" dirty="0"/>
          </a:p>
          <a:p>
            <a:pPr indent="0" marL="0">
              <a:lnSpc>
                <a:spcPct val="135000"/>
              </a:lnSpc>
              <a:buNone/>
            </a:pPr>
            <a:r>
              <a:rPr lang="en-US" sz="1250" dirty="0">
                <a:solidFill>
                  <a:srgbClr val="1E2761"/>
                </a:solidFill>
                <a:latin typeface="Calibri" pitchFamily="34" charset="0"/>
                <a:ea typeface="Calibri" pitchFamily="34" charset="-122"/>
                <a:cs typeface="Calibri" pitchFamily="34" charset="-120"/>
              </a:rPr>
              <a:t>Happy to explore further — let's shortlist two to prototype this month.</a:t>
            </a:r>
            <a:endParaRPr lang="en-US" sz="1250" dirty="0"/>
          </a:p>
          <a:p>
            <a:pPr indent="0" marL="0">
              <a:lnSpc>
                <a:spcPct val="135000"/>
              </a:lnSpc>
              <a:buNone/>
            </a:pPr>
            <a:endParaRPr lang="en-US" sz="1250" dirty="0"/>
          </a:p>
          <a:p>
            <a:pPr indent="0" marL="0">
              <a:lnSpc>
                <a:spcPct val="135000"/>
              </a:lnSpc>
              <a:buNone/>
            </a:pPr>
            <a:r>
              <a:rPr lang="en-US" sz="1250" dirty="0">
                <a:solidFill>
                  <a:srgbClr val="1E2761"/>
                </a:solidFill>
                <a:latin typeface="Calibri" pitchFamily="34" charset="0"/>
                <a:ea typeface="Calibri" pitchFamily="34" charset="-122"/>
                <a:cs typeface="Calibri" pitchFamily="34" charset="-120"/>
              </a:rPr>
              <a:t>Jordan</a:t>
            </a:r>
            <a:endParaRPr lang="en-US" sz="1250" dirty="0"/>
          </a:p>
        </p:txBody>
      </p:sp>
      <p:sp>
        <p:nvSpPr>
          <p:cNvPr id="27" name="Text 25"/>
          <p:cNvSpPr/>
          <p:nvPr/>
        </p:nvSpPr>
        <p:spPr>
          <a:xfrm>
            <a:off x="457200" y="6537960"/>
            <a:ext cx="3657600" cy="274320"/>
          </a:xfrm>
          <a:prstGeom prst="rect">
            <a:avLst/>
          </a:prstGeom>
          <a:noFill/>
          <a:ln/>
        </p:spPr>
        <p:txBody>
          <a:bodyPr wrap="square" lIns="0" tIns="0" rIns="0" bIns="0" rtlCol="0" anchor="ctr"/>
          <a:lstStyle/>
          <a:p>
            <a:pPr algn="l" indent="0" marL="0">
              <a:buNone/>
            </a:pPr>
            <a:r>
              <a:rPr lang="en-US" sz="1000" dirty="0">
                <a:solidFill>
                  <a:srgbClr val="6B7590"/>
                </a:solidFill>
                <a:latin typeface="Calibri" pitchFamily="34" charset="0"/>
                <a:ea typeface="Calibri" pitchFamily="34" charset="-122"/>
                <a:cs typeface="Calibri" pitchFamily="34" charset="-120"/>
              </a:rPr>
              <a:t>/ Commands</a:t>
            </a:r>
            <a:endParaRPr lang="en-US" sz="1000" dirty="0"/>
          </a:p>
        </p:txBody>
      </p:sp>
      <p:sp>
        <p:nvSpPr>
          <p:cNvPr id="28" name="Text 26"/>
          <p:cNvSpPr/>
          <p:nvPr/>
        </p:nvSpPr>
        <p:spPr>
          <a:xfrm>
            <a:off x="11247120" y="6537960"/>
            <a:ext cx="457200" cy="274320"/>
          </a:xfrm>
          <a:prstGeom prst="rect">
            <a:avLst/>
          </a:prstGeom>
          <a:noFill/>
          <a:ln/>
        </p:spPr>
        <p:txBody>
          <a:bodyPr wrap="square" lIns="0" tIns="0" rIns="0" bIns="0" rtlCol="0" anchor="ctr"/>
          <a:lstStyle/>
          <a:p>
            <a:pPr algn="r" indent="0" marL="0">
              <a:buNone/>
            </a:pPr>
            <a:r>
              <a:rPr lang="en-US" sz="1000" dirty="0">
                <a:solidFill>
                  <a:srgbClr val="6B759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Why This Enhancement Delivers Value</a:t>
            </a:r>
            <a:endParaRPr lang="en-US" sz="3000" dirty="0"/>
          </a:p>
        </p:txBody>
      </p:sp>
      <p:sp>
        <p:nvSpPr>
          <p:cNvPr id="3" name="Shape 1"/>
          <p:cNvSpPr/>
          <p:nvPr/>
        </p:nvSpPr>
        <p:spPr>
          <a:xfrm>
            <a:off x="548640" y="1371600"/>
            <a:ext cx="5349240" cy="2148840"/>
          </a:xfrm>
          <a:prstGeom prst="roundRect">
            <a:avLst>
              <a:gd name="adj" fmla="val 5106"/>
            </a:avLst>
          </a:prstGeom>
          <a:solidFill>
            <a:srgbClr val="F4F6FC"/>
          </a:solidFill>
          <a:ln/>
        </p:spPr>
      </p:sp>
      <p:sp>
        <p:nvSpPr>
          <p:cNvPr id="4" name="Shape 2"/>
          <p:cNvSpPr/>
          <p:nvPr/>
        </p:nvSpPr>
        <p:spPr>
          <a:xfrm>
            <a:off x="822960" y="1645920"/>
            <a:ext cx="457200" cy="457200"/>
          </a:xfrm>
          <a:prstGeom prst="ellipse">
            <a:avLst/>
          </a:prstGeom>
          <a:solidFill>
            <a:srgbClr val="1E2761"/>
          </a:solidFill>
          <a:ln/>
        </p:spPr>
      </p:sp>
      <p:sp>
        <p:nvSpPr>
          <p:cNvPr id="5" name="Text 3"/>
          <p:cNvSpPr/>
          <p:nvPr/>
        </p:nvSpPr>
        <p:spPr>
          <a:xfrm>
            <a:off x="822960" y="1645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6" name="Text 4"/>
          <p:cNvSpPr/>
          <p:nvPr/>
        </p:nvSpPr>
        <p:spPr>
          <a:xfrm>
            <a:off x="1463040" y="1627632"/>
            <a:ext cx="4160520" cy="45720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Faster time-to-value</a:t>
            </a:r>
            <a:endParaRPr lang="en-US" sz="1600" dirty="0"/>
          </a:p>
        </p:txBody>
      </p:sp>
      <p:sp>
        <p:nvSpPr>
          <p:cNvPr id="7" name="Text 5"/>
          <p:cNvSpPr/>
          <p:nvPr/>
        </p:nvSpPr>
        <p:spPr>
          <a:xfrm>
            <a:off x="822960" y="2286000"/>
            <a:ext cx="4800600" cy="1097280"/>
          </a:xfrm>
          <a:prstGeom prst="rect">
            <a:avLst/>
          </a:prstGeom>
          <a:noFill/>
          <a:ln/>
        </p:spPr>
        <p:txBody>
          <a:bodyPr wrap="square" lIns="0" tIns="0" rIns="0" bIns="0" rtlCol="0" anchor="ctr"/>
          <a:lstStyle/>
          <a:p>
            <a:pPr indent="0" marL="0">
              <a:lnSpc>
                <a:spcPct val="125000"/>
              </a:lnSpc>
              <a:buNone/>
            </a:pPr>
            <a:r>
              <a:rPr lang="en-US" sz="1250" dirty="0">
                <a:solidFill>
                  <a:srgbClr val="6B7590"/>
                </a:solidFill>
                <a:latin typeface="Calibri" pitchFamily="34" charset="0"/>
                <a:ea typeface="Calibri" pitchFamily="34" charset="-122"/>
                <a:cs typeface="Calibri" pitchFamily="34" charset="-120"/>
              </a:rPr>
              <a:t>No onboarding flow or settings tour needed — the command is self-explanatory for every team.</a:t>
            </a:r>
            <a:endParaRPr lang="en-US" sz="1250" dirty="0"/>
          </a:p>
        </p:txBody>
      </p:sp>
      <p:sp>
        <p:nvSpPr>
          <p:cNvPr id="8" name="Shape 6"/>
          <p:cNvSpPr/>
          <p:nvPr/>
        </p:nvSpPr>
        <p:spPr>
          <a:xfrm>
            <a:off x="6263640" y="1371600"/>
            <a:ext cx="5349240" cy="2148840"/>
          </a:xfrm>
          <a:prstGeom prst="roundRect">
            <a:avLst>
              <a:gd name="adj" fmla="val 5106"/>
            </a:avLst>
          </a:prstGeom>
          <a:solidFill>
            <a:srgbClr val="F4F6FC"/>
          </a:solidFill>
          <a:ln/>
        </p:spPr>
      </p:sp>
      <p:sp>
        <p:nvSpPr>
          <p:cNvPr id="9" name="Shape 7"/>
          <p:cNvSpPr/>
          <p:nvPr/>
        </p:nvSpPr>
        <p:spPr>
          <a:xfrm>
            <a:off x="6537960" y="1645920"/>
            <a:ext cx="457200" cy="457200"/>
          </a:xfrm>
          <a:prstGeom prst="ellipse">
            <a:avLst/>
          </a:prstGeom>
          <a:solidFill>
            <a:srgbClr val="1E2761"/>
          </a:solidFill>
          <a:ln/>
        </p:spPr>
      </p:sp>
      <p:sp>
        <p:nvSpPr>
          <p:cNvPr id="10" name="Text 8"/>
          <p:cNvSpPr/>
          <p:nvPr/>
        </p:nvSpPr>
        <p:spPr>
          <a:xfrm>
            <a:off x="6537960" y="1645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1" name="Text 9"/>
          <p:cNvSpPr/>
          <p:nvPr/>
        </p:nvSpPr>
        <p:spPr>
          <a:xfrm>
            <a:off x="7178040" y="1627632"/>
            <a:ext cx="4160520" cy="45720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Higher engagement</a:t>
            </a:r>
            <a:endParaRPr lang="en-US" sz="1600" dirty="0"/>
          </a:p>
        </p:txBody>
      </p:sp>
      <p:sp>
        <p:nvSpPr>
          <p:cNvPr id="12" name="Text 10"/>
          <p:cNvSpPr/>
          <p:nvPr/>
        </p:nvSpPr>
        <p:spPr>
          <a:xfrm>
            <a:off x="6537960" y="2286000"/>
            <a:ext cx="4800600" cy="1097280"/>
          </a:xfrm>
          <a:prstGeom prst="rect">
            <a:avLst/>
          </a:prstGeom>
          <a:noFill/>
          <a:ln/>
        </p:spPr>
        <p:txBody>
          <a:bodyPr wrap="square" lIns="0" tIns="0" rIns="0" bIns="0" rtlCol="0" anchor="ctr"/>
          <a:lstStyle/>
          <a:p>
            <a:pPr indent="0" marL="0">
              <a:lnSpc>
                <a:spcPct val="125000"/>
              </a:lnSpc>
              <a:buNone/>
            </a:pPr>
            <a:r>
              <a:rPr lang="en-US" sz="1250" dirty="0">
                <a:solidFill>
                  <a:srgbClr val="6B7590"/>
                </a:solidFill>
                <a:latin typeface="Calibri" pitchFamily="34" charset="0"/>
                <a:ea typeface="Calibri" pitchFamily="34" charset="-122"/>
                <a:cs typeface="Calibri" pitchFamily="34" charset="-120"/>
              </a:rPr>
              <a:t>In-context control keeps users personalising instead of abandoning the conversation.</a:t>
            </a:r>
            <a:endParaRPr lang="en-US" sz="1250" dirty="0"/>
          </a:p>
        </p:txBody>
      </p:sp>
      <p:sp>
        <p:nvSpPr>
          <p:cNvPr id="13" name="Shape 11"/>
          <p:cNvSpPr/>
          <p:nvPr/>
        </p:nvSpPr>
        <p:spPr>
          <a:xfrm>
            <a:off x="548640" y="3840480"/>
            <a:ext cx="5349240" cy="2148840"/>
          </a:xfrm>
          <a:prstGeom prst="roundRect">
            <a:avLst>
              <a:gd name="adj" fmla="val 5106"/>
            </a:avLst>
          </a:prstGeom>
          <a:solidFill>
            <a:srgbClr val="F4F6FC"/>
          </a:solidFill>
          <a:ln/>
        </p:spPr>
      </p:sp>
      <p:sp>
        <p:nvSpPr>
          <p:cNvPr id="14" name="Shape 12"/>
          <p:cNvSpPr/>
          <p:nvPr/>
        </p:nvSpPr>
        <p:spPr>
          <a:xfrm>
            <a:off x="822960" y="4114800"/>
            <a:ext cx="457200" cy="457200"/>
          </a:xfrm>
          <a:prstGeom prst="ellipse">
            <a:avLst/>
          </a:prstGeom>
          <a:solidFill>
            <a:srgbClr val="1E2761"/>
          </a:solidFill>
          <a:ln/>
        </p:spPr>
      </p:sp>
      <p:sp>
        <p:nvSpPr>
          <p:cNvPr id="15" name="Text 13"/>
          <p:cNvSpPr/>
          <p:nvPr/>
        </p:nvSpPr>
        <p:spPr>
          <a:xfrm>
            <a:off x="822960" y="4114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6" name="Text 14"/>
          <p:cNvSpPr/>
          <p:nvPr/>
        </p:nvSpPr>
        <p:spPr>
          <a:xfrm>
            <a:off x="1463040" y="4096512"/>
            <a:ext cx="4160520" cy="45720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Fits every use case</a:t>
            </a:r>
            <a:endParaRPr lang="en-US" sz="1600" dirty="0"/>
          </a:p>
        </p:txBody>
      </p:sp>
      <p:sp>
        <p:nvSpPr>
          <p:cNvPr id="17" name="Text 15"/>
          <p:cNvSpPr/>
          <p:nvPr/>
        </p:nvSpPr>
        <p:spPr>
          <a:xfrm>
            <a:off x="822960" y="4754880"/>
            <a:ext cx="4800600" cy="1097280"/>
          </a:xfrm>
          <a:prstGeom prst="rect">
            <a:avLst/>
          </a:prstGeom>
          <a:noFill/>
          <a:ln/>
        </p:spPr>
        <p:txBody>
          <a:bodyPr wrap="square" lIns="0" tIns="0" rIns="0" bIns="0" rtlCol="0" anchor="ctr"/>
          <a:lstStyle/>
          <a:p>
            <a:pPr indent="0" marL="0">
              <a:lnSpc>
                <a:spcPct val="125000"/>
              </a:lnSpc>
              <a:buNone/>
            </a:pPr>
            <a:r>
              <a:rPr lang="en-US" sz="1250" dirty="0">
                <a:solidFill>
                  <a:srgbClr val="6B7590"/>
                </a:solidFill>
                <a:latin typeface="Calibri" pitchFamily="34" charset="0"/>
                <a:ea typeface="Calibri" pitchFamily="34" charset="-122"/>
                <a:cs typeface="Calibri" pitchFamily="34" charset="-120"/>
              </a:rPr>
              <a:t>Client-facing, internal, and relationship-driven conversations each get a tuned experience from the same platform.</a:t>
            </a:r>
            <a:endParaRPr lang="en-US" sz="1250" dirty="0"/>
          </a:p>
        </p:txBody>
      </p:sp>
      <p:sp>
        <p:nvSpPr>
          <p:cNvPr id="18" name="Shape 16"/>
          <p:cNvSpPr/>
          <p:nvPr/>
        </p:nvSpPr>
        <p:spPr>
          <a:xfrm>
            <a:off x="6263640" y="3840480"/>
            <a:ext cx="5349240" cy="2148840"/>
          </a:xfrm>
          <a:prstGeom prst="roundRect">
            <a:avLst>
              <a:gd name="adj" fmla="val 5106"/>
            </a:avLst>
          </a:prstGeom>
          <a:solidFill>
            <a:srgbClr val="F4F6FC"/>
          </a:solidFill>
          <a:ln/>
        </p:spPr>
      </p:sp>
      <p:sp>
        <p:nvSpPr>
          <p:cNvPr id="19" name="Shape 17"/>
          <p:cNvSpPr/>
          <p:nvPr/>
        </p:nvSpPr>
        <p:spPr>
          <a:xfrm>
            <a:off x="6537960" y="4114800"/>
            <a:ext cx="457200" cy="457200"/>
          </a:xfrm>
          <a:prstGeom prst="ellipse">
            <a:avLst/>
          </a:prstGeom>
          <a:solidFill>
            <a:srgbClr val="1E2761"/>
          </a:solidFill>
          <a:ln/>
        </p:spPr>
      </p:sp>
      <p:sp>
        <p:nvSpPr>
          <p:cNvPr id="20" name="Text 18"/>
          <p:cNvSpPr/>
          <p:nvPr/>
        </p:nvSpPr>
        <p:spPr>
          <a:xfrm>
            <a:off x="6537960" y="4114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1" name="Text 19"/>
          <p:cNvSpPr/>
          <p:nvPr/>
        </p:nvSpPr>
        <p:spPr>
          <a:xfrm>
            <a:off x="7178040" y="4096512"/>
            <a:ext cx="4160520" cy="45720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Low build cost, high leverage</a:t>
            </a:r>
            <a:endParaRPr lang="en-US" sz="1600" dirty="0"/>
          </a:p>
        </p:txBody>
      </p:sp>
      <p:sp>
        <p:nvSpPr>
          <p:cNvPr id="22" name="Text 20"/>
          <p:cNvSpPr/>
          <p:nvPr/>
        </p:nvSpPr>
        <p:spPr>
          <a:xfrm>
            <a:off x="6537960" y="4754880"/>
            <a:ext cx="4800600" cy="1097280"/>
          </a:xfrm>
          <a:prstGeom prst="rect">
            <a:avLst/>
          </a:prstGeom>
          <a:noFill/>
          <a:ln/>
        </p:spPr>
        <p:txBody>
          <a:bodyPr wrap="square" lIns="0" tIns="0" rIns="0" bIns="0" rtlCol="0" anchor="ctr"/>
          <a:lstStyle/>
          <a:p>
            <a:pPr indent="0" marL="0">
              <a:lnSpc>
                <a:spcPct val="125000"/>
              </a:lnSpc>
              <a:buNone/>
            </a:pPr>
            <a:r>
              <a:rPr lang="en-US" sz="1250" dirty="0">
                <a:solidFill>
                  <a:srgbClr val="6B7590"/>
                </a:solidFill>
                <a:latin typeface="Calibri" pitchFamily="34" charset="0"/>
                <a:ea typeface="Calibri" pitchFamily="34" charset="-122"/>
                <a:cs typeface="Calibri" pitchFamily="34" charset="-120"/>
              </a:rPr>
              <a:t>Three lightweight parameters — tone, speed, creativity — cover the vast majority of personalisation requests across the organisation.</a:t>
            </a:r>
            <a:endParaRPr lang="en-US" sz="1250" dirty="0"/>
          </a:p>
        </p:txBody>
      </p:sp>
      <p:sp>
        <p:nvSpPr>
          <p:cNvPr id="23" name="Text 21"/>
          <p:cNvSpPr/>
          <p:nvPr/>
        </p:nvSpPr>
        <p:spPr>
          <a:xfrm>
            <a:off x="457200" y="6537960"/>
            <a:ext cx="3657600" cy="274320"/>
          </a:xfrm>
          <a:prstGeom prst="rect">
            <a:avLst/>
          </a:prstGeom>
          <a:noFill/>
          <a:ln/>
        </p:spPr>
        <p:txBody>
          <a:bodyPr wrap="square" lIns="0" tIns="0" rIns="0" bIns="0" rtlCol="0" anchor="ctr"/>
          <a:lstStyle/>
          <a:p>
            <a:pPr algn="l" indent="0" marL="0">
              <a:buNone/>
            </a:pPr>
            <a:r>
              <a:rPr lang="en-US" sz="1000" dirty="0">
                <a:solidFill>
                  <a:srgbClr val="6B7590"/>
                </a:solidFill>
                <a:latin typeface="Calibri" pitchFamily="34" charset="0"/>
                <a:ea typeface="Calibri" pitchFamily="34" charset="-122"/>
                <a:cs typeface="Calibri" pitchFamily="34" charset="-120"/>
              </a:rPr>
              <a:t>/ Commands</a:t>
            </a:r>
            <a:endParaRPr lang="en-US" sz="1000" dirty="0"/>
          </a:p>
        </p:txBody>
      </p:sp>
      <p:sp>
        <p:nvSpPr>
          <p:cNvPr id="24" name="Text 22"/>
          <p:cNvSpPr/>
          <p:nvPr/>
        </p:nvSpPr>
        <p:spPr>
          <a:xfrm>
            <a:off x="11247120" y="6537960"/>
            <a:ext cx="457200" cy="274320"/>
          </a:xfrm>
          <a:prstGeom prst="rect">
            <a:avLst/>
          </a:prstGeom>
          <a:noFill/>
          <a:ln/>
        </p:spPr>
        <p:txBody>
          <a:bodyPr wrap="square" lIns="0" tIns="0" rIns="0" bIns="0" rtlCol="0" anchor="ctr"/>
          <a:lstStyle/>
          <a:p>
            <a:pPr algn="r" indent="0" marL="0">
              <a:buNone/>
            </a:pPr>
            <a:r>
              <a:rPr lang="en-US" sz="1000" dirty="0">
                <a:solidFill>
                  <a:srgbClr val="6B759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371600" y="4114800"/>
            <a:ext cx="4114800" cy="4114800"/>
          </a:xfrm>
          <a:prstGeom prst="ellipse">
            <a:avLst/>
          </a:prstGeom>
          <a:solidFill>
            <a:srgbClr val="273080"/>
          </a:solidFill>
          <a:ln/>
        </p:spPr>
      </p:sp>
      <p:sp>
        <p:nvSpPr>
          <p:cNvPr id="3" name="Text 1"/>
          <p:cNvSpPr/>
          <p:nvPr/>
        </p:nvSpPr>
        <p:spPr>
          <a:xfrm>
            <a:off x="548640" y="548640"/>
            <a:ext cx="82296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Next Steps</a:t>
            </a:r>
            <a:endParaRPr lang="en-US" sz="3200" dirty="0"/>
          </a:p>
        </p:txBody>
      </p:sp>
      <p:sp>
        <p:nvSpPr>
          <p:cNvPr id="4" name="Text 2"/>
          <p:cNvSpPr/>
          <p:nvPr/>
        </p:nvSpPr>
        <p:spPr>
          <a:xfrm>
            <a:off x="548640" y="1143000"/>
            <a:ext cx="8686800" cy="45720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Bringing this enhancement into full-scale production</a:t>
            </a:r>
            <a:endParaRPr lang="en-US" sz="1400" dirty="0"/>
          </a:p>
        </p:txBody>
      </p:sp>
      <p:sp>
        <p:nvSpPr>
          <p:cNvPr id="5" name="Shape 3"/>
          <p:cNvSpPr/>
          <p:nvPr/>
        </p:nvSpPr>
        <p:spPr>
          <a:xfrm>
            <a:off x="548640" y="2194560"/>
            <a:ext cx="3520440" cy="2926080"/>
          </a:xfrm>
          <a:prstGeom prst="roundRect">
            <a:avLst>
              <a:gd name="adj" fmla="val 3750"/>
            </a:avLst>
          </a:prstGeom>
          <a:solidFill>
            <a:srgbClr val="273080"/>
          </a:solidFill>
          <a:ln/>
        </p:spPr>
      </p:sp>
      <p:sp>
        <p:nvSpPr>
          <p:cNvPr id="6" name="Text 4"/>
          <p:cNvSpPr/>
          <p:nvPr/>
        </p:nvSpPr>
        <p:spPr>
          <a:xfrm>
            <a:off x="822960" y="2468880"/>
            <a:ext cx="1828800" cy="640080"/>
          </a:xfrm>
          <a:prstGeom prst="rect">
            <a:avLst/>
          </a:prstGeom>
          <a:noFill/>
          <a:ln/>
        </p:spPr>
        <p:txBody>
          <a:bodyPr wrap="square" lIns="0" tIns="0" rIns="0" bIns="0" rtlCol="0" anchor="ctr"/>
          <a:lstStyle/>
          <a:p>
            <a:pPr indent="0" marL="0">
              <a:buNone/>
            </a:pPr>
            <a:r>
              <a:rPr lang="en-US" sz="3000" b="1" dirty="0">
                <a:solidFill>
                  <a:srgbClr val="CADCFC"/>
                </a:solidFill>
                <a:latin typeface="Cambria" pitchFamily="34" charset="0"/>
                <a:ea typeface="Cambria" pitchFamily="34" charset="-122"/>
                <a:cs typeface="Cambria" pitchFamily="34" charset="-120"/>
              </a:rPr>
              <a:t>01</a:t>
            </a:r>
            <a:endParaRPr lang="en-US" sz="3000" dirty="0"/>
          </a:p>
        </p:txBody>
      </p:sp>
      <p:sp>
        <p:nvSpPr>
          <p:cNvPr id="7" name="Text 5"/>
          <p:cNvSpPr/>
          <p:nvPr/>
        </p:nvSpPr>
        <p:spPr>
          <a:xfrm>
            <a:off x="822960" y="3200400"/>
            <a:ext cx="2971800" cy="4572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Configure</a:t>
            </a:r>
            <a:endParaRPr lang="en-US" sz="1700" dirty="0"/>
          </a:p>
        </p:txBody>
      </p:sp>
      <p:sp>
        <p:nvSpPr>
          <p:cNvPr id="8" name="Text 6"/>
          <p:cNvSpPr/>
          <p:nvPr/>
        </p:nvSpPr>
        <p:spPr>
          <a:xfrm>
            <a:off x="822960" y="3703320"/>
            <a:ext cx="2971800" cy="1280160"/>
          </a:xfrm>
          <a:prstGeom prst="rect">
            <a:avLst/>
          </a:prstGeom>
          <a:noFill/>
          <a:ln/>
        </p:spPr>
        <p:txBody>
          <a:bodyPr wrap="square" lIns="0" tIns="0" rIns="0" bIns="0" rtlCol="0" anchor="ctr"/>
          <a:lstStyle/>
          <a:p>
            <a:pPr indent="0" marL="0">
              <a:lnSpc>
                <a:spcPct val="130000"/>
              </a:lnSpc>
              <a:buNone/>
            </a:pPr>
            <a:r>
              <a:rPr lang="en-US" sz="1250" dirty="0">
                <a:solidFill>
                  <a:srgbClr val="C7CEEE"/>
                </a:solidFill>
                <a:latin typeface="Calibri" pitchFamily="34" charset="0"/>
                <a:ea typeface="Calibri" pitchFamily="34" charset="-122"/>
                <a:cs typeface="Calibri" pitchFamily="34" charset="-120"/>
              </a:rPr>
              <a:t>Confirm default tone and command list, and finalise wording for the Singapore deployment.</a:t>
            </a:r>
            <a:endParaRPr lang="en-US" sz="1250" dirty="0"/>
          </a:p>
        </p:txBody>
      </p:sp>
      <p:sp>
        <p:nvSpPr>
          <p:cNvPr id="9" name="Shape 7"/>
          <p:cNvSpPr/>
          <p:nvPr/>
        </p:nvSpPr>
        <p:spPr>
          <a:xfrm>
            <a:off x="4389120" y="2194560"/>
            <a:ext cx="3520440" cy="2926080"/>
          </a:xfrm>
          <a:prstGeom prst="roundRect">
            <a:avLst>
              <a:gd name="adj" fmla="val 3750"/>
            </a:avLst>
          </a:prstGeom>
          <a:solidFill>
            <a:srgbClr val="273080"/>
          </a:solidFill>
          <a:ln/>
        </p:spPr>
      </p:sp>
      <p:sp>
        <p:nvSpPr>
          <p:cNvPr id="10" name="Text 8"/>
          <p:cNvSpPr/>
          <p:nvPr/>
        </p:nvSpPr>
        <p:spPr>
          <a:xfrm>
            <a:off x="4663440" y="2468880"/>
            <a:ext cx="1828800" cy="640080"/>
          </a:xfrm>
          <a:prstGeom prst="rect">
            <a:avLst/>
          </a:prstGeom>
          <a:noFill/>
          <a:ln/>
        </p:spPr>
        <p:txBody>
          <a:bodyPr wrap="square" lIns="0" tIns="0" rIns="0" bIns="0" rtlCol="0" anchor="ctr"/>
          <a:lstStyle/>
          <a:p>
            <a:pPr indent="0" marL="0">
              <a:buNone/>
            </a:pPr>
            <a:r>
              <a:rPr lang="en-US" sz="3000" b="1" dirty="0">
                <a:solidFill>
                  <a:srgbClr val="CADCFC"/>
                </a:solidFill>
                <a:latin typeface="Cambria" pitchFamily="34" charset="0"/>
                <a:ea typeface="Cambria" pitchFamily="34" charset="-122"/>
                <a:cs typeface="Cambria" pitchFamily="34" charset="-120"/>
              </a:rPr>
              <a:t>02</a:t>
            </a:r>
            <a:endParaRPr lang="en-US" sz="3000" dirty="0"/>
          </a:p>
        </p:txBody>
      </p:sp>
      <p:sp>
        <p:nvSpPr>
          <p:cNvPr id="11" name="Text 9"/>
          <p:cNvSpPr/>
          <p:nvPr/>
        </p:nvSpPr>
        <p:spPr>
          <a:xfrm>
            <a:off x="4663440" y="3200400"/>
            <a:ext cx="2971800" cy="4572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Deploy</a:t>
            </a:r>
            <a:endParaRPr lang="en-US" sz="1700" dirty="0"/>
          </a:p>
        </p:txBody>
      </p:sp>
      <p:sp>
        <p:nvSpPr>
          <p:cNvPr id="12" name="Text 10"/>
          <p:cNvSpPr/>
          <p:nvPr/>
        </p:nvSpPr>
        <p:spPr>
          <a:xfrm>
            <a:off x="4663440" y="3703320"/>
            <a:ext cx="2971800" cy="1280160"/>
          </a:xfrm>
          <a:prstGeom prst="rect">
            <a:avLst/>
          </a:prstGeom>
          <a:noFill/>
          <a:ln/>
        </p:spPr>
        <p:txBody>
          <a:bodyPr wrap="square" lIns="0" tIns="0" rIns="0" bIns="0" rtlCol="0" anchor="ctr"/>
          <a:lstStyle/>
          <a:p>
            <a:pPr indent="0" marL="0">
              <a:lnSpc>
                <a:spcPct val="130000"/>
              </a:lnSpc>
              <a:buNone/>
            </a:pPr>
            <a:r>
              <a:rPr lang="en-US" sz="1250" dirty="0">
                <a:solidFill>
                  <a:srgbClr val="C7CEEE"/>
                </a:solidFill>
                <a:latin typeface="Calibri" pitchFamily="34" charset="0"/>
                <a:ea typeface="Calibri" pitchFamily="34" charset="-122"/>
                <a:cs typeface="Calibri" pitchFamily="34" charset="-120"/>
              </a:rPr>
              <a:t>Release the enhancement across all instances as part of the current production rollout.</a:t>
            </a:r>
            <a:endParaRPr lang="en-US" sz="1250" dirty="0"/>
          </a:p>
        </p:txBody>
      </p:sp>
      <p:sp>
        <p:nvSpPr>
          <p:cNvPr id="13" name="Shape 11"/>
          <p:cNvSpPr/>
          <p:nvPr/>
        </p:nvSpPr>
        <p:spPr>
          <a:xfrm>
            <a:off x="8229600" y="2194560"/>
            <a:ext cx="3520440" cy="2926080"/>
          </a:xfrm>
          <a:prstGeom prst="roundRect">
            <a:avLst>
              <a:gd name="adj" fmla="val 3750"/>
            </a:avLst>
          </a:prstGeom>
          <a:solidFill>
            <a:srgbClr val="273080"/>
          </a:solidFill>
          <a:ln/>
        </p:spPr>
      </p:sp>
      <p:sp>
        <p:nvSpPr>
          <p:cNvPr id="14" name="Text 12"/>
          <p:cNvSpPr/>
          <p:nvPr/>
        </p:nvSpPr>
        <p:spPr>
          <a:xfrm>
            <a:off x="8503920" y="2468880"/>
            <a:ext cx="1828800" cy="640080"/>
          </a:xfrm>
          <a:prstGeom prst="rect">
            <a:avLst/>
          </a:prstGeom>
          <a:noFill/>
          <a:ln/>
        </p:spPr>
        <p:txBody>
          <a:bodyPr wrap="square" lIns="0" tIns="0" rIns="0" bIns="0" rtlCol="0" anchor="ctr"/>
          <a:lstStyle/>
          <a:p>
            <a:pPr indent="0" marL="0">
              <a:buNone/>
            </a:pPr>
            <a:r>
              <a:rPr lang="en-US" sz="3000" b="1" dirty="0">
                <a:solidFill>
                  <a:srgbClr val="CADCFC"/>
                </a:solidFill>
                <a:latin typeface="Cambria" pitchFamily="34" charset="0"/>
                <a:ea typeface="Cambria" pitchFamily="34" charset="-122"/>
                <a:cs typeface="Cambria" pitchFamily="34" charset="-120"/>
              </a:rPr>
              <a:t>03</a:t>
            </a:r>
            <a:endParaRPr lang="en-US" sz="3000" dirty="0"/>
          </a:p>
        </p:txBody>
      </p:sp>
      <p:sp>
        <p:nvSpPr>
          <p:cNvPr id="15" name="Text 13"/>
          <p:cNvSpPr/>
          <p:nvPr/>
        </p:nvSpPr>
        <p:spPr>
          <a:xfrm>
            <a:off x="8503920" y="3200400"/>
            <a:ext cx="2971800" cy="4572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Adopt</a:t>
            </a:r>
            <a:endParaRPr lang="en-US" sz="1700" dirty="0"/>
          </a:p>
        </p:txBody>
      </p:sp>
      <p:sp>
        <p:nvSpPr>
          <p:cNvPr id="16" name="Text 14"/>
          <p:cNvSpPr/>
          <p:nvPr/>
        </p:nvSpPr>
        <p:spPr>
          <a:xfrm>
            <a:off x="8503920" y="3703320"/>
            <a:ext cx="2971800" cy="1280160"/>
          </a:xfrm>
          <a:prstGeom prst="rect">
            <a:avLst/>
          </a:prstGeom>
          <a:noFill/>
          <a:ln/>
        </p:spPr>
        <p:txBody>
          <a:bodyPr wrap="square" lIns="0" tIns="0" rIns="0" bIns="0" rtlCol="0" anchor="ctr"/>
          <a:lstStyle/>
          <a:p>
            <a:pPr indent="0" marL="0">
              <a:lnSpc>
                <a:spcPct val="130000"/>
              </a:lnSpc>
              <a:buNone/>
            </a:pPr>
            <a:r>
              <a:rPr lang="en-US" sz="1250" dirty="0">
                <a:solidFill>
                  <a:srgbClr val="C7CEEE"/>
                </a:solidFill>
                <a:latin typeface="Calibri" pitchFamily="34" charset="0"/>
                <a:ea typeface="Calibri" pitchFamily="34" charset="-122"/>
                <a:cs typeface="Calibri" pitchFamily="34" charset="-120"/>
              </a:rPr>
              <a:t>Brief relationship managers and support teams, then monitor usage across the organisation.</a:t>
            </a:r>
            <a:endParaRPr lang="en-US" sz="1250" dirty="0"/>
          </a:p>
        </p:txBody>
      </p:sp>
      <p:sp>
        <p:nvSpPr>
          <p:cNvPr id="17" name="Text 15"/>
          <p:cNvSpPr/>
          <p:nvPr/>
        </p:nvSpPr>
        <p:spPr>
          <a:xfrm>
            <a:off x="548640" y="5760720"/>
            <a:ext cx="10515600" cy="457200"/>
          </a:xfrm>
          <a:prstGeom prst="rect">
            <a:avLst/>
          </a:prstGeom>
          <a:noFill/>
          <a:ln/>
        </p:spPr>
        <p:txBody>
          <a:bodyPr wrap="square" lIns="0" tIns="0" rIns="0" bIns="0" rtlCol="0" anchor="ctr"/>
          <a:lstStyle/>
          <a:p>
            <a:pPr indent="0" marL="0">
              <a:buNone/>
            </a:pPr>
            <a:r>
              <a:rPr lang="en-US" sz="1400" i="1" dirty="0">
                <a:solidFill>
                  <a:srgbClr val="CADCFC"/>
                </a:solidFill>
                <a:latin typeface="Calibri" pitchFamily="34" charset="0"/>
                <a:ea typeface="Calibri" pitchFamily="34" charset="-122"/>
                <a:cs typeface="Calibri" pitchFamily="34" charset="-120"/>
              </a:rPr>
              <a:t>Let's align on configuration and rollout timing for your production environment.</a:t>
            </a:r>
            <a:endParaRPr lang="en-US" sz="1400" dirty="0"/>
          </a:p>
        </p:txBody>
      </p:sp>
      <p:sp>
        <p:nvSpPr>
          <p:cNvPr id="18" name="Text 16"/>
          <p:cNvSpPr/>
          <p:nvPr/>
        </p:nvSpPr>
        <p:spPr>
          <a:xfrm>
            <a:off x="457200" y="6537960"/>
            <a:ext cx="3657600" cy="274320"/>
          </a:xfrm>
          <a:prstGeom prst="rect">
            <a:avLst/>
          </a:prstGeom>
          <a:noFill/>
          <a:ln/>
        </p:spPr>
        <p:txBody>
          <a:bodyPr wrap="square" lIns="0" tIns="0" rIns="0" bIns="0" rtlCol="0" anchor="ctr"/>
          <a:lstStyle/>
          <a:p>
            <a:pPr algn="l" indent="0" marL="0">
              <a:buNone/>
            </a:pPr>
            <a:r>
              <a:rPr lang="en-US" sz="1000" dirty="0">
                <a:solidFill>
                  <a:srgbClr val="CADCFC"/>
                </a:solidFill>
                <a:latin typeface="Calibri" pitchFamily="34" charset="0"/>
                <a:ea typeface="Calibri" pitchFamily="34" charset="-122"/>
                <a:cs typeface="Calibri" pitchFamily="34" charset="-120"/>
              </a:rPr>
              <a:t>/ Commands</a:t>
            </a:r>
            <a:endParaRPr lang="en-US" sz="1000" dirty="0"/>
          </a:p>
        </p:txBody>
      </p:sp>
      <p:sp>
        <p:nvSpPr>
          <p:cNvPr id="19" name="Text 17"/>
          <p:cNvSpPr/>
          <p:nvPr/>
        </p:nvSpPr>
        <p:spPr>
          <a:xfrm>
            <a:off x="11247120" y="6537960"/>
            <a:ext cx="457200" cy="274320"/>
          </a:xfrm>
          <a:prstGeom prst="rect">
            <a:avLst/>
          </a:prstGeom>
          <a:noFill/>
          <a:ln/>
        </p:spPr>
        <p:txBody>
          <a:bodyPr wrap="square" lIns="0" tIns="0" rIns="0" bIns="0"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2026-09-07T23:13:46Z</dcterms:created>
  <dcterms:modified xsi:type="dcterms:W3CDTF">2026-09-07T23:13:46Z</dcterms:modified>
</cp:coreProperties>
</file>