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3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charts/chart5.xml" ContentType="application/vnd.openxmlformats-officedocument.drawingml.chart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charts/chart6.xml" ContentType="application/vnd.openxmlformats-officedocument.drawingml.chart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notesMasterIdLst>
    <p:notesMasterId r:id="rId4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2374d4f1-6bc8-923b-50a9-f58d04af2fab}">
          <p14:sldIdLst>
            <p14:sldId id="256"/>
            <p14:sldId id="257"/>
            <p14:sldId id="258"/>
          </p14:sldIdLst>
        </p14:section>
        <p14:section name="Programme overview" id="{fb901fac-d112-033b-79d5-08a6b2bf0613}">
          <p14:sldIdLst>
            <p14:sldId id="259"/>
            <p14:sldId id="260"/>
            <p14:sldId id="261"/>
            <p14:sldId id="262"/>
            <p14:sldId id="263"/>
          </p14:sldIdLst>
        </p14:section>
        <p14:section name="Schedule" id="{e0da10a1-ca2f-c833-e659-ae94d33a5327}">
          <p14:sldIdLst>
            <p14:sldId id="264"/>
            <p14:sldId id="265"/>
            <p14:sldId id="266"/>
            <p14:sldId id="267"/>
            <p14:sldId id="268"/>
          </p14:sldIdLst>
        </p14:section>
        <p14:section name="Budget" id="{9e37a736-eca9-3924-5121-eb1926fcbbb1}">
          <p14:sldIdLst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Technical progress" id="{87a345aa-0b10-13a5-ada0-33e121d0a6e6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Risks and issues" id="{3024cb97-89f7-61a9-5d54-16c4ccf566ea}">
          <p14:sldIdLst>
            <p14:sldId id="283"/>
            <p14:sldId id="284"/>
            <p14:sldId id="285"/>
            <p14:sldId id="286"/>
            <p14:sldId id="287"/>
          </p14:sldIdLst>
        </p14:section>
        <p14:section name="People and operations" id="{0a6c8144-6cf0-fefd-e42e-32ef2dccda12}">
          <p14:sldIdLst>
            <p14:sldId id="288"/>
            <p14:sldId id="289"/>
            <p14:sldId id="290"/>
            <p14:sldId id="291"/>
          </p14:sldIdLst>
        </p14:section>
        <p14:section name="Decisions and next steps" id="{80eba8ad-70ba-43ae-ac8e-d616e3f3828e}">
          <p14:sldIdLst>
            <p14:sldId id="292"/>
            <p14:sldId id="293"/>
            <p14:sldId id="294"/>
            <p14:sldId id="295"/>
            <p14:sldId id="296"/>
          </p14:sldIdLst>
        </p14:section>
        <p14:section name="Appendix" id="{00891847-a0df-1930-6e93-30426a4bb02b}">
          <p14:sldIdLst>
            <p14:sldId id="297"/>
            <p14:sldId id="298"/>
            <p14:sldId id="299"/>
            <p14:sldId id="30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notesMaster" Target="notesMasters/notesMaster1.xml"/><Relationship Id="rId48" Type="http://schemas.openxmlformats.org/officeDocument/2006/relationships/presProps" Target="presProps.xml"/><Relationship Id="rId49" Type="http://schemas.openxmlformats.org/officeDocument/2006/relationships/viewProps" Target="viewProps.xml"/><Relationship Id="rId50" Type="http://schemas.openxmlformats.org/officeDocument/2006/relationships/theme" Target="theme/theme1.xml"/><Relationship Id="rId5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(weeks)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Design</c:v>
                  </c:pt>
                  <c:pt idx="1">
                    <c:v>Prototype</c:v>
                  </c:pt>
                  <c:pt idx="2">
                    <c:v>Core build</c:v>
                  </c:pt>
                  <c:pt idx="3">
                    <c:v>Radio production</c:v>
                  </c:pt>
                  <c:pt idx="4">
                    <c:v>Integration</c:v>
                  </c:pt>
                  <c:pt idx="5">
                    <c:v>Acceptance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16</c:v>
                </c:pt>
                <c:pt idx="1">
                  <c:v>14</c:v>
                </c:pt>
                <c:pt idx="2">
                  <c:v>20</c:v>
                </c:pt>
                <c:pt idx="3">
                  <c:v>18</c:v>
                </c:pt>
                <c:pt idx="4">
                  <c:v>12</c:v>
                </c:pt>
                <c:pt idx="5">
                  <c:v>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or forecast (weeks)</c:v>
                </c:pt>
              </c:strCache>
            </c:strRef>
          </c:tx>
          <c:spPr>
            <a:solidFill>
              <a:srgbClr val="0F7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Design</c:v>
                  </c:pt>
                  <c:pt idx="1">
                    <c:v>Prototype</c:v>
                  </c:pt>
                  <c:pt idx="2">
                    <c:v>Core build</c:v>
                  </c:pt>
                  <c:pt idx="3">
                    <c:v>Radio production</c:v>
                  </c:pt>
                  <c:pt idx="4">
                    <c:v>Integration</c:v>
                  </c:pt>
                  <c:pt idx="5">
                    <c:v>Acceptance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16</c:v>
                </c:pt>
                <c:pt idx="1">
                  <c:v>17</c:v>
                </c:pt>
                <c:pt idx="2">
                  <c:v>20</c:v>
                </c:pt>
                <c:pt idx="3">
                  <c:v>21</c:v>
                </c:pt>
                <c:pt idx="4">
                  <c:v>13</c:v>
                </c:pt>
                <c:pt idx="5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57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573"/>
                    </a:solidFill>
                    <a:latin typeface="Arial"/>
                  </a:rPr>
                  <a:t>Weeks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cumulative ($M)</c:v>
                </c:pt>
              </c:strCache>
            </c:strRef>
          </c:tx>
          <c:spPr>
            <a:solidFill>
              <a:srgbClr val="CADCFC"/>
            </a:solidFill>
            <a:ln w="3175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2.1</c:v>
                </c:pt>
                <c:pt idx="1">
                  <c:v>5</c:v>
                </c:pt>
                <c:pt idx="2">
                  <c:v>9.4</c:v>
                </c:pt>
                <c:pt idx="3">
                  <c:v>14.2</c:v>
                </c:pt>
                <c:pt idx="4">
                  <c:v>19.5</c:v>
                </c:pt>
                <c:pt idx="5">
                  <c:v>24.8</c:v>
                </c:pt>
                <c:pt idx="6">
                  <c:v>29.6</c:v>
                </c:pt>
                <c:pt idx="7">
                  <c:v>34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cumulative ($M)</c:v>
                </c:pt>
              </c:strCache>
            </c:strRef>
          </c:tx>
          <c:spPr>
            <a:solidFill>
              <a:srgbClr val="0F7C8C"/>
            </a:solidFill>
            <a:ln w="31750" cap="flat">
              <a:solidFill>
                <a:srgbClr val="0F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C8C"/>
              </a:solidFill>
              <a:ln w="9525" cap="flat">
                <a:solidFill>
                  <a:srgbClr val="0F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Q1 FY25</c:v>
                  </c:pt>
                  <c:pt idx="1">
                    <c:v>Q2 FY25</c:v>
                  </c:pt>
                  <c:pt idx="2">
                    <c:v>Q3 FY25</c:v>
                  </c:pt>
                  <c:pt idx="3">
                    <c:v>Q4 FY25</c:v>
                  </c:pt>
                  <c:pt idx="4">
                    <c:v>Q1 FY26</c:v>
                  </c:pt>
                  <c:pt idx="5">
                    <c:v>Q2 FY26</c:v>
                  </c:pt>
                  <c:pt idx="6">
                    <c:v>Q3 FY26</c:v>
                  </c:pt>
                  <c:pt idx="7">
                    <c:v>Q4 FY26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1.8</c:v>
                </c:pt>
                <c:pt idx="1">
                  <c:v>4.6</c:v>
                </c:pt>
                <c:pt idx="2">
                  <c:v>8.9</c:v>
                </c:pt>
                <c:pt idx="3">
                  <c:v>13.5</c:v>
                </c:pt>
                <c:pt idx="4">
                  <c:v>18.4</c:v>
                </c:pt>
                <c:pt idx="5">
                  <c:v>23.1</c:v>
                </c:pt>
                <c:pt idx="6">
                  <c:v>27.9</c:v>
                </c:pt>
                <c:pt idx="7">
                  <c:v>31.2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57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573"/>
                    </a:solidFill>
                    <a:latin typeface="Arial"/>
                  </a:rPr>
                  <a:t>$M cumulative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$M</c:v>
                </c:pt>
              </c:strCache>
            </c:strRef>
          </c:tx>
          <c:spPr>
            <a:solidFill>
              <a:srgbClr val="13294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3294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D98E04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Approved budget</c:v>
                  </c:pt>
                  <c:pt idx="1">
                    <c:v>Forecast (Q2 review)</c:v>
                  </c:pt>
                  <c:pt idx="2">
                    <c:v>Forecast (Q3 review)</c:v>
                  </c:pt>
                  <c:pt idx="3">
                    <c:v>Forecast (this review)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44.1</c:v>
                </c:pt>
                <c:pt idx="2">
                  <c:v>45.3</c:v>
                </c:pt>
                <c:pt idx="3">
                  <c:v>46.1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8"/>
          <c:min val="40"/>
        </c:scaling>
        <c:delete val="0"/>
        <c:axPos val="b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Open defects</c:v>
                </c:pt>
              </c:strCache>
            </c:strRef>
          </c:tx>
          <c:spPr>
            <a:solidFill>
              <a:srgbClr val="0F7C8C"/>
            </a:solidFill>
            <a:ln w="31750" cap="flat">
              <a:solidFill>
                <a:srgbClr val="0F7C8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C8C"/>
              </a:solidFill>
              <a:ln w="9525" cap="flat">
                <a:solidFill>
                  <a:srgbClr val="0F7C8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Aug</c:v>
                  </c:pt>
                  <c:pt idx="4">
                    <c:v>Sep</c:v>
                  </c:pt>
                  <c:pt idx="5">
                    <c:v>Oct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</c:v>
                </c:pt>
                <c:pt idx="1">
                  <c:v>55</c:v>
                </c:pt>
                <c:pt idx="2">
                  <c:v>61</c:v>
                </c:pt>
                <c:pt idx="3">
                  <c:v>48</c:v>
                </c:pt>
                <c:pt idx="4">
                  <c:v>37</c:v>
                </c:pt>
                <c:pt idx="5">
                  <c:v>29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Critical open defects</c:v>
                </c:pt>
              </c:strCache>
            </c:strRef>
          </c:tx>
          <c:spPr>
            <a:solidFill>
              <a:srgbClr val="B8483E"/>
            </a:solidFill>
            <a:ln w="31750" cap="flat">
              <a:solidFill>
                <a:srgbClr val="B8483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B8483E"/>
              </a:solidFill>
              <a:ln w="9525" cap="flat">
                <a:solidFill>
                  <a:srgbClr val="B8483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May</c:v>
                  </c:pt>
                  <c:pt idx="1">
                    <c:v>Jun</c:v>
                  </c:pt>
                  <c:pt idx="2">
                    <c:v>Jul</c:v>
                  </c:pt>
                  <c:pt idx="3">
                    <c:v>Aug</c:v>
                  </c:pt>
                  <c:pt idx="4">
                    <c:v>Sep</c:v>
                  </c:pt>
                  <c:pt idx="5">
                    <c:v>Oct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8</c:v>
                </c:pt>
                <c:pt idx="2">
                  <c:v>7</c:v>
                </c:pt>
                <c:pt idx="3">
                  <c:v>4</c:v>
                </c:pt>
                <c:pt idx="4">
                  <c:v>2</c:v>
                </c:pt>
                <c:pt idx="5">
                  <c:v>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B8483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4</c:v>
                </c:pt>
                <c:pt idx="2">
                  <c:v>3</c:v>
                </c:pt>
                <c:pt idx="3">
                  <c:v>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</c:v>
                </c:pt>
                <c:pt idx="1">
                  <c:v>8</c:v>
                </c:pt>
                <c:pt idx="2">
                  <c:v>8</c:v>
                </c:pt>
                <c:pt idx="3">
                  <c:v>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Q1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</c:v>
                </c:pt>
                <c:pt idx="1">
                  <c:v>13</c:v>
                </c:pt>
                <c:pt idx="2">
                  <c:v>11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573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5B6573"/>
                    </a:solidFill>
                    <a:latin typeface="Arial"/>
                  </a:rPr>
                  <a:t>Open risks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Planned FTE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Engineering</c:v>
                  </c:pt>
                  <c:pt idx="1">
                    <c:v>Software</c:v>
                  </c:pt>
                  <c:pt idx="2">
                    <c:v>Security</c:v>
                  </c:pt>
                  <c:pt idx="3">
                    <c:v>Procurement</c:v>
                  </c:pt>
                  <c:pt idx="4">
                    <c:v>Operations</c:v>
                  </c:pt>
                  <c:pt idx="5">
                    <c:v>PMO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22</c:v>
                </c:pt>
                <c:pt idx="1">
                  <c:v>14</c:v>
                </c:pt>
                <c:pt idx="2">
                  <c:v>6</c:v>
                </c:pt>
                <c:pt idx="3">
                  <c:v>5</c:v>
                </c:pt>
                <c:pt idx="4">
                  <c:v>8</c:v>
                </c:pt>
                <c:pt idx="5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 FTE</c:v>
                </c:pt>
              </c:strCache>
            </c:strRef>
          </c:tx>
          <c:spPr>
            <a:solidFill>
              <a:srgbClr val="0F7C8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43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Engineering</c:v>
                  </c:pt>
                  <c:pt idx="1">
                    <c:v>Software</c:v>
                  </c:pt>
                  <c:pt idx="2">
                    <c:v>Security</c:v>
                  </c:pt>
                  <c:pt idx="3">
                    <c:v>Procurement</c:v>
                  </c:pt>
                  <c:pt idx="4">
                    <c:v>Operations</c:v>
                  </c:pt>
                  <c:pt idx="5">
                    <c:v>PMO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</c:v>
                </c:pt>
                <c:pt idx="1">
                  <c:v>14</c:v>
                </c:pt>
                <c:pt idx="2">
                  <c:v>5</c:v>
                </c:pt>
                <c:pt idx="3">
                  <c:v>5</c:v>
                </c:pt>
                <c:pt idx="4">
                  <c:v>6</c:v>
                </c:pt>
                <c:pt idx="5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43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8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7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This review covers the full year: schedule, budget, technical progress, risks, and two decisions we need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Headline: we are mostly on track. The slip is three weeks and is concentrated in radio hardware. Budget forecast is just inside the envelope.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four objectives come from the approved business case and have not changed since the last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milestones through factory acceptance are complete. The slip starts with production radio delivery and flows through to integration test phase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the vendor reports a four-week slip on radios, while our overall programme slip is three weeks because we re-sequenced some integration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Actual spend tracks below plan mainly because radio production invoices are delayed along with the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Finance's latest forecast includes the full exchange-rate exposure and the extended test bed rental.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diagram shows how the four subsystems come together on the integration test bed.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Legacy gateway interoperability is the weak spot: seven failures, all on the older of the two legacy radio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Likelihood and impact use the corporate five-point scale, shown here as low, medium and high.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engineering vacancies and two operations trainer roles are being recruited; offers are out for three of the four.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first two need approval today to keep integration phase 2 in February. The third is for noting only.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Line totals exclude contingency, which is held centrally.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329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Falcon · FY2026 Annual Review · Fictional test data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Falcon · FY2026 Annual Review · Fictional test data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Falcon: FY2026 Annual Programme Review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field communications network · Programme Office · October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Programme overview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progress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and issues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and operations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and next steps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3" name="stat-0"/>
          <p:cNvSpPr/>
          <p:nvPr/>
        </p:nvSpPr>
        <p:spPr>
          <a:xfrm>
            <a:off x="457200" y="1234440"/>
            <a:ext cx="18516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577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1577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Overall completion against the baseline plan</a:t>
            </a:r>
            <a:endParaRPr lang="en-US" sz="1200" dirty="0"/>
          </a:p>
        </p:txBody>
      </p:sp>
      <p:sp>
        <p:nvSpPr>
          <p:cNvPr id="6" name="stat-1"/>
          <p:cNvSpPr/>
          <p:nvPr/>
        </p:nvSpPr>
        <p:spPr>
          <a:xfrm>
            <a:off x="2583180" y="1234440"/>
            <a:ext cx="18516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20340" y="1371600"/>
            <a:ext cx="1577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$44.8M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720340" y="2103120"/>
            <a:ext cx="1577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Forecast at completion against a $45.0M budget</a:t>
            </a:r>
            <a:endParaRPr lang="en-US" sz="1200" dirty="0"/>
          </a:p>
        </p:txBody>
      </p:sp>
      <p:sp>
        <p:nvSpPr>
          <p:cNvPr id="9" name="stat-2"/>
          <p:cNvSpPr/>
          <p:nvPr/>
        </p:nvSpPr>
        <p:spPr>
          <a:xfrm>
            <a:off x="4709160" y="1234440"/>
            <a:ext cx="18516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1577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weeks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03120"/>
            <a:ext cx="1577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Schedule slip, driven by radio hardware delivery</a:t>
            </a:r>
            <a:endParaRPr lang="en-US" sz="1200" dirty="0"/>
          </a:p>
        </p:txBody>
      </p:sp>
      <p:sp>
        <p:nvSpPr>
          <p:cNvPr id="12" name="stat-3"/>
          <p:cNvSpPr/>
          <p:nvPr/>
        </p:nvSpPr>
        <p:spPr>
          <a:xfrm>
            <a:off x="6835140" y="1234440"/>
            <a:ext cx="18516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72300" y="1371600"/>
            <a:ext cx="1577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B848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972300" y="2103120"/>
            <a:ext cx="1577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Decisions needed from the Steering Committee today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3294B"/>
                </a:solidFill>
              </a:rPr>
              <a:t>Programme remains viable for Initial Operating Capability in Q2 FY2027 if the schedule recovery option is approved.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overview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Falcon delivers, who owns it, and how it is governed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Programme objectives</a:t>
            </a:r>
            <a:endParaRPr lang="en-US" sz="2600" dirty="0"/>
          </a:p>
        </p:txBody>
      </p:sp>
      <p:sp>
        <p:nvSpPr>
          <p:cNvPr id="3" name="card-0"/>
          <p:cNvSpPr/>
          <p:nvPr/>
        </p:nvSpPr>
        <p:spPr>
          <a:xfrm>
            <a:off x="457200" y="11430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Secure voice and data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184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Encrypted voice and data between field units and command posts, rated for RESTRICTED traffic.</a:t>
            </a:r>
            <a:endParaRPr lang="en-US" sz="1150" dirty="0"/>
          </a:p>
        </p:txBody>
      </p:sp>
      <p:sp>
        <p:nvSpPr>
          <p:cNvPr id="6" name="card-1"/>
          <p:cNvSpPr/>
          <p:nvPr/>
        </p:nvSpPr>
        <p:spPr>
          <a:xfrm>
            <a:off x="4709160" y="114300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25272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Resilient network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161848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Mesh networking that keeps working when any single node or relay is lost.</a:t>
            </a:r>
            <a:endParaRPr lang="en-US" sz="1150" dirty="0"/>
          </a:p>
        </p:txBody>
      </p:sp>
      <p:sp>
        <p:nvSpPr>
          <p:cNvPr id="9" name="card-2"/>
          <p:cNvSpPr/>
          <p:nvPr/>
        </p:nvSpPr>
        <p:spPr>
          <a:xfrm>
            <a:off x="457200" y="28346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2944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Central management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331012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One console to provision, monitor and update every radio and relay in the fleet.</a:t>
            </a:r>
            <a:endParaRPr lang="en-US" sz="1150" dirty="0"/>
          </a:p>
        </p:txBody>
      </p:sp>
      <p:sp>
        <p:nvSpPr>
          <p:cNvPr id="12" name="card-3"/>
          <p:cNvSpPr/>
          <p:nvPr/>
        </p:nvSpPr>
        <p:spPr>
          <a:xfrm>
            <a:off x="4709160" y="2834640"/>
            <a:ext cx="3977640" cy="1463040"/>
          </a:xfrm>
          <a:prstGeom prst="roundRect">
            <a:avLst>
              <a:gd name="adj" fmla="val 5000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2944368"/>
            <a:ext cx="3703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Interoperability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3310128"/>
            <a:ext cx="3703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Standards-based gateways to the two legacy radio systems still in service until FY2029.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deliverables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645920"/>
                <a:gridCol w="128016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 Field radio (handheld and vehicle)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D2 Mesh relay nodes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 Network core and gateways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D4 Encryption module (certified)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 Management console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 Training package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 Integrated logistics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structure</a:t>
            </a:r>
            <a:endParaRPr lang="en-US" sz="2600" dirty="0"/>
          </a:p>
        </p:txBody>
      </p:sp>
      <p:pic>
        <p:nvPicPr>
          <p:cNvPr id="3" name="Image 0" descr="Organisation chart: Steering Committee, Programme Director, three workstre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0" cy="34747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03520" y="118872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Steering Committee meets monthly; approves scope, budget and schedule changes above $250K.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Programme Director owns day-to-day delivery and the risk register.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Three workstreams report weekly: Engineering, Procurement, Operations.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stakeholders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29184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Operational units (users)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Usability, reliability in the field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user panel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accreditation office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of the encryption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Fortnightly reviews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control and forecast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 vendor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Delivery milestones, payment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progress 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 command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Spares, maintenance, support contracts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Quarterly workshop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Milestones, variance and the critical path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milestones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5544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Preliminary design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design review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radio prototypes delivered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core factory acceptance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phase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production units delivered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Integration test phase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Behind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Operating Capability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variance by phase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 path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production units drive the critical path: every week of delay moves integration phase 2 by one week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phase 2 needs at least 40 production radios; the test bed cannot use prototypes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Encryption certification runs in parallel with 4 weeks of float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software has 6 weeks of float and is not on the critical path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options are on slide 39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delivery slip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prime vendor's radio delivery has slipped four weeks because of a shortage of RF power amplifiers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supplier has qualified a second amplifier source; first parts expected in mid-November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allows liquidated damages after a six-week delay; we are not there yet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escalation calls are in place with the vendor's programme manager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to date, forecast and cost drivers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overview</a:t>
            </a:r>
            <a:endParaRPr lang="en-US" sz="2600" dirty="0"/>
          </a:p>
        </p:txBody>
      </p:sp>
      <p:sp>
        <p:nvSpPr>
          <p:cNvPr id="3" name="stat-0"/>
          <p:cNvSpPr/>
          <p:nvPr/>
        </p:nvSpPr>
        <p:spPr>
          <a:xfrm>
            <a:off x="457200" y="1234440"/>
            <a:ext cx="18516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71600"/>
            <a:ext cx="1577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$45.0M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103120"/>
            <a:ext cx="1577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Approved budget (including 8% contingency)</a:t>
            </a:r>
            <a:endParaRPr lang="en-US" sz="1200" dirty="0"/>
          </a:p>
        </p:txBody>
      </p:sp>
      <p:sp>
        <p:nvSpPr>
          <p:cNvPr id="6" name="stat-1"/>
          <p:cNvSpPr/>
          <p:nvPr/>
        </p:nvSpPr>
        <p:spPr>
          <a:xfrm>
            <a:off x="2583180" y="1234440"/>
            <a:ext cx="18516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20340" y="1371600"/>
            <a:ext cx="1577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$31.2M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2720340" y="2103120"/>
            <a:ext cx="1577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Spent to date (69%)</a:t>
            </a:r>
            <a:endParaRPr lang="en-US" sz="1200" dirty="0"/>
          </a:p>
        </p:txBody>
      </p:sp>
      <p:sp>
        <p:nvSpPr>
          <p:cNvPr id="9" name="stat-2"/>
          <p:cNvSpPr/>
          <p:nvPr/>
        </p:nvSpPr>
        <p:spPr>
          <a:xfrm>
            <a:off x="4709160" y="1234440"/>
            <a:ext cx="18516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46320" y="1371600"/>
            <a:ext cx="1577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F7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$13.6M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4846320" y="2103120"/>
            <a:ext cx="1577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Remaining commitments</a:t>
            </a:r>
            <a:endParaRPr lang="en-US" sz="1200" dirty="0"/>
          </a:p>
        </p:txBody>
      </p:sp>
      <p:sp>
        <p:nvSpPr>
          <p:cNvPr id="12" name="stat-3"/>
          <p:cNvSpPr/>
          <p:nvPr/>
        </p:nvSpPr>
        <p:spPr>
          <a:xfrm>
            <a:off x="6835140" y="1234440"/>
            <a:ext cx="1851660" cy="1554480"/>
          </a:xfrm>
          <a:prstGeom prst="roundRect">
            <a:avLst>
              <a:gd name="adj" fmla="val 4706"/>
            </a:avLst>
          </a:prstGeom>
          <a:solidFill>
            <a:srgbClr val="EEF3F7"/>
          </a:solidFill>
          <a:ln w="12700">
            <a:solidFill>
              <a:srgbClr val="EEF3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972300" y="1371600"/>
            <a:ext cx="1577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$1.1M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972300" y="2103120"/>
            <a:ext cx="15773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0"/>
                </a:solidFill>
              </a:rPr>
              <a:t>Contingency used to date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63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430"/>
                </a:solidFill>
              </a:rPr>
              <a:t>Contingency use is within plan; the largest draw was the second amplifier source qualification ($0.4M).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Spend by quarter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by workstream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280160"/>
                <a:gridCol w="1280160"/>
                <a:gridCol w="137160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Workstream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Spent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Radios and relays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0.7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core and gateways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0.3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module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console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and 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management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0.4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0.2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drivers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 amplifier shortage added $0.4M for second-source qualification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test bed rental: about $60K per month of integration delay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exchange: 40% of hardware is priced in USD; a 5% move is worth about $0.5M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Savings in programme management from consolidating two vendor offices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costs fall if the e-learning modules replace one classroom phase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at completion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progress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Subsystem status, testing and performance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Radio subsystem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Handheld design frozen; vehicle variant in final thermal testing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life 14 hours against a 12-hour requirement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line qualified; awaiting RF amplifiers from the second source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and immersion tests passed on prototype units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core</a:t>
            </a:r>
            <a:endParaRPr lang="en-US" sz="2600" dirty="0"/>
          </a:p>
        </p:txBody>
      </p:sp>
      <p:pic>
        <p:nvPicPr>
          <p:cNvPr id="3" name="Image 0" descr="Network architecture: core linked to radios, encryption and console, all feeding the integration test b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754880" cy="3017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0" y="1188720"/>
            <a:ext cx="32004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Factory acceptance passed in August with 312 of 318 test cases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Six deferred cases relate to gateway failover timing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</a:rPr>
              <a:t>Mesh routing recovers from node loss in 2.8 s (target 5 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Encryption module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implementation complete and independently reviewed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 evaluation started in September; target completion February 2027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minor findings from the first evaluation round, both fixed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management integration with the console still in progress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console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view, provisioning and over-the-air updates complete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implemented and tested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users rated usability 4.1 out of 5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work: reporting module and audit log export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 results (phase 1)</a:t>
            </a:r>
            <a:endParaRPr lang="en-US" sz="2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188720"/>
                <a:gridCol w="1188720"/>
                <a:gridCol w="118872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call setup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throughput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failover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handshake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gateway interop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provisioning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trend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against requirements</a:t>
            </a:r>
            <a:endParaRPr lang="en-US" sz="26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64592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 latency (end to end)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250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ms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throughput per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2 Mbit/s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 Mbit/s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recovery after node loss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battery life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12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 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gateway call success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 98%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fleet refresh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s for 500 units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issues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still go wrong, and what we are doing about it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risks</a:t>
            </a:r>
            <a:endParaRPr lang="en-US" sz="2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005840"/>
                <a:gridCol w="914400"/>
                <a:gridCol w="118872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Further RF amplifier delays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source qualified; weekly tracking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certification 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informal reviews with evaluators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gateway interoperability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fix due November; retest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Exchange-rate movement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 hedging under review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staff turnover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Succession plans for four key roles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profile over the year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issues</a:t>
            </a:r>
            <a:endParaRPr lang="en-US" sz="2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931920"/>
                <a:gridCol w="1097280"/>
                <a:gridCol w="1371600"/>
                <a:gridCol w="11887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 call drops with legacy system 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I-17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bed rental extension not yet approved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audit log format rejected by 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Spares list incomplete for vehicle variant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I-05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venue clash in March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Lessons learned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Qualify second sources for long-lead RF components at design review, not after a shortage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test bed capacity with a contingency month built into the rental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security evaluators in early: informal reviews cut formal findings by half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users found usability issues that design reviews missed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and operations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Staffing, training and early user feedback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Staffing levels</a:t>
            </a:r>
            <a:endParaRPr lang="en-US" sz="2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097280"/>
          <a:ext cx="82296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rollout plan</a:t>
            </a:r>
            <a:endParaRPr lang="en-US" sz="26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828800"/>
                <a:gridCol w="914400"/>
                <a:gridCol w="15544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People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Instructors (train the trainer)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Classroom, 5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 operators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Blended, 3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to Apr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commanders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Briefing, half day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track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Classroom, 10 days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administrators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E-learning and lab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user feedback</a:t>
            </a:r>
            <a:endParaRPr lang="en-US" sz="2600" dirty="0"/>
          </a:p>
        </p:txBody>
      </p:sp>
      <p:sp>
        <p:nvSpPr>
          <p:cNvPr id="3" name="card-0"/>
          <p:cNvSpPr/>
          <p:nvPr/>
        </p:nvSpPr>
        <p:spPr>
          <a:xfrm>
            <a:off x="457200" y="11430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Easier to use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1848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Most pilot users said the handheld was easier to use than the current radio, especially group calls.</a:t>
            </a:r>
            <a:endParaRPr lang="en-US" sz="1150" dirty="0"/>
          </a:p>
        </p:txBody>
      </p:sp>
      <p:sp>
        <p:nvSpPr>
          <p:cNvPr id="6" name="card-1"/>
          <p:cNvSpPr/>
          <p:nvPr/>
        </p:nvSpPr>
        <p:spPr>
          <a:xfrm>
            <a:off x="3291840" y="11430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Battery confidence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1848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Users trusted the battery indicator and finished every exercise without a swap.</a:t>
            </a:r>
            <a:endParaRPr lang="en-US" sz="1150" dirty="0"/>
          </a:p>
        </p:txBody>
      </p:sp>
      <p:sp>
        <p:nvSpPr>
          <p:cNvPr id="9" name="card-2"/>
          <p:cNvSpPr/>
          <p:nvPr/>
        </p:nvSpPr>
        <p:spPr>
          <a:xfrm>
            <a:off x="6126480" y="114300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Console wish list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18488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Administrators asked for bulk configuration and better search across the fleet.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573"/>
                </a:solidFill>
              </a:rPr>
              <a:t>Pilot: 3 units, 64 users, 6 weeks, July to August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and next steps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need from the Steering Committee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 required today</a:t>
            </a:r>
            <a:endParaRPr lang="en-US" sz="26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097280"/>
            <a:ext cx="822960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schedule recovery option B (parallel integration on a second test bed), at $0.6M from contingency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test bed rental extension to March 2027 (issue I-17)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revised Initial Operating Capability date of May 2027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recovery options</a:t>
            </a:r>
            <a:endParaRPr lang="en-US" sz="2600" dirty="0"/>
          </a:p>
        </p:txBody>
      </p:sp>
      <p:sp>
        <p:nvSpPr>
          <p:cNvPr id="3" name="card-0"/>
          <p:cNvSpPr/>
          <p:nvPr/>
        </p:nvSpPr>
        <p:spPr>
          <a:xfrm>
            <a:off x="457200" y="11430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A. Accept the slip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61848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No extra cost. Initial Operating Capability moves to June 2027. Training plan must be re-phased.</a:t>
            </a:r>
            <a:endParaRPr lang="en-US" sz="1150" dirty="0"/>
          </a:p>
        </p:txBody>
      </p:sp>
      <p:sp>
        <p:nvSpPr>
          <p:cNvPr id="6" name="card-1"/>
          <p:cNvSpPr/>
          <p:nvPr/>
        </p:nvSpPr>
        <p:spPr>
          <a:xfrm>
            <a:off x="3291840" y="11430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42900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B. Second test bed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1848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Recommended. $0.6M. Runs integration streams in parallel and recovers about 3 weeks. IOC stays in May 2027.</a:t>
            </a:r>
            <a:endParaRPr lang="en-US" sz="1150" dirty="0"/>
          </a:p>
        </p:txBody>
      </p:sp>
      <p:sp>
        <p:nvSpPr>
          <p:cNvPr id="9" name="card-2"/>
          <p:cNvSpPr/>
          <p:nvPr/>
        </p:nvSpPr>
        <p:spPr>
          <a:xfrm>
            <a:off x="6126480" y="1143000"/>
            <a:ext cx="2560320" cy="2103120"/>
          </a:xfrm>
          <a:prstGeom prst="roundRect">
            <a:avLst>
              <a:gd name="adj" fmla="val 3478"/>
            </a:avLst>
          </a:prstGeom>
          <a:solidFill>
            <a:srgbClr val="EEF3F7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25272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94B"/>
                </a:solidFill>
              </a:rPr>
              <a:t>C. Air freight and overtime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1618488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430"/>
                </a:solidFill>
              </a:rPr>
              <a:t>$0.9M. Recovers about 2 weeks. Depends on vendor overtime the vendor has not yet confirmed.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for next quarter</a:t>
            </a:r>
            <a:endParaRPr lang="en-US" sz="26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828800"/>
                <a:gridCol w="14630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Receive first amplifiers from the second source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Nov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Retest legacy gateway after vendor fix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Nov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encryption evaluation round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Dec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up second test bed (if option B approved)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Jan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instructor 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Jan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 Steering Committee review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Director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Jan 2027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Contacts</a:t>
            </a:r>
            <a:endParaRPr lang="en-US" sz="26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645920"/>
                <a:gridCol w="2926080"/>
                <a:gridCol w="1645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Director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 Tan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alex.tan@example.gov.sg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+65 6123 4501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Engineering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 Nair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priya.nair@example.gov.sg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9123 4502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Marcus Lim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marcus.lim@example.gov.sg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9123 4503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Siti Rahman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siti.rahman@example.gov.sg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9123 4504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Operations Lead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 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daniel.ong@example.gov.sg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9123 4505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573"/>
                </a:solidFill>
              </a:rPr>
              <a:t>All names and contact details are fictional, for testing PII masking.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</a:t>
            </a:r>
            <a:endParaRPr lang="en-US" sz="3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974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budget, glossary and test cases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CADCF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A: Detailed budget lines</a:t>
            </a:r>
            <a:endParaRPr lang="en-US" sz="2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657600"/>
                <a:gridCol w="1280160"/>
                <a:gridCol w="128016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($K)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Spent ($K)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Forecast ($K)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Handheld radios (600 units)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Vehicle radios (150 units)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relay nodes (80 units)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core hardware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Gateways to legacy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Encryption development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Certification fees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 software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development and delivery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Integrated logistics support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4,500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B: Glossary</a:t>
            </a:r>
            <a:endParaRPr lang="en-US" sz="26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400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Initial Operating Capability: first units can use the system operationally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 acceptance test, run at the vendor's site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Mesh relay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node that forwards traffic so the network survives losing any single link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amplifier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Radio-frequency power amplifier inside each radio; the current long-lead part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bed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rented integration lab where all subsystems are tested together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Liquidated damages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penalty the vendor pays for delay beyond an agreed 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C: Failed integration test cases</a:t>
            </a:r>
            <a:endParaRPr lang="en-US" sz="26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005840"/>
                <a:gridCol w="4023360"/>
                <a:gridCol w="1097280"/>
                <a:gridCol w="1280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94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IT-021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setup over 3 s with 40 active users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IT-057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drops 20% above 30 nodes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IT-058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Packet loss during relay handover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IT-063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 transfer resumes from start after a 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5B8C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IT-131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 drops after 90 s with legacy system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IT-132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caller ID passed to legacy system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IT-133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Group call fails across both legacy systems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B848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IT-134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Gateway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Audio echo on legacy system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IT-201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Bulk update stalls above 300 units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D98E0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45720" marR="45720" marT="45720" marB="45720" anchor="ctr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57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lcon Review">
  <a:themeElements>
    <a:clrScheme name="Falcon Review">
      <a:dk1>
        <a:srgbClr val="1B2430"/>
      </a:dk1>
      <a:lt1>
        <a:srgbClr val="FFFFFF"/>
      </a:lt1>
      <a:dk2>
        <a:srgbClr val="13294B"/>
      </a:dk2>
      <a:lt2>
        <a:srgbClr val="EEF3F7"/>
      </a:lt2>
      <a:accent1>
        <a:srgbClr val="0F7C8C"/>
      </a:accent1>
      <a:accent2>
        <a:srgbClr val="D98E04"/>
      </a:accent2>
      <a:accent3>
        <a:srgbClr val="13294B"/>
      </a:accent3>
      <a:accent4>
        <a:srgbClr val="7A9CC6"/>
      </a:accent4>
      <a:accent5>
        <a:srgbClr val="B8483E"/>
      </a:accent5>
      <a:accent6>
        <a:srgbClr val="5B8C5A"/>
      </a:accent6>
      <a:hlink>
        <a:srgbClr val="0F7C8C"/>
      </a:hlink>
      <a:folHlink>
        <a:srgbClr val="5B6573"/>
      </a:folHlink>
    </a:clrScheme>
    <a:fontScheme name="Falcon Review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Falcon FY2026 Annual Programme Review</dc:title>
  <dc:subject>PptxGenJS Presentation</dc:subject>
  <dc:creator>Programme Office (fictional test data)</dc:creator>
  <cp:lastModifiedBy>Programme Office (fictional test data)</cp:lastModifiedBy>
  <cp:revision>1</cp:revision>
  <dcterms:created xsi:type="dcterms:W3CDTF">2026-10-22T17:03:41Z</dcterms:created>
  <dcterms:modified xsi:type="dcterms:W3CDTF">2026-10-22T17:03:41Z</dcterms:modified>
</cp:coreProperties>
</file>