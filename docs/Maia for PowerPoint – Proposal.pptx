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proposal extends Maia, our Outlook assistant, into PowerPoint. The key message: we reuse the backend, guardrails and Qwen model we already run, so Phase 1 needs no new model and no new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points. Why: decks carry restricted content and public assistants can’t be used on them. How: everything except image generation reuses what Maia already runs. Ask: approve Phase 0 and 1, and decide the host technology.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Maia already serves 400–500 concurrent Outlook users. Much of the same content ends up in decks, where officers get no help today. Commercial assistants solve this but can’t be used on restricted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is text only; shaded rows are Phase 2. We build read-first: summarisation, then notes, then generation, because each reuses the parts of the one before. Image generation comes last because it needs a new model and sign-off.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Copilot moved rewrite, translate and speaker notes into a chat-based Agent mode in March–April 2026, which is the same pattern as Maia’s taskpane. Presenton is Apache 2.0 with a FastAPI backend; PPTAgent (EMNLP 2025) and its successor DeepPresenter (ACL 2026) have an offline mode. GovTech’s Pair reports 45 minutes saved per dollar; we found no slide generation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tool we looked at follows the same three steps. They differ only in how they render the final slides, which is the decision we make in the Phase 0 spike.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plugin sends the open deck as JSON, so the backend never parses .pptx files from the client. Every request passes the same safety pipeline as Outlook. Generation runs as async jobs in Redis because it can exceed the 120-second LLM timeout. The only new infrastructure is the image model, and only in Phase 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image generation needs a new model. Qwen-Image-2512 is Apache 2.0, about 64 GB VRAM at full precision or 18–24 GB quantised. We avoid Qwen-Image-2.1 and FLUX.2 dev because of non-commercial licences; Ideogram 4.0 is a paid backup if non-Alibaba provenance is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can do the work; the question is load. We protect chat latency with a queue and priorities, and only buy more GPU if load tests show we need it. Model swaps are a fallback after the golden-set evaluation, not the starting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gates. Phase 2 starts only when Phase 1 hits its golden-set targets. Image generation additionally waits for licence and security sign-off. The rendering spike compares Presenton, PPTAgent and python-pptx on the real DSTA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Decks are at least as sensitive as email, so the open critical issues from the Maia High-Level Design must be closed before PowerPoint rollout. Image generation adds its own guardrails: no real people, logos or classified-looking material, plus a classifier on the generated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need about 30 sanitised real decks for the golden set. PPTEval comes from the PPTAgent research and scores content, design and coherence. Adoption and minutes saved feed management reporting, in the same style as GovTech Pair’s value metric.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operational risk is load on the shared Qwen server. The biggest quality risk is the DSTA template, which is why the rendering spike uses the real .potx file. The host technology question matters because speaker notes depend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ask. The first and second decisions unblock Phase 0 immediately; the template and sample decks are needed for the rendering spike and the golden set. Image generation can be reviewed in parallel without delaying Phase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655"/>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4213D"/>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851555"/>
            <a:ext cx="10566400" cy="4193645"/>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655"/>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4213D"/>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851555"/>
            <a:ext cx="10566400" cy="4193645"/>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654"/>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FB8D8"/>
                </a:solidFill>
                <a:latin typeface="IBM Plex Sans" pitchFamily="34" charset="0"/>
                <a:ea typeface="IBM Plex Sans" pitchFamily="34" charset="-122"/>
                <a:cs typeface="IBM Plex Sans" pitchFamily="34" charset="-120"/>
              </a:rPr>
              <a:t>DSTA · MAIA PROJECT EXTENSION</a:t>
            </a:r>
            <a:endParaRPr lang="en-US" sz="1200" dirty="0"/>
          </a:p>
        </p:txBody>
      </p:sp>
      <p:sp>
        <p:nvSpPr>
          <p:cNvPr id="3" name="Text 1"/>
          <p:cNvSpPr/>
          <p:nvPr>
            <p:ph type="title"/>
          </p:nvPr>
        </p:nvSpPr>
        <p:spPr>
          <a:xfrm>
            <a:off x="812800" y="2589609"/>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7F6F2"/>
                </a:solidFill>
                <a:latin typeface="Source Serif 4" pitchFamily="18" charset="0"/>
                <a:ea typeface="Source Serif 4" pitchFamily="18" charset="-122"/>
                <a:cs typeface="Source Serif 4" pitchFamily="18" charset="-120"/>
              </a:rPr>
              <a:t>Maia for PowerPoint</a:t>
            </a:r>
            <a:endParaRPr lang="en-US" sz="6000" dirty="0"/>
          </a:p>
        </p:txBody>
      </p:sp>
      <p:sp>
        <p:nvSpPr>
          <p:cNvPr id="4" name="Text 2"/>
          <p:cNvSpPr/>
          <p:nvPr/>
        </p:nvSpPr>
        <p:spPr>
          <a:xfrm>
            <a:off x="812800" y="3592909"/>
            <a:ext cx="7848600" cy="665427"/>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6E3"/>
                </a:solidFill>
                <a:latin typeface="IBM Plex Sans" pitchFamily="34" charset="0"/>
                <a:ea typeface="IBM Plex Sans" pitchFamily="34" charset="-122"/>
                <a:cs typeface="IBM Plex Sans" pitchFamily="34" charset="-120"/>
              </a:rPr>
              <a:t>Bringing Maia’s on-premise AI into PowerPoint, on the Qwen model we already run</a:t>
            </a:r>
            <a:endParaRPr lang="en-US" sz="1800" dirty="0"/>
          </a:p>
        </p:txBody>
      </p:sp>
      <p:sp>
        <p:nvSpPr>
          <p:cNvPr id="5" name="Text 3"/>
          <p:cNvSpPr/>
          <p:nvPr/>
        </p:nvSpPr>
        <p:spPr>
          <a:xfrm>
            <a:off x="812800" y="579635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6E3"/>
                </a:solidFill>
                <a:latin typeface="IBM Plex Sans" pitchFamily="34" charset="0"/>
                <a:ea typeface="IBM Plex Sans" pitchFamily="34" charset="-122"/>
                <a:cs typeface="IBM Plex Sans" pitchFamily="34" charset="-120"/>
              </a:rPr>
              <a:t>Project proposal · 23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654"/>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8B"/>
                </a:solidFill>
                <a:latin typeface="IBM Plex Sans" pitchFamily="34" charset="0"/>
                <a:ea typeface="IBM Plex Sans" pitchFamily="34" charset="-122"/>
                <a:cs typeface="IBM Plex Sans" pitchFamily="34" charset="-120"/>
              </a:rPr>
              <a:t>EXECUTIVE SUMMARY</a:t>
            </a:r>
            <a:endParaRPr lang="en-US" sz="1200" dirty="0"/>
          </a:p>
        </p:txBody>
      </p:sp>
      <p:sp>
        <p:nvSpPr>
          <p:cNvPr id="3" name="Text 1"/>
          <p:cNvSpPr/>
          <p:nvPr>
            <p:ph type="title"/>
          </p:nvPr>
        </p:nvSpPr>
        <p:spPr>
          <a:xfrm>
            <a:off x="812800" y="1127654"/>
            <a:ext cx="10883392" cy="8636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Source Serif 4" pitchFamily="18" charset="0"/>
                <a:ea typeface="Source Serif 4" pitchFamily="18" charset="-122"/>
                <a:cs typeface="Source Serif 4" pitchFamily="18" charset="-120"/>
              </a:rPr>
              <a:t>Extend Maia into PowerPoint in two phases, on the Qwen model we already run</a:t>
            </a:r>
            <a:endParaRPr lang="en-US" sz="3000" dirty="0"/>
          </a:p>
        </p:txBody>
      </p:sp>
      <p:sp>
        <p:nvSpPr>
          <p:cNvPr id="4" name="Shape 2"/>
          <p:cNvSpPr/>
          <p:nvPr/>
        </p:nvSpPr>
        <p:spPr>
          <a:xfrm>
            <a:off x="815975" y="2324629"/>
            <a:ext cx="3380317" cy="3514196"/>
          </a:xfrm>
          <a:prstGeom prst="roundRect">
            <a:avLst>
              <a:gd name="adj" fmla="val 2912"/>
            </a:avLst>
          </a:prstGeom>
          <a:solidFill>
            <a:srgbClr val="FDFCFA"/>
          </a:solidFill>
          <a:ln w="6350">
            <a:solidFill>
              <a:srgbClr val="DCDDD8"/>
            </a:solidFill>
            <a:prstDash val="solid"/>
          </a:ln>
        </p:spPr>
      </p:sp>
      <p:sp>
        <p:nvSpPr>
          <p:cNvPr id="5" name="Text 3"/>
          <p:cNvSpPr/>
          <p:nvPr/>
        </p:nvSpPr>
        <p:spPr>
          <a:xfrm>
            <a:off x="1075267" y="2583921"/>
            <a:ext cx="2947585" cy="238654"/>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8B"/>
                </a:solidFill>
                <a:latin typeface="IBM Plex Sans" pitchFamily="34" charset="0"/>
                <a:ea typeface="IBM Plex Sans" pitchFamily="34" charset="-122"/>
                <a:cs typeface="IBM Plex Sans" pitchFamily="34" charset="-120"/>
              </a:rPr>
              <a:t>WHY</a:t>
            </a:r>
            <a:endParaRPr lang="en-US" sz="1200" dirty="0"/>
          </a:p>
        </p:txBody>
      </p:sp>
      <p:sp>
        <p:nvSpPr>
          <p:cNvPr id="6" name="Text 4"/>
          <p:cNvSpPr/>
          <p:nvPr/>
        </p:nvSpPr>
        <p:spPr>
          <a:xfrm>
            <a:off x="1075267" y="2898775"/>
            <a:ext cx="2947585" cy="13589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Decks hold the same restricted content as email. Public tools cannot touch it, and no on-premise slide assistant exists today.</a:t>
            </a:r>
            <a:endParaRPr lang="en-US" sz="1500" dirty="0"/>
          </a:p>
        </p:txBody>
      </p:sp>
      <p:sp>
        <p:nvSpPr>
          <p:cNvPr id="7" name="Shape 5"/>
          <p:cNvSpPr/>
          <p:nvPr/>
        </p:nvSpPr>
        <p:spPr>
          <a:xfrm>
            <a:off x="4405842" y="2324629"/>
            <a:ext cx="3380317" cy="3514196"/>
          </a:xfrm>
          <a:prstGeom prst="roundRect">
            <a:avLst>
              <a:gd name="adj" fmla="val 2912"/>
            </a:avLst>
          </a:prstGeom>
          <a:solidFill>
            <a:srgbClr val="FDFCFA"/>
          </a:solidFill>
          <a:ln w="6350">
            <a:solidFill>
              <a:srgbClr val="DCDDD8"/>
            </a:solidFill>
            <a:prstDash val="solid"/>
          </a:ln>
        </p:spPr>
      </p:sp>
      <p:sp>
        <p:nvSpPr>
          <p:cNvPr id="8" name="Text 6"/>
          <p:cNvSpPr/>
          <p:nvPr/>
        </p:nvSpPr>
        <p:spPr>
          <a:xfrm>
            <a:off x="4665133" y="2583921"/>
            <a:ext cx="2947585" cy="238654"/>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8B"/>
                </a:solidFill>
                <a:latin typeface="IBM Plex Sans" pitchFamily="34" charset="0"/>
                <a:ea typeface="IBM Plex Sans" pitchFamily="34" charset="-122"/>
                <a:cs typeface="IBM Plex Sans" pitchFamily="34" charset="-120"/>
              </a:rPr>
              <a:t>HOW</a:t>
            </a:r>
            <a:endParaRPr lang="en-US" sz="1200" dirty="0"/>
          </a:p>
        </p:txBody>
      </p:sp>
      <p:sp>
        <p:nvSpPr>
          <p:cNvPr id="9" name="Text 7"/>
          <p:cNvSpPr/>
          <p:nvPr/>
        </p:nvSpPr>
        <p:spPr>
          <a:xfrm>
            <a:off x="4665133" y="2898775"/>
            <a:ext cx="2947585"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Reuse Maia’s backend, guardrails, PII masking, Redis and telemetry. Only image generation needs a new model.</a:t>
            </a:r>
            <a:endParaRPr lang="en-US" sz="1500" dirty="0"/>
          </a:p>
        </p:txBody>
      </p:sp>
      <p:sp>
        <p:nvSpPr>
          <p:cNvPr id="10" name="Shape 8"/>
          <p:cNvSpPr/>
          <p:nvPr/>
        </p:nvSpPr>
        <p:spPr>
          <a:xfrm>
            <a:off x="7998884" y="2327804"/>
            <a:ext cx="3373967" cy="3507846"/>
          </a:xfrm>
          <a:prstGeom prst="roundRect">
            <a:avLst>
              <a:gd name="adj" fmla="val 2823"/>
            </a:avLst>
          </a:prstGeom>
          <a:solidFill>
            <a:srgbClr val="E3EDF5"/>
          </a:solidFill>
          <a:ln w="12700">
            <a:solidFill>
              <a:srgbClr val="1F5F8B"/>
            </a:solidFill>
            <a:prstDash val="solid"/>
          </a:ln>
        </p:spPr>
      </p:sp>
      <p:sp>
        <p:nvSpPr>
          <p:cNvPr id="11" name="Text 9"/>
          <p:cNvSpPr/>
          <p:nvPr/>
        </p:nvSpPr>
        <p:spPr>
          <a:xfrm>
            <a:off x="8255000" y="2583921"/>
            <a:ext cx="2947585" cy="238654"/>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8B"/>
                </a:solidFill>
                <a:latin typeface="IBM Plex Sans" pitchFamily="34" charset="0"/>
                <a:ea typeface="IBM Plex Sans" pitchFamily="34" charset="-122"/>
                <a:cs typeface="IBM Plex Sans" pitchFamily="34" charset="-120"/>
              </a:rPr>
              <a:t>ASK</a:t>
            </a:r>
            <a:endParaRPr lang="en-US" sz="1200" dirty="0"/>
          </a:p>
        </p:txBody>
      </p:sp>
      <p:sp>
        <p:nvSpPr>
          <p:cNvPr id="12" name="Text 10"/>
          <p:cNvSpPr/>
          <p:nvPr/>
        </p:nvSpPr>
        <p:spPr>
          <a:xfrm>
            <a:off x="8255000" y="2898775"/>
            <a:ext cx="2947585"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Approve Phase 0 and Phase 1 (about 10–13 weeks, 1–2 developers) and choose the PowerPoint host technology.</a:t>
            </a:r>
            <a:endParaRPr lang="en-US" sz="1500" dirty="0"/>
          </a:p>
        </p:txBody>
      </p:sp>
      <p:sp>
        <p:nvSpPr>
          <p:cNvPr id="13" name="Text 11"/>
          <p:cNvSpPr/>
          <p:nvPr/>
        </p:nvSpPr>
        <p:spPr>
          <a:xfrm>
            <a:off x="812800" y="6238346"/>
            <a:ext cx="10883392"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Maia for PowerPoint · Project proposal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654"/>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8B"/>
                </a:solidFill>
                <a:latin typeface="IBM Plex Sans" pitchFamily="34" charset="0"/>
                <a:ea typeface="IBM Plex Sans" pitchFamily="34" charset="-122"/>
                <a:cs typeface="IBM Plex Sans" pitchFamily="34" charset="-120"/>
              </a:rPr>
              <a:t>THE PROBLEM</a:t>
            </a:r>
            <a:endParaRPr lang="en-US" sz="1200" dirty="0"/>
          </a:p>
        </p:txBody>
      </p:sp>
      <p:sp>
        <p:nvSpPr>
          <p:cNvPr id="3" name="Text 1"/>
          <p:cNvSpPr/>
          <p:nvPr>
            <p:ph type="title"/>
          </p:nvPr>
        </p:nvSpPr>
        <p:spPr>
          <a:xfrm>
            <a:off x="812800" y="1127655"/>
            <a:ext cx="10883392" cy="8636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Source Serif 4" pitchFamily="18" charset="0"/>
                <a:ea typeface="Source Serif 4" pitchFamily="18" charset="-122"/>
                <a:cs typeface="Source Serif 4" pitchFamily="18" charset="-120"/>
              </a:rPr>
              <a:t>Decks carry the same restricted content as email, with no AI help</a:t>
            </a:r>
            <a:endParaRPr lang="en-US" sz="3000" dirty="0"/>
          </a:p>
        </p:txBody>
      </p:sp>
      <p:sp>
        <p:nvSpPr>
          <p:cNvPr id="4" name="Shape 2"/>
          <p:cNvSpPr/>
          <p:nvPr/>
        </p:nvSpPr>
        <p:spPr>
          <a:xfrm>
            <a:off x="812800" y="2324630"/>
            <a:ext cx="10566400" cy="0"/>
          </a:xfrm>
          <a:prstGeom prst="line">
            <a:avLst/>
          </a:prstGeom>
          <a:noFill/>
          <a:ln w="6350">
            <a:solidFill>
              <a:srgbClr val="DCDDD8"/>
            </a:solidFill>
            <a:prstDash val="solid"/>
          </a:ln>
        </p:spPr>
      </p:sp>
      <p:sp>
        <p:nvSpPr>
          <p:cNvPr id="5" name="Text 3"/>
          <p:cNvSpPr/>
          <p:nvPr/>
        </p:nvSpPr>
        <p:spPr>
          <a:xfrm>
            <a:off x="812800" y="2507721"/>
            <a:ext cx="1574800" cy="345414"/>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F5F8B"/>
                </a:solidFill>
                <a:latin typeface="IBM Plex Sans" pitchFamily="34" charset="0"/>
                <a:ea typeface="IBM Plex Sans" pitchFamily="34" charset="-122"/>
                <a:cs typeface="IBM Plex Sans" pitchFamily="34" charset="-120"/>
              </a:rPr>
              <a:t>Read</a:t>
            </a:r>
            <a:endParaRPr lang="en-US" sz="1800" dirty="0"/>
          </a:p>
        </p:txBody>
      </p:sp>
      <p:sp>
        <p:nvSpPr>
          <p:cNvPr id="6" name="Text 4"/>
          <p:cNvSpPr/>
          <p:nvPr/>
        </p:nvSpPr>
        <p:spPr>
          <a:xfrm>
            <a:off x="2641600" y="2541588"/>
            <a:ext cx="8999728"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Officers read long briefings and proposals without help.</a:t>
            </a:r>
            <a:endParaRPr lang="en-US" sz="1600" dirty="0"/>
          </a:p>
        </p:txBody>
      </p:sp>
      <p:sp>
        <p:nvSpPr>
          <p:cNvPr id="7" name="Shape 5"/>
          <p:cNvSpPr/>
          <p:nvPr/>
        </p:nvSpPr>
        <p:spPr>
          <a:xfrm>
            <a:off x="812800" y="3008709"/>
            <a:ext cx="10566400" cy="0"/>
          </a:xfrm>
          <a:prstGeom prst="line">
            <a:avLst/>
          </a:prstGeom>
          <a:noFill/>
          <a:ln w="6350">
            <a:solidFill>
              <a:srgbClr val="DCDDD8"/>
            </a:solidFill>
            <a:prstDash val="solid"/>
          </a:ln>
        </p:spPr>
      </p:sp>
      <p:sp>
        <p:nvSpPr>
          <p:cNvPr id="8" name="Text 6"/>
          <p:cNvSpPr/>
          <p:nvPr/>
        </p:nvSpPr>
        <p:spPr>
          <a:xfrm>
            <a:off x="812800" y="3191802"/>
            <a:ext cx="1574800" cy="345414"/>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F5F8B"/>
                </a:solidFill>
                <a:latin typeface="IBM Plex Sans" pitchFamily="34" charset="0"/>
                <a:ea typeface="IBM Plex Sans" pitchFamily="34" charset="-122"/>
                <a:cs typeface="IBM Plex Sans" pitchFamily="34" charset="-120"/>
              </a:rPr>
              <a:t>Present</a:t>
            </a:r>
            <a:endParaRPr lang="en-US" sz="1800" dirty="0"/>
          </a:p>
        </p:txBody>
      </p:sp>
      <p:sp>
        <p:nvSpPr>
          <p:cNvPr id="9" name="Text 7"/>
          <p:cNvSpPr/>
          <p:nvPr/>
        </p:nvSpPr>
        <p:spPr>
          <a:xfrm>
            <a:off x="2641600" y="3225668"/>
            <a:ext cx="8999728"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Speaker notes are written by hand, slide by slide.</a:t>
            </a:r>
            <a:endParaRPr lang="en-US" sz="1600" dirty="0"/>
          </a:p>
        </p:txBody>
      </p:sp>
      <p:sp>
        <p:nvSpPr>
          <p:cNvPr id="10" name="Shape 8"/>
          <p:cNvSpPr/>
          <p:nvPr/>
        </p:nvSpPr>
        <p:spPr>
          <a:xfrm>
            <a:off x="812800" y="3692790"/>
            <a:ext cx="10566400" cy="0"/>
          </a:xfrm>
          <a:prstGeom prst="line">
            <a:avLst/>
          </a:prstGeom>
          <a:noFill/>
          <a:ln w="6350">
            <a:solidFill>
              <a:srgbClr val="DCDDD8"/>
            </a:solidFill>
            <a:prstDash val="solid"/>
          </a:ln>
        </p:spPr>
      </p:sp>
      <p:sp>
        <p:nvSpPr>
          <p:cNvPr id="11" name="Shape 9"/>
          <p:cNvSpPr/>
          <p:nvPr/>
        </p:nvSpPr>
        <p:spPr>
          <a:xfrm>
            <a:off x="812800" y="4378987"/>
            <a:ext cx="10566400" cy="0"/>
          </a:xfrm>
          <a:prstGeom prst="line">
            <a:avLst/>
          </a:prstGeom>
          <a:noFill/>
          <a:ln w="6350">
            <a:solidFill>
              <a:srgbClr val="DCDDD8"/>
            </a:solidFill>
            <a:prstDash val="solid"/>
          </a:ln>
        </p:spPr>
      </p:sp>
      <p:sp>
        <p:nvSpPr>
          <p:cNvPr id="12" name="Text 10"/>
          <p:cNvSpPr/>
          <p:nvPr/>
        </p:nvSpPr>
        <p:spPr>
          <a:xfrm>
            <a:off x="812800" y="3875881"/>
            <a:ext cx="1574800" cy="345414"/>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F5F8B"/>
                </a:solidFill>
                <a:latin typeface="IBM Plex Sans" pitchFamily="34" charset="0"/>
                <a:ea typeface="IBM Plex Sans" pitchFamily="34" charset="-122"/>
                <a:cs typeface="IBM Plex Sans" pitchFamily="34" charset="-120"/>
              </a:rPr>
              <a:t>Build</a:t>
            </a:r>
            <a:endParaRPr lang="en-US" sz="1800" dirty="0"/>
          </a:p>
        </p:txBody>
      </p:sp>
      <p:sp>
        <p:nvSpPr>
          <p:cNvPr id="13" name="Text 11"/>
          <p:cNvSpPr/>
          <p:nvPr/>
        </p:nvSpPr>
        <p:spPr>
          <a:xfrm>
            <a:off x="2641600" y="3909749"/>
            <a:ext cx="8999728"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New decks are assembled manually from emails and documents.</a:t>
            </a:r>
            <a:endParaRPr lang="en-US" sz="1600" dirty="0"/>
          </a:p>
        </p:txBody>
      </p:sp>
      <p:sp>
        <p:nvSpPr>
          <p:cNvPr id="14" name="Text 12"/>
          <p:cNvSpPr/>
          <p:nvPr/>
        </p:nvSpPr>
        <p:spPr>
          <a:xfrm>
            <a:off x="812800" y="4737762"/>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Copilot in PowerPoint does all three, but it cannot be used on restricted material.</a:t>
            </a:r>
            <a:endParaRPr lang="en-US" sz="1400" dirty="0"/>
          </a:p>
        </p:txBody>
      </p:sp>
      <p:sp>
        <p:nvSpPr>
          <p:cNvPr id="15" name="Text 13"/>
          <p:cNvSpPr/>
          <p:nvPr/>
        </p:nvSpPr>
        <p:spPr>
          <a:xfrm>
            <a:off x="812800" y="6238346"/>
            <a:ext cx="10883392"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Maia for PowerPoint · Project proposal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654"/>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8B"/>
                </a:solidFill>
                <a:latin typeface="IBM Plex Sans" pitchFamily="34" charset="0"/>
                <a:ea typeface="IBM Plex Sans" pitchFamily="34" charset="-122"/>
                <a:cs typeface="IBM Plex Sans" pitchFamily="34" charset="-120"/>
              </a:rPr>
              <a:t>SCOPE</a:t>
            </a:r>
            <a:endParaRPr lang="en-US" sz="1200" dirty="0"/>
          </a:p>
        </p:txBody>
      </p:sp>
      <p:sp>
        <p:nvSpPr>
          <p:cNvPr id="3" name="Text 1"/>
          <p:cNvSpPr/>
          <p:nvPr>
            <p:ph type="title"/>
          </p:nvPr>
        </p:nvSpPr>
        <p:spPr>
          <a:xfrm>
            <a:off x="812800" y="1127655"/>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Source Serif 4" pitchFamily="18" charset="0"/>
                <a:ea typeface="Source Serif 4" pitchFamily="18" charset="-122"/>
                <a:cs typeface="Source Serif 4" pitchFamily="18" charset="-120"/>
              </a:rPr>
              <a:t>Read the deck first, then write it</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1267" y="1809222"/>
          <a:ext cx="10557933" cy="2839508"/>
        </p:xfrm>
        <a:graphic>
          <a:graphicData uri="http://schemas.openxmlformats.org/drawingml/2006/table">
            <a:tbl>
              <a:tblPr/>
              <a:tblGrid>
                <a:gridCol w="1055793"/>
                <a:gridCol w="2956221"/>
                <a:gridCol w="6545919"/>
              </a:tblGrid>
              <a:tr h="354939">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Phase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Feature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What the user gets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r>
              <a:tr h="354939">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Foundation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Plugin, deck-to-JSON, /api/ppt endpoints, async jobs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4939">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1.1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Deck summarisation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Summary, decisions and actions, citing slides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4939">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1.3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Speaker notes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Notes per slide by length, tone and audience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4939">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1.2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Prompt to presentation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Editable outline, then slides on the DSTA template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4939">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2.1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BCBCB7"/>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CBCB7"/>
                      </a:solidFill>
                      <a:prstDash val="solid"/>
                      <a:round/>
                      <a:headEnd type="none" w="med" len="med"/>
                      <a:tailEnd type="none" w="med" len="med"/>
                    </a:lnB>
                    <a:solidFill>
                      <a:srgbClr val="ECEBE5"/>
                    </a:solidFill>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Text to visual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CB7"/>
                      </a:solidFill>
                      <a:prstDash val="solid"/>
                      <a:round/>
                      <a:headEnd type="none" w="med" len="med"/>
                      <a:tailEnd type="none" w="med" len="med"/>
                    </a:lnL>
                    <a:lnR w="12700" cap="flat" cmpd="sng" algn="ctr">
                      <a:solidFill>
                        <a:srgbClr val="BCBCB7"/>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CBCB7"/>
                      </a:solidFill>
                      <a:prstDash val="solid"/>
                      <a:round/>
                      <a:headEnd type="none" w="med" len="med"/>
                      <a:tailEnd type="none" w="med" len="med"/>
                    </a:lnB>
                    <a:solidFill>
                      <a:srgbClr val="ECEBE5"/>
                    </a:solidFill>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Native, editable charts and diagrams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CB7"/>
                      </a:solidFill>
                      <a:prstDash val="solid"/>
                      <a:round/>
                      <a:headEnd type="none" w="med" len="med"/>
                      <a:tailEnd type="none" w="med" len="med"/>
                    </a:lnL>
                    <a:lnR w="12700" cap="flat" cmpd="sng" algn="ctr">
                      <a:solidFill>
                        <a:srgbClr val="BCBCB7"/>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CBCB7"/>
                      </a:solidFill>
                      <a:prstDash val="solid"/>
                      <a:round/>
                      <a:headEnd type="none" w="med" len="med"/>
                      <a:tailEnd type="none" w="med" len="med"/>
                    </a:lnB>
                    <a:solidFill>
                      <a:srgbClr val="ECEBE5"/>
                    </a:solidFill>
                  </a:tcPr>
                </a:tc>
              </a:tr>
              <a:tr h="354939">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2.3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BCBCB7"/>
                      </a:solidFill>
                      <a:prstDash val="solid"/>
                      <a:round/>
                      <a:headEnd type="none" w="med" len="med"/>
                      <a:tailEnd type="none" w="med" len="med"/>
                    </a:lnR>
                    <a:lnT w="12700" cap="flat" cmpd="sng" algn="ctr">
                      <a:solidFill>
                        <a:srgbClr val="BCBCB7"/>
                      </a:solidFill>
                      <a:prstDash val="solid"/>
                      <a:round/>
                      <a:headEnd type="none" w="med" len="med"/>
                      <a:tailEnd type="none" w="med" len="med"/>
                    </a:lnT>
                    <a:lnB w="12700" cap="flat" cmpd="sng" algn="ctr">
                      <a:solidFill>
                        <a:srgbClr val="BCBCB7"/>
                      </a:solidFill>
                      <a:prstDash val="solid"/>
                      <a:round/>
                      <a:headEnd type="none" w="med" len="med"/>
                      <a:tailEnd type="none" w="med" len="med"/>
                    </a:lnB>
                    <a:solidFill>
                      <a:srgbClr val="ECEBE5"/>
                    </a:solidFill>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Condense and rewrite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CB7"/>
                      </a:solidFill>
                      <a:prstDash val="solid"/>
                      <a:round/>
                      <a:headEnd type="none" w="med" len="med"/>
                      <a:tailEnd type="none" w="med" len="med"/>
                    </a:lnL>
                    <a:lnR w="12700" cap="flat" cmpd="sng" algn="ctr">
                      <a:solidFill>
                        <a:srgbClr val="BCBCB7"/>
                      </a:solidFill>
                      <a:prstDash val="solid"/>
                      <a:round/>
                      <a:headEnd type="none" w="med" len="med"/>
                      <a:tailEnd type="none" w="med" len="med"/>
                    </a:lnR>
                    <a:lnT w="12700" cap="flat" cmpd="sng" algn="ctr">
                      <a:solidFill>
                        <a:srgbClr val="BCBCB7"/>
                      </a:solidFill>
                      <a:prstDash val="solid"/>
                      <a:round/>
                      <a:headEnd type="none" w="med" len="med"/>
                      <a:tailEnd type="none" w="med" len="med"/>
                    </a:lnT>
                    <a:lnB w="12700" cap="flat" cmpd="sng" algn="ctr">
                      <a:solidFill>
                        <a:srgbClr val="BCBCB7"/>
                      </a:solidFill>
                      <a:prstDash val="solid"/>
                      <a:round/>
                      <a:headEnd type="none" w="med" len="med"/>
                      <a:tailEnd type="none" w="med" len="med"/>
                    </a:lnB>
                    <a:solidFill>
                      <a:srgbClr val="ECEBE5"/>
                    </a:solidFill>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Fix overflow, split slides, rewrite for an audience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CB7"/>
                      </a:solidFill>
                      <a:prstDash val="solid"/>
                      <a:round/>
                      <a:headEnd type="none" w="med" len="med"/>
                      <a:tailEnd type="none" w="med" len="med"/>
                    </a:lnL>
                    <a:lnR w="12700" cap="flat" cmpd="sng" algn="ctr">
                      <a:solidFill>
                        <a:srgbClr val="BCBCB7"/>
                      </a:solidFill>
                      <a:prstDash val="solid"/>
                      <a:round/>
                      <a:headEnd type="none" w="med" len="med"/>
                      <a:tailEnd type="none" w="med" len="med"/>
                    </a:lnR>
                    <a:lnT w="12700" cap="flat" cmpd="sng" algn="ctr">
                      <a:solidFill>
                        <a:srgbClr val="BCBCB7"/>
                      </a:solidFill>
                      <a:prstDash val="solid"/>
                      <a:round/>
                      <a:headEnd type="none" w="med" len="med"/>
                      <a:tailEnd type="none" w="med" len="med"/>
                    </a:lnT>
                    <a:lnB w="12700" cap="flat" cmpd="sng" algn="ctr">
                      <a:solidFill>
                        <a:srgbClr val="BCBCB7"/>
                      </a:solidFill>
                      <a:prstDash val="solid"/>
                      <a:round/>
                      <a:headEnd type="none" w="med" len="med"/>
                      <a:tailEnd type="none" w="med" len="med"/>
                    </a:lnB>
                    <a:solidFill>
                      <a:srgbClr val="ECEBE5"/>
                    </a:solidFill>
                  </a:tcPr>
                </a:tc>
              </a:tr>
              <a:tr h="354939">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2.2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BCBCB7"/>
                      </a:solidFill>
                      <a:prstDash val="solid"/>
                      <a:round/>
                      <a:headEnd type="none" w="med" len="med"/>
                      <a:tailEnd type="none" w="med" len="med"/>
                    </a:lnR>
                    <a:lnT w="12700" cap="flat" cmpd="sng" algn="ctr">
                      <a:solidFill>
                        <a:srgbClr val="BCBCB7"/>
                      </a:solidFill>
                      <a:prstDash val="solid"/>
                      <a:round/>
                      <a:headEnd type="none" w="med" len="med"/>
                      <a:tailEnd type="none" w="med" len="med"/>
                    </a:lnT>
                    <a:lnB w="12700" cap="flat" cmpd="sng" algn="ctr">
                      <a:solidFill>
                        <a:srgbClr val="BCBCB7"/>
                      </a:solidFill>
                      <a:prstDash val="solid"/>
                      <a:round/>
                      <a:headEnd type="none" w="med" len="med"/>
                      <a:tailEnd type="none" w="med" len="med"/>
                    </a:lnB>
                    <a:solidFill>
                      <a:srgbClr val="ECEBE5"/>
                    </a:solidFill>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Image generation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CB7"/>
                      </a:solidFill>
                      <a:prstDash val="solid"/>
                      <a:round/>
                      <a:headEnd type="none" w="med" len="med"/>
                      <a:tailEnd type="none" w="med" len="med"/>
                    </a:lnL>
                    <a:lnR w="12700" cap="flat" cmpd="sng" algn="ctr">
                      <a:solidFill>
                        <a:srgbClr val="BCBCB7"/>
                      </a:solidFill>
                      <a:prstDash val="solid"/>
                      <a:round/>
                      <a:headEnd type="none" w="med" len="med"/>
                      <a:tailEnd type="none" w="med" len="med"/>
                    </a:lnR>
                    <a:lnT w="12700" cap="flat" cmpd="sng" algn="ctr">
                      <a:solidFill>
                        <a:srgbClr val="BCBCB7"/>
                      </a:solidFill>
                      <a:prstDash val="solid"/>
                      <a:round/>
                      <a:headEnd type="none" w="med" len="med"/>
                      <a:tailEnd type="none" w="med" len="med"/>
                    </a:lnT>
                    <a:lnB w="12700" cap="flat" cmpd="sng" algn="ctr">
                      <a:solidFill>
                        <a:srgbClr val="BCBCB7"/>
                      </a:solidFill>
                      <a:prstDash val="solid"/>
                      <a:round/>
                      <a:headEnd type="none" w="med" len="med"/>
                      <a:tailEnd type="none" w="med" len="med"/>
                    </a:lnB>
                    <a:solidFill>
                      <a:srgbClr val="ECEBE5"/>
                    </a:solidFill>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Illustrations from an on-premise image model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CB7"/>
                      </a:solidFill>
                      <a:prstDash val="solid"/>
                      <a:round/>
                      <a:headEnd type="none" w="med" len="med"/>
                      <a:tailEnd type="none" w="med" len="med"/>
                    </a:lnL>
                    <a:lnR w="12700" cap="flat" cmpd="sng" algn="ctr">
                      <a:solidFill>
                        <a:srgbClr val="BCBCB7"/>
                      </a:solidFill>
                      <a:prstDash val="solid"/>
                      <a:round/>
                      <a:headEnd type="none" w="med" len="med"/>
                      <a:tailEnd type="none" w="med" len="med"/>
                    </a:lnR>
                    <a:lnT w="12700" cap="flat" cmpd="sng" algn="ctr">
                      <a:solidFill>
                        <a:srgbClr val="BCBCB7"/>
                      </a:solidFill>
                      <a:prstDash val="solid"/>
                      <a:round/>
                      <a:headEnd type="none" w="med" len="med"/>
                      <a:tailEnd type="none" w="med" len="med"/>
                    </a:lnT>
                    <a:lnB w="12700" cap="flat" cmpd="sng" algn="ctr">
                      <a:solidFill>
                        <a:srgbClr val="BCBCB7"/>
                      </a:solidFill>
                      <a:prstDash val="solid"/>
                      <a:round/>
                      <a:headEnd type="none" w="med" len="med"/>
                      <a:tailEnd type="none" w="med" len="med"/>
                    </a:lnB>
                    <a:solidFill>
                      <a:srgbClr val="ECEBE5"/>
                    </a:solidFill>
                  </a:tcPr>
                </a:tc>
              </a:tr>
            </a:tbl>
          </a:graphicData>
        </a:graphic>
      </p:graphicFrame>
      <p:sp>
        <p:nvSpPr>
          <p:cNvPr id="5" name="Text 2"/>
          <p:cNvSpPr/>
          <p:nvPr/>
        </p:nvSpPr>
        <p:spPr>
          <a:xfrm>
            <a:off x="812800" y="4902730"/>
            <a:ext cx="10883392"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Out of scope: sending or publishing decks automatically, web search, external model APIs in production.</a:t>
            </a:r>
            <a:endParaRPr lang="en-US" sz="1200" dirty="0"/>
          </a:p>
        </p:txBody>
      </p:sp>
      <p:sp>
        <p:nvSpPr>
          <p:cNvPr id="6" name="Text 3"/>
          <p:cNvSpPr/>
          <p:nvPr/>
        </p:nvSpPr>
        <p:spPr>
          <a:xfrm>
            <a:off x="812800" y="6238348"/>
            <a:ext cx="10883392"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Maia for PowerPoint · Project proposal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654"/>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8B"/>
                </a:solidFill>
                <a:latin typeface="IBM Plex Sans" pitchFamily="34" charset="0"/>
                <a:ea typeface="IBM Plex Sans" pitchFamily="34" charset="-122"/>
                <a:cs typeface="IBM Plex Sans" pitchFamily="34" charset="-120"/>
              </a:rPr>
              <a:t>HOW OTHERS DO IT</a:t>
            </a:r>
            <a:endParaRPr lang="en-US" sz="1200" dirty="0"/>
          </a:p>
        </p:txBody>
      </p:sp>
      <p:sp>
        <p:nvSpPr>
          <p:cNvPr id="3" name="Text 1"/>
          <p:cNvSpPr/>
          <p:nvPr>
            <p:ph type="title"/>
          </p:nvPr>
        </p:nvSpPr>
        <p:spPr>
          <a:xfrm>
            <a:off x="812800" y="1127655"/>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Source Serif 4" pitchFamily="18" charset="0"/>
                <a:ea typeface="Source Serif 4" pitchFamily="18" charset="-122"/>
                <a:cs typeface="Source Serif 4" pitchFamily="18" charset="-120"/>
              </a:rPr>
              <a:t>Two open-source projects can run on our own models</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1267" y="1809222"/>
          <a:ext cx="10557933" cy="2298436"/>
        </p:xfrm>
        <a:graphic>
          <a:graphicData uri="http://schemas.openxmlformats.org/drawingml/2006/table">
            <a:tbl>
              <a:tblPr/>
              <a:tblGrid>
                <a:gridCol w="2428325"/>
                <a:gridCol w="4539911"/>
                <a:gridCol w="3589697"/>
              </a:tblGrid>
              <a:tr h="328348">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Tool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Approach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Lesson for Maia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r>
              <a:tr h="328348">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Copilot in PowerPoint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In-app: drafts, rewrites, writes notes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Our taskpane and chat design matches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28348">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Gamma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Topic, outline review, deck in about 1 minute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Make the outline editable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28348">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Presenton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B5BD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5BDC3"/>
                      </a:solidFill>
                      <a:prstDash val="solid"/>
                      <a:round/>
                      <a:headEnd type="none" w="med" len="med"/>
                      <a:tailEnd type="none" w="med" len="med"/>
                    </a:lnB>
                    <a:solidFill>
                      <a:srgbClr val="E3EDF5"/>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Open source, self-hosted, editable PPTX</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DC3"/>
                      </a:solidFill>
                      <a:prstDash val="solid"/>
                      <a:round/>
                      <a:headEnd type="none" w="med" len="med"/>
                      <a:tailEnd type="none" w="med" len="med"/>
                    </a:lnL>
                    <a:lnR w="12700" cap="flat" cmpd="sng" algn="ctr">
                      <a:solidFill>
                        <a:srgbClr val="B5BD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5BDC3"/>
                      </a:solidFill>
                      <a:prstDash val="solid"/>
                      <a:round/>
                      <a:headEnd type="none" w="med" len="med"/>
                      <a:tailEnd type="none" w="med" len="med"/>
                    </a:lnB>
                    <a:solidFill>
                      <a:srgbClr val="E3EDF5"/>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Candidate engine for prompt-to-deck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DC3"/>
                      </a:solidFill>
                      <a:prstDash val="solid"/>
                      <a:round/>
                      <a:headEnd type="none" w="med" len="med"/>
                      <a:tailEnd type="none" w="med" len="med"/>
                    </a:lnL>
                    <a:lnR w="12700" cap="flat" cmpd="sng" algn="ctr">
                      <a:solidFill>
                        <a:srgbClr val="B5BD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5BDC3"/>
                      </a:solidFill>
                      <a:prstDash val="solid"/>
                      <a:round/>
                      <a:headEnd type="none" w="med" len="med"/>
                      <a:tailEnd type="none" w="med" len="med"/>
                    </a:lnB>
                    <a:solidFill>
                      <a:srgbClr val="E3EDF5"/>
                    </a:solidFill>
                  </a:tcPr>
                </a:tc>
              </a:tr>
              <a:tr h="328348">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PPTAgent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B5BDC3"/>
                      </a:solidFill>
                      <a:prstDash val="solid"/>
                      <a:round/>
                      <a:headEnd type="none" w="med" len="med"/>
                      <a:tailEnd type="none" w="med" len="med"/>
                    </a:lnR>
                    <a:lnT w="12700" cap="flat" cmpd="sng" algn="ctr">
                      <a:solidFill>
                        <a:srgbClr val="B5BDC3"/>
                      </a:solidFill>
                      <a:prstDash val="solid"/>
                      <a:round/>
                      <a:headEnd type="none" w="med" len="med"/>
                      <a:tailEnd type="none" w="med" len="med"/>
                    </a:lnT>
                    <a:lnB w="12700" cap="flat" cmpd="sng" algn="ctr">
                      <a:solidFill>
                        <a:srgbClr val="B5BDC3"/>
                      </a:solidFill>
                      <a:prstDash val="solid"/>
                      <a:round/>
                      <a:headEnd type="none" w="med" len="med"/>
                      <a:tailEnd type="none" w="med" len="med"/>
                    </a:lnB>
                    <a:solidFill>
                      <a:srgbClr val="E3EDF5"/>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Edits reference slides, keeps their layout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DC3"/>
                      </a:solidFill>
                      <a:prstDash val="solid"/>
                      <a:round/>
                      <a:headEnd type="none" w="med" len="med"/>
                      <a:tailEnd type="none" w="med" len="med"/>
                    </a:lnL>
                    <a:lnR w="12700" cap="flat" cmpd="sng" algn="ctr">
                      <a:solidFill>
                        <a:srgbClr val="B5BDC3"/>
                      </a:solidFill>
                      <a:prstDash val="solid"/>
                      <a:round/>
                      <a:headEnd type="none" w="med" len="med"/>
                      <a:tailEnd type="none" w="med" len="med"/>
                    </a:lnR>
                    <a:lnT w="12700" cap="flat" cmpd="sng" algn="ctr">
                      <a:solidFill>
                        <a:srgbClr val="B5BDC3"/>
                      </a:solidFill>
                      <a:prstDash val="solid"/>
                      <a:round/>
                      <a:headEnd type="none" w="med" len="med"/>
                      <a:tailEnd type="none" w="med" len="med"/>
                    </a:lnT>
                    <a:lnB w="12700" cap="flat" cmpd="sng" algn="ctr">
                      <a:solidFill>
                        <a:srgbClr val="B5BDC3"/>
                      </a:solidFill>
                      <a:prstDash val="solid"/>
                      <a:round/>
                      <a:headEnd type="none" w="med" len="med"/>
                      <a:tailEnd type="none" w="med" len="med"/>
                    </a:lnB>
                    <a:solidFill>
                      <a:srgbClr val="E3EDF5"/>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Best fit for the DSTA template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DC3"/>
                      </a:solidFill>
                      <a:prstDash val="solid"/>
                      <a:round/>
                      <a:headEnd type="none" w="med" len="med"/>
                      <a:tailEnd type="none" w="med" len="med"/>
                    </a:lnL>
                    <a:lnR w="12700" cap="flat" cmpd="sng" algn="ctr">
                      <a:solidFill>
                        <a:srgbClr val="B5BDC3"/>
                      </a:solidFill>
                      <a:prstDash val="solid"/>
                      <a:round/>
                      <a:headEnd type="none" w="med" len="med"/>
                      <a:tailEnd type="none" w="med" len="med"/>
                    </a:lnR>
                    <a:lnT w="12700" cap="flat" cmpd="sng" algn="ctr">
                      <a:solidFill>
                        <a:srgbClr val="B5BDC3"/>
                      </a:solidFill>
                      <a:prstDash val="solid"/>
                      <a:round/>
                      <a:headEnd type="none" w="med" len="med"/>
                      <a:tailEnd type="none" w="med" len="med"/>
                    </a:lnT>
                    <a:lnB w="12700" cap="flat" cmpd="sng" algn="ctr">
                      <a:solidFill>
                        <a:srgbClr val="B5BDC3"/>
                      </a:solidFill>
                      <a:prstDash val="solid"/>
                      <a:round/>
                      <a:headEnd type="none" w="med" len="med"/>
                      <a:tailEnd type="none" w="med" len="med"/>
                    </a:lnB>
                    <a:solidFill>
                      <a:srgbClr val="E3EDF5"/>
                    </a:solidFill>
                  </a:tcPr>
                </a:tc>
              </a:tr>
              <a:tr h="328348">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Napkin AI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5BD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Picks a visual type, draws an editable diagram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5BD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Model for 2.1; keep it source-bound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5BD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28348">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GovTech Pair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Approved to RESTRICTED; no slide feature found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Fills a gap; copy its value metric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sp>
        <p:nvSpPr>
          <p:cNvPr id="5" name="Text 2"/>
          <p:cNvSpPr/>
          <p:nvPr/>
        </p:nvSpPr>
        <p:spPr>
          <a:xfrm>
            <a:off x="812800" y="4361656"/>
            <a:ext cx="10883392"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Shaded: open source (Apache 2.0 and academic), both support local, OpenAI-compatible models.</a:t>
            </a:r>
            <a:endParaRPr lang="en-US" sz="1200" dirty="0"/>
          </a:p>
        </p:txBody>
      </p:sp>
      <p:sp>
        <p:nvSpPr>
          <p:cNvPr id="6" name="Text 3"/>
          <p:cNvSpPr/>
          <p:nvPr/>
        </p:nvSpPr>
        <p:spPr>
          <a:xfrm>
            <a:off x="812800" y="6238348"/>
            <a:ext cx="10883392"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Maia for PowerPoint · Project proposal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F5F8B"/>
        </a:solidFill>
      </p:bgPr>
    </p:bg>
    <p:spTree>
      <p:nvGrpSpPr>
        <p:cNvPr id="1" name=""/>
        <p:cNvGrpSpPr/>
        <p:nvPr/>
      </p:nvGrpSpPr>
      <p:grpSpPr>
        <a:xfrm>
          <a:off x="0" y="0"/>
          <a:ext cx="0" cy="0"/>
          <a:chOff x="0" y="0"/>
          <a:chExt cx="0" cy="0"/>
        </a:xfrm>
      </p:grpSpPr>
      <p:sp>
        <p:nvSpPr>
          <p:cNvPr id="2" name="Text 0"/>
          <p:cNvSpPr/>
          <p:nvPr/>
        </p:nvSpPr>
        <p:spPr>
          <a:xfrm>
            <a:off x="812800" y="2418159"/>
            <a:ext cx="10883392" cy="238654"/>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D6E6F2"/>
                </a:solidFill>
                <a:latin typeface="IBM Plex Sans" pitchFamily="34" charset="0"/>
                <a:ea typeface="IBM Plex Sans" pitchFamily="34" charset="-122"/>
                <a:cs typeface="IBM Plex Sans" pitchFamily="34" charset="-120"/>
              </a:rPr>
              <a:t>THE COMMON PATTERN</a:t>
            </a:r>
            <a:endParaRPr lang="en-US" sz="1200" dirty="0"/>
          </a:p>
        </p:txBody>
      </p:sp>
      <p:sp>
        <p:nvSpPr>
          <p:cNvPr id="3" name="Text 1"/>
          <p:cNvSpPr/>
          <p:nvPr>
            <p:ph type="title"/>
          </p:nvPr>
        </p:nvSpPr>
        <p:spPr>
          <a:xfrm>
            <a:off x="812800" y="2936215"/>
            <a:ext cx="11379200" cy="5842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F7F6F2"/>
                </a:solidFill>
                <a:latin typeface="Source Serif 4" pitchFamily="18" charset="0"/>
                <a:ea typeface="Source Serif 4" pitchFamily="18" charset="-122"/>
                <a:cs typeface="Source Serif 4" pitchFamily="18" charset="-120"/>
              </a:rPr>
              <a:t>Outline first, user review, then render</a:t>
            </a:r>
            <a:endParaRPr lang="en-US" sz="4000" dirty="0"/>
          </a:p>
        </p:txBody>
      </p:sp>
      <p:sp>
        <p:nvSpPr>
          <p:cNvPr id="4" name="Text 2"/>
          <p:cNvSpPr/>
          <p:nvPr/>
        </p:nvSpPr>
        <p:spPr>
          <a:xfrm>
            <a:off x="812800" y="3799815"/>
            <a:ext cx="8502650" cy="665427"/>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E6EFF6"/>
                </a:solidFill>
                <a:latin typeface="IBM Plex Sans" pitchFamily="34" charset="0"/>
                <a:ea typeface="IBM Plex Sans" pitchFamily="34" charset="-122"/>
                <a:cs typeface="IBM Plex Sans" pitchFamily="34" charset="-120"/>
              </a:rPr>
              <a:t>Copilot, Gamma, Presenton and PPTAgent all work this way. The outline is the cheapest place to fix a deck, so Maia will make it editable.</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238348"/>
            <a:ext cx="10883392"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Blue: existing Maia components, reused · Dashed: new, Phase 2.2 only · 7</a:t>
            </a:r>
            <a:endParaRPr lang="en-US" sz="1200" dirty="0"/>
          </a:p>
        </p:txBody>
      </p:sp>
      <p:sp>
        <p:nvSpPr>
          <p:cNvPr id="3" name="Text 1"/>
          <p:cNvSpPr/>
          <p:nvPr/>
        </p:nvSpPr>
        <p:spPr>
          <a:xfrm>
            <a:off x="812800" y="812800"/>
            <a:ext cx="10883392" cy="238654"/>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8B"/>
                </a:solidFill>
                <a:latin typeface="IBM Plex Sans" pitchFamily="34" charset="0"/>
                <a:ea typeface="IBM Plex Sans" pitchFamily="34" charset="-122"/>
                <a:cs typeface="IBM Plex Sans" pitchFamily="34" charset="-120"/>
              </a:rPr>
              <a:t>ARCHITECTURE</a:t>
            </a:r>
            <a:endParaRPr lang="en-US" sz="1200" dirty="0"/>
          </a:p>
        </p:txBody>
      </p:sp>
      <p:sp>
        <p:nvSpPr>
          <p:cNvPr id="4" name="Text 2"/>
          <p:cNvSpPr/>
          <p:nvPr>
            <p:ph type="title"/>
          </p:nvPr>
        </p:nvSpPr>
        <p:spPr>
          <a:xfrm>
            <a:off x="812800" y="1127655"/>
            <a:ext cx="10883392" cy="416454"/>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13D"/>
                </a:solidFill>
                <a:latin typeface="Source Serif 4" pitchFamily="18" charset="0"/>
                <a:ea typeface="Source Serif 4" pitchFamily="18" charset="-122"/>
                <a:cs typeface="Source Serif 4" pitchFamily="18" charset="-120"/>
              </a:rPr>
              <a:t>New PowerPoint parts sit on Maia’s existing pipeline</a:t>
            </a:r>
            <a:endParaRPr lang="en-US" sz="2800" dirty="0"/>
          </a:p>
        </p:txBody>
      </p:sp>
      <p:sp>
        <p:nvSpPr>
          <p:cNvPr id="5" name="Text 3"/>
          <p:cNvSpPr/>
          <p:nvPr/>
        </p:nvSpPr>
        <p:spPr>
          <a:xfrm>
            <a:off x="812800" y="1971808"/>
            <a:ext cx="1447800" cy="238654"/>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568"/>
                </a:solidFill>
                <a:latin typeface="IBM Plex Sans" pitchFamily="34" charset="0"/>
                <a:ea typeface="IBM Plex Sans" pitchFamily="34" charset="-122"/>
                <a:cs typeface="IBM Plex Sans" pitchFamily="34" charset="-120"/>
              </a:rPr>
              <a:t>Workstation</a:t>
            </a:r>
            <a:endParaRPr lang="en-US" sz="1200" dirty="0"/>
          </a:p>
        </p:txBody>
      </p:sp>
      <p:sp>
        <p:nvSpPr>
          <p:cNvPr id="6" name="Shape 4"/>
          <p:cNvSpPr/>
          <p:nvPr/>
        </p:nvSpPr>
        <p:spPr>
          <a:xfrm>
            <a:off x="2365375" y="1724025"/>
            <a:ext cx="4425950" cy="708951"/>
          </a:xfrm>
          <a:prstGeom prst="roundRect">
            <a:avLst>
              <a:gd name="adj" fmla="val 10300"/>
            </a:avLst>
          </a:prstGeom>
          <a:solidFill>
            <a:srgbClr val="FDFCFA"/>
          </a:solidFill>
          <a:ln w="6350">
            <a:solidFill>
              <a:srgbClr val="B9BCB5"/>
            </a:solidFill>
            <a:prstDash val="solid"/>
          </a:ln>
        </p:spPr>
      </p:sp>
      <p:sp>
        <p:nvSpPr>
          <p:cNvPr id="7" name="Text 5"/>
          <p:cNvSpPr/>
          <p:nvPr/>
        </p:nvSpPr>
        <p:spPr>
          <a:xfrm>
            <a:off x="2523067" y="1843618"/>
            <a:ext cx="4233884"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PowerPoint plugin (VSTO)</a:t>
            </a:r>
            <a:endParaRPr lang="en-US" sz="1300" dirty="0"/>
          </a:p>
        </p:txBody>
      </p:sp>
      <p:sp>
        <p:nvSpPr>
          <p:cNvPr id="8" name="Text 6"/>
          <p:cNvSpPr/>
          <p:nvPr/>
        </p:nvSpPr>
        <p:spPr>
          <a:xfrm>
            <a:off x="2523067" y="2100132"/>
            <a:ext cx="4233884"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Reads and writes slides and notes</a:t>
            </a:r>
            <a:endParaRPr lang="en-US" sz="1200" dirty="0"/>
          </a:p>
        </p:txBody>
      </p:sp>
      <p:sp>
        <p:nvSpPr>
          <p:cNvPr id="9" name="Shape 7"/>
          <p:cNvSpPr/>
          <p:nvPr/>
        </p:nvSpPr>
        <p:spPr>
          <a:xfrm>
            <a:off x="6950075" y="1724025"/>
            <a:ext cx="4425950" cy="708951"/>
          </a:xfrm>
          <a:prstGeom prst="roundRect">
            <a:avLst>
              <a:gd name="adj" fmla="val 10300"/>
            </a:avLst>
          </a:prstGeom>
          <a:solidFill>
            <a:srgbClr val="FDFCFA"/>
          </a:solidFill>
          <a:ln w="6350">
            <a:solidFill>
              <a:srgbClr val="B9BCB5"/>
            </a:solidFill>
            <a:prstDash val="solid"/>
          </a:ln>
        </p:spPr>
      </p:sp>
      <p:sp>
        <p:nvSpPr>
          <p:cNvPr id="10" name="Text 8"/>
          <p:cNvSpPr/>
          <p:nvPr/>
        </p:nvSpPr>
        <p:spPr>
          <a:xfrm>
            <a:off x="7107767" y="1843618"/>
            <a:ext cx="4233884"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Maia taskpane (WebView2)</a:t>
            </a:r>
            <a:endParaRPr lang="en-US" sz="1300" dirty="0"/>
          </a:p>
        </p:txBody>
      </p:sp>
      <p:sp>
        <p:nvSpPr>
          <p:cNvPr id="11" name="Text 9"/>
          <p:cNvSpPr/>
          <p:nvPr/>
        </p:nvSpPr>
        <p:spPr>
          <a:xfrm>
            <a:off x="7107767" y="2100132"/>
            <a:ext cx="4233884"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Chat, outline editor, previews</a:t>
            </a:r>
            <a:endParaRPr lang="en-US" sz="1200" dirty="0"/>
          </a:p>
        </p:txBody>
      </p:sp>
      <p:sp>
        <p:nvSpPr>
          <p:cNvPr id="12" name="Text 10"/>
          <p:cNvSpPr/>
          <p:nvPr/>
        </p:nvSpPr>
        <p:spPr>
          <a:xfrm>
            <a:off x="812800" y="3319993"/>
            <a:ext cx="1447800" cy="238654"/>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568"/>
                </a:solidFill>
                <a:latin typeface="IBM Plex Sans" pitchFamily="34" charset="0"/>
                <a:ea typeface="IBM Plex Sans" pitchFamily="34" charset="-122"/>
                <a:cs typeface="IBM Plex Sans" pitchFamily="34" charset="-120"/>
              </a:rPr>
              <a:t>Backend (FastAPI)</a:t>
            </a:r>
            <a:endParaRPr lang="en-US" sz="1200" dirty="0"/>
          </a:p>
        </p:txBody>
      </p:sp>
      <p:sp>
        <p:nvSpPr>
          <p:cNvPr id="13" name="Text 11"/>
          <p:cNvSpPr/>
          <p:nvPr/>
        </p:nvSpPr>
        <p:spPr>
          <a:xfrm>
            <a:off x="2365375" y="2566327"/>
            <a:ext cx="9010650" cy="444897"/>
          </a:xfrm>
          <a:prstGeom prst="roundRect">
            <a:avLst>
              <a:gd name="adj" fmla="val 16414"/>
            </a:avLst>
          </a:prstGeom>
          <a:solidFill>
            <a:srgbClr val="FDFCFA"/>
          </a:solidFill>
          <a:ln w="6350">
            <a:solidFill>
              <a:srgbClr val="B9BCB5"/>
            </a:solidFill>
            <a:prstDash val="solid"/>
          </a:ln>
        </p:spPr>
        <p:txBody>
          <a:bodyPr wrap="square" lIns="136303" tIns="85503" rIns="0" bIns="60103"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/api/ppt router and async job queue</a:t>
            </a:r>
            <a:endParaRPr lang="en-US" sz="1300" dirty="0"/>
          </a:p>
        </p:txBody>
      </p:sp>
      <p:sp>
        <p:nvSpPr>
          <p:cNvPr id="14" name="Shape 12"/>
          <p:cNvSpPr/>
          <p:nvPr/>
        </p:nvSpPr>
        <p:spPr>
          <a:xfrm>
            <a:off x="2368550" y="3096949"/>
            <a:ext cx="9004300" cy="677201"/>
          </a:xfrm>
          <a:prstGeom prst="roundRect">
            <a:avLst>
              <a:gd name="adj" fmla="val 10315"/>
            </a:avLst>
          </a:prstGeom>
          <a:solidFill>
            <a:srgbClr val="E3EDF5"/>
          </a:solidFill>
          <a:ln w="12700">
            <a:solidFill>
              <a:srgbClr val="1F5F8B"/>
            </a:solidFill>
            <a:prstDash val="solid"/>
          </a:ln>
        </p:spPr>
      </p:sp>
      <p:sp>
        <p:nvSpPr>
          <p:cNvPr id="15" name="Text 13"/>
          <p:cNvSpPr/>
          <p:nvPr/>
        </p:nvSpPr>
        <p:spPr>
          <a:xfrm>
            <a:off x="2523067" y="3200667"/>
            <a:ext cx="8956125"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Shared Maia pipeline</a:t>
            </a:r>
            <a:endParaRPr lang="en-US" sz="1300" dirty="0"/>
          </a:p>
        </p:txBody>
      </p:sp>
      <p:sp>
        <p:nvSpPr>
          <p:cNvPr id="16" name="Text 14"/>
          <p:cNvSpPr/>
          <p:nvPr/>
        </p:nvSpPr>
        <p:spPr>
          <a:xfrm>
            <a:off x="2523067" y="3457178"/>
            <a:ext cx="8956125"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Prompt guard · PII masking · safety classifier · token fit</a:t>
            </a:r>
            <a:endParaRPr lang="en-US" sz="1200" dirty="0"/>
          </a:p>
        </p:txBody>
      </p:sp>
      <p:sp>
        <p:nvSpPr>
          <p:cNvPr id="17" name="Text 15"/>
          <p:cNvSpPr/>
          <p:nvPr/>
        </p:nvSpPr>
        <p:spPr>
          <a:xfrm>
            <a:off x="2365375" y="3859876"/>
            <a:ext cx="2948517" cy="427038"/>
          </a:xfrm>
          <a:prstGeom prst="roundRect">
            <a:avLst>
              <a:gd name="adj" fmla="val 17100"/>
            </a:avLst>
          </a:prstGeom>
          <a:solidFill>
            <a:srgbClr val="FDFCFA"/>
          </a:solidFill>
          <a:ln w="6350">
            <a:solidFill>
              <a:srgbClr val="B9BCB5"/>
            </a:solidFill>
            <a:prstDash val="solid"/>
          </a:ln>
        </p:spPr>
        <p:txBody>
          <a:bodyPr wrap="square" lIns="136303" tIns="85503" rIns="57309" bIns="60103"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Summary, notes</a:t>
            </a:r>
            <a:r>
              <a:rPr lang="en-US" sz="1200" dirty="0">
                <a:solidFill>
                  <a:srgbClr val="14213D"/>
                </a:solidFill>
                <a:latin typeface="IBM Plex Sans" pitchFamily="34" charset="0"/>
                <a:ea typeface="IBM Plex Sans" pitchFamily="34" charset="-122"/>
                <a:cs typeface="IBM Plex Sans" pitchFamily="34" charset="-120"/>
              </a:rPr>
              <a:t> 1.1, 1.3</a:t>
            </a:r>
            <a:endParaRPr lang="en-US" sz="1200" dirty="0"/>
          </a:p>
        </p:txBody>
      </p:sp>
      <p:sp>
        <p:nvSpPr>
          <p:cNvPr id="18" name="Text 16"/>
          <p:cNvSpPr/>
          <p:nvPr/>
        </p:nvSpPr>
        <p:spPr>
          <a:xfrm>
            <a:off x="5396442" y="3859876"/>
            <a:ext cx="2948517" cy="427038"/>
          </a:xfrm>
          <a:prstGeom prst="roundRect">
            <a:avLst>
              <a:gd name="adj" fmla="val 17100"/>
            </a:avLst>
          </a:prstGeom>
          <a:solidFill>
            <a:srgbClr val="FDFCFA"/>
          </a:solidFill>
          <a:ln w="6350">
            <a:solidFill>
              <a:srgbClr val="B9BCB5"/>
            </a:solidFill>
            <a:prstDash val="solid"/>
          </a:ln>
        </p:spPr>
        <p:txBody>
          <a:bodyPr wrap="square" lIns="136303" tIns="85503" rIns="57309" bIns="60103"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Outline, render</a:t>
            </a:r>
            <a:r>
              <a:rPr lang="en-US" sz="1200" dirty="0">
                <a:solidFill>
                  <a:srgbClr val="14213D"/>
                </a:solidFill>
                <a:latin typeface="IBM Plex Sans" pitchFamily="34" charset="0"/>
                <a:ea typeface="IBM Plex Sans" pitchFamily="34" charset="-122"/>
                <a:cs typeface="IBM Plex Sans" pitchFamily="34" charset="-120"/>
              </a:rPr>
              <a:t> 1.2</a:t>
            </a:r>
            <a:endParaRPr lang="en-US" sz="1200" dirty="0"/>
          </a:p>
        </p:txBody>
      </p:sp>
      <p:sp>
        <p:nvSpPr>
          <p:cNvPr id="19" name="Text 17"/>
          <p:cNvSpPr/>
          <p:nvPr/>
        </p:nvSpPr>
        <p:spPr>
          <a:xfrm>
            <a:off x="8427509" y="3859876"/>
            <a:ext cx="2948517" cy="427038"/>
          </a:xfrm>
          <a:prstGeom prst="roundRect">
            <a:avLst>
              <a:gd name="adj" fmla="val 17100"/>
            </a:avLst>
          </a:prstGeom>
          <a:solidFill>
            <a:srgbClr val="FDFCFA"/>
          </a:solidFill>
          <a:ln w="6350">
            <a:solidFill>
              <a:srgbClr val="B9BCB5"/>
            </a:solidFill>
            <a:prstDash val="solid"/>
          </a:ln>
        </p:spPr>
        <p:txBody>
          <a:bodyPr wrap="square" lIns="136303" tIns="85503" rIns="57310" bIns="60103"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Visuals, rewrite</a:t>
            </a:r>
            <a:r>
              <a:rPr lang="en-US" sz="1200" dirty="0">
                <a:solidFill>
                  <a:srgbClr val="14213D"/>
                </a:solidFill>
                <a:latin typeface="IBM Plex Sans" pitchFamily="34" charset="0"/>
                <a:ea typeface="IBM Plex Sans" pitchFamily="34" charset="-122"/>
                <a:cs typeface="IBM Plex Sans" pitchFamily="34" charset="-120"/>
              </a:rPr>
              <a:t> 2.1, 2.3</a:t>
            </a:r>
            <a:endParaRPr lang="en-US" sz="1200" dirty="0"/>
          </a:p>
        </p:txBody>
      </p:sp>
      <p:sp>
        <p:nvSpPr>
          <p:cNvPr id="20" name="Text 18"/>
          <p:cNvSpPr/>
          <p:nvPr/>
        </p:nvSpPr>
        <p:spPr>
          <a:xfrm>
            <a:off x="812800" y="4527153"/>
            <a:ext cx="1447800" cy="238654"/>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568"/>
                </a:solidFill>
                <a:latin typeface="IBM Plex Sans" pitchFamily="34" charset="0"/>
                <a:ea typeface="IBM Plex Sans" pitchFamily="34" charset="-122"/>
                <a:cs typeface="IBM Plex Sans" pitchFamily="34" charset="-120"/>
              </a:rPr>
              <a:t>Infrastructure</a:t>
            </a:r>
            <a:endParaRPr lang="en-US" sz="1200" dirty="0"/>
          </a:p>
        </p:txBody>
      </p:sp>
      <p:sp>
        <p:nvSpPr>
          <p:cNvPr id="21" name="Text 19"/>
          <p:cNvSpPr/>
          <p:nvPr/>
        </p:nvSpPr>
        <p:spPr>
          <a:xfrm>
            <a:off x="2368550" y="4423439"/>
            <a:ext cx="2127250" cy="420688"/>
          </a:xfrm>
          <a:prstGeom prst="roundRect">
            <a:avLst>
              <a:gd name="adj" fmla="val 16604"/>
            </a:avLst>
          </a:prstGeom>
          <a:solidFill>
            <a:srgbClr val="E3EDF5"/>
          </a:solidFill>
          <a:ln w="12700">
            <a:solidFill>
              <a:srgbClr val="1F5F8B"/>
            </a:solidFill>
            <a:prstDash val="solid"/>
          </a:ln>
        </p:spPr>
        <p:txBody>
          <a:bodyPr wrap="square" lIns="108658" tIns="83258" rIns="52588" bIns="57858"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Qwen3.6-35B-A3B</a:t>
            </a:r>
            <a:endParaRPr lang="en-US" sz="1200" dirty="0"/>
          </a:p>
        </p:txBody>
      </p:sp>
      <p:sp>
        <p:nvSpPr>
          <p:cNvPr id="22" name="Text 20"/>
          <p:cNvSpPr/>
          <p:nvPr/>
        </p:nvSpPr>
        <p:spPr>
          <a:xfrm>
            <a:off x="4660900" y="4423439"/>
            <a:ext cx="2127250" cy="420688"/>
          </a:xfrm>
          <a:prstGeom prst="roundRect">
            <a:avLst>
              <a:gd name="adj" fmla="val 16604"/>
            </a:avLst>
          </a:prstGeom>
          <a:solidFill>
            <a:srgbClr val="E3EDF5"/>
          </a:solidFill>
          <a:ln w="12700">
            <a:solidFill>
              <a:srgbClr val="1F5F8B"/>
            </a:solidFill>
            <a:prstDash val="solid"/>
          </a:ln>
        </p:spPr>
        <p:txBody>
          <a:bodyPr wrap="square" lIns="108659" tIns="83258" rIns="52587" bIns="57858"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Redis Sentinel</a:t>
            </a:r>
            <a:endParaRPr lang="en-US" sz="1200" dirty="0"/>
          </a:p>
        </p:txBody>
      </p:sp>
      <p:sp>
        <p:nvSpPr>
          <p:cNvPr id="23" name="Text 21"/>
          <p:cNvSpPr/>
          <p:nvPr/>
        </p:nvSpPr>
        <p:spPr>
          <a:xfrm>
            <a:off x="6953250" y="4423439"/>
            <a:ext cx="2127250" cy="420688"/>
          </a:xfrm>
          <a:prstGeom prst="roundRect">
            <a:avLst>
              <a:gd name="adj" fmla="val 16604"/>
            </a:avLst>
          </a:prstGeom>
          <a:solidFill>
            <a:srgbClr val="E3EDF5"/>
          </a:solidFill>
          <a:ln w="12700">
            <a:solidFill>
              <a:srgbClr val="1F5F8B"/>
            </a:solidFill>
            <a:prstDash val="solid"/>
          </a:ln>
        </p:spPr>
        <p:txBody>
          <a:bodyPr wrap="square" lIns="108659" tIns="83258" rIns="52587" bIns="57858"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SQL Server</a:t>
            </a:r>
            <a:endParaRPr lang="en-US" sz="1200" dirty="0"/>
          </a:p>
        </p:txBody>
      </p:sp>
      <p:sp>
        <p:nvSpPr>
          <p:cNvPr id="24" name="Text 22"/>
          <p:cNvSpPr/>
          <p:nvPr/>
        </p:nvSpPr>
        <p:spPr>
          <a:xfrm>
            <a:off x="9245600" y="4423439"/>
            <a:ext cx="2127250" cy="420688"/>
          </a:xfrm>
          <a:prstGeom prst="roundRect">
            <a:avLst>
              <a:gd name="adj" fmla="val 16604"/>
            </a:avLst>
          </a:prstGeom>
          <a:solidFill>
            <a:srgbClr val="FDFCFA"/>
          </a:solidFill>
          <a:ln w="12700">
            <a:solidFill>
              <a:srgbClr val="8A8F87"/>
            </a:solidFill>
            <a:prstDash val="dash"/>
          </a:ln>
        </p:spPr>
        <p:txBody>
          <a:bodyPr wrap="square" lIns="108659" tIns="83258" rIns="52587" bIns="57858" rtlCol="0" anchor="t">
            <a:normAutofit/>
          </a:bodyPr>
          <a:lstStyle/>
          <a:p>
            <a:pPr algn="l" indent="0" marL="0">
              <a:lnSpc>
                <a:spcPts val="1680"/>
              </a:lnSpc>
              <a:buNone/>
            </a:pPr>
            <a:r>
              <a:rPr lang="en-US" sz="1200" b="1" dirty="0">
                <a:solidFill>
                  <a:srgbClr val="4A5568"/>
                </a:solidFill>
                <a:latin typeface="IBM Plex Sans" pitchFamily="34" charset="0"/>
                <a:ea typeface="IBM Plex Sans" pitchFamily="34" charset="-122"/>
                <a:cs typeface="IBM Plex Sans" pitchFamily="34" charset="-120"/>
              </a:rPr>
              <a:t>Image model (2.2)</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654"/>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8B"/>
                </a:solidFill>
                <a:latin typeface="IBM Plex Sans" pitchFamily="34" charset="0"/>
                <a:ea typeface="IBM Plex Sans" pitchFamily="34" charset="-122"/>
                <a:cs typeface="IBM Plex Sans" pitchFamily="34" charset="-120"/>
              </a:rPr>
              <a:t>MODEL STRATEGY</a:t>
            </a:r>
            <a:endParaRPr lang="en-US" sz="1200" dirty="0"/>
          </a:p>
        </p:txBody>
      </p:sp>
      <p:sp>
        <p:nvSpPr>
          <p:cNvPr id="3" name="Text 1"/>
          <p:cNvSpPr/>
          <p:nvPr>
            <p:ph type="title"/>
          </p:nvPr>
        </p:nvSpPr>
        <p:spPr>
          <a:xfrm>
            <a:off x="812800" y="1127655"/>
            <a:ext cx="10883392" cy="8636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Source Serif 4" pitchFamily="18" charset="0"/>
                <a:ea typeface="Source Serif 4" pitchFamily="18" charset="-122"/>
                <a:cs typeface="Source Serif 4" pitchFamily="18" charset="-120"/>
              </a:rPr>
              <a:t>Six of seven features run on the Qwen model we already use</a:t>
            </a:r>
            <a:endParaRPr lang="en-US" sz="3000" dirty="0"/>
          </a:p>
        </p:txBody>
      </p:sp>
      <p:sp>
        <p:nvSpPr>
          <p:cNvPr id="4" name="Text 2"/>
          <p:cNvSpPr/>
          <p:nvPr/>
        </p:nvSpPr>
        <p:spPr>
          <a:xfrm>
            <a:off x="812800" y="2219855"/>
            <a:ext cx="3662680" cy="914400"/>
          </a:xfrm>
          <a:prstGeom prst="rect">
            <a:avLst/>
          </a:prstGeom>
          <a:noFill/>
          <a:ln/>
        </p:spPr>
        <p:txBody>
          <a:bodyPr wrap="square" lIns="0" tIns="0" rIns="0" bIns="0" rtlCol="0" anchor="t">
            <a:normAutofit/>
          </a:bodyPr>
          <a:lstStyle/>
          <a:p>
            <a:pPr algn="l" indent="0" marL="0">
              <a:lnSpc>
                <a:spcPts val="7000"/>
              </a:lnSpc>
              <a:buNone/>
            </a:pPr>
            <a:r>
              <a:rPr lang="en-US" sz="7000" b="1" dirty="0">
                <a:solidFill>
                  <a:srgbClr val="1F5F8B"/>
                </a:solidFill>
                <a:latin typeface="Source Serif 4" pitchFamily="18" charset="0"/>
                <a:ea typeface="Source Serif 4" pitchFamily="18" charset="-122"/>
                <a:cs typeface="Source Serif 4" pitchFamily="18" charset="-120"/>
              </a:rPr>
              <a:t>6 of 7</a:t>
            </a:r>
            <a:endParaRPr lang="en-US" sz="7000" dirty="0"/>
          </a:p>
        </p:txBody>
      </p:sp>
      <p:sp>
        <p:nvSpPr>
          <p:cNvPr id="5" name="Text 3"/>
          <p:cNvSpPr/>
          <p:nvPr/>
        </p:nvSpPr>
        <p:spPr>
          <a:xfrm>
            <a:off x="812800" y="3261255"/>
            <a:ext cx="366268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features on Qwen3.6-35B-A3B, already on-premise and reviewed</a:t>
            </a:r>
            <a:endParaRPr lang="en-US" sz="1500" dirty="0"/>
          </a:p>
        </p:txBody>
      </p:sp>
      <p:sp>
        <p:nvSpPr>
          <p:cNvPr id="6" name="Text 4"/>
          <p:cNvSpPr/>
          <p:nvPr/>
        </p:nvSpPr>
        <p:spPr>
          <a:xfrm>
            <a:off x="898144" y="3947055"/>
            <a:ext cx="3569716" cy="1263650"/>
          </a:xfrm>
          <a:prstGeom prst="rect">
            <a:avLst/>
          </a:prstGeom>
          <a:noFill/>
          <a:ln/>
        </p:spPr>
        <p:txBody>
          <a:bodyPr wrap="square" lIns="0" tIns="0" rIns="0" bIns="0" rtlCol="0" anchor="t">
            <a:normAutofit/>
          </a:bodyPr>
          <a:lstStyle/>
          <a:p>
            <a:pPr algn="l" marL="168656" indent="-168656">
              <a:lnSpc>
                <a:spcPts val="1950"/>
              </a:lnSpc>
              <a:buSzPct val="100000"/>
              <a:buChar char="•"/>
            </a:pPr>
            <a:r>
              <a:rPr lang="en-US" sz="1300" dirty="0">
                <a:solidFill>
                  <a:srgbClr val="4A5568"/>
                </a:solidFill>
                <a:latin typeface="IBM Plex Sans" pitchFamily="34" charset="0"/>
                <a:ea typeface="IBM Plex Sans" pitchFamily="34" charset="-122"/>
                <a:cs typeface="IBM Plex Sans" pitchFamily="34" charset="-120"/>
              </a:rPr>
              <a:t>262,144-token native context, about 2× today’s setting</a:t>
            </a:r>
            <a:endParaRPr lang="en-US" sz="1300" dirty="0"/>
          </a:p>
          <a:p>
            <a:pPr algn="l" marL="168656" indent="-168656">
              <a:lnSpc>
                <a:spcPts val="1950"/>
              </a:lnSpc>
              <a:buSzPct val="100000"/>
              <a:buChar char="•"/>
            </a:pPr>
            <a:r>
              <a:rPr lang="en-US" sz="1300" dirty="0">
                <a:solidFill>
                  <a:srgbClr val="4A5568"/>
                </a:solidFill>
                <a:latin typeface="IBM Plex Sans" pitchFamily="34" charset="0"/>
                <a:ea typeface="IBM Plex Sans" pitchFamily="34" charset="-122"/>
                <a:cs typeface="IBM Plex Sans" pitchFamily="34" charset="-120"/>
              </a:rPr>
              <a:t>Reads images, so alt-text needs no new model</a:t>
            </a:r>
            <a:endParaRPr lang="en-US" sz="1300" dirty="0"/>
          </a:p>
          <a:p>
            <a:pPr algn="l" marL="168656" indent="-168656">
              <a:lnSpc>
                <a:spcPts val="1950"/>
              </a:lnSpc>
              <a:buSzPct val="100000"/>
              <a:buChar char="•"/>
            </a:pPr>
            <a:r>
              <a:rPr lang="en-US" sz="1300" dirty="0">
                <a:solidFill>
                  <a:srgbClr val="4A5568"/>
                </a:solidFill>
                <a:latin typeface="IBM Plex Sans" pitchFamily="34" charset="0"/>
                <a:ea typeface="IBM Plex Sans" pitchFamily="34" charset="-122"/>
                <a:cs typeface="IBM Plex Sans" pitchFamily="34" charset="-120"/>
              </a:rPr>
              <a:t>No new procurement for Phase 1</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783667" y="2228322"/>
          <a:ext cx="6595533" cy="2839508"/>
        </p:xfrm>
        <a:graphic>
          <a:graphicData uri="http://schemas.openxmlformats.org/drawingml/2006/table">
            <a:tbl>
              <a:tblPr/>
              <a:tblGrid>
                <a:gridCol w="3627543"/>
                <a:gridCol w="2967990"/>
              </a:tblGrid>
              <a:tr h="354939">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Feature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Model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r>
              <a:tr h="354939">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1.1 Summarisation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Qwen3.6-35B-A3B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4939">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1.2 Prompt to deck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Qwen3.6-35B-A3B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4939">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1.3 Speaker notes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Qwen3.6-35B-A3B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4939">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2.1 Text to visual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Qwen3.6-35B-A3B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4939">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2.3 Condense, rewrite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Qwen3.6-35B-A3B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4939">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2.4 Alt-text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Qwen3.6-35B-A3B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4939">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2.2 Image generation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4B9AE"/>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4B9AE"/>
                      </a:solidFill>
                      <a:prstDash val="solid"/>
                      <a:round/>
                      <a:headEnd type="none" w="med" len="med"/>
                      <a:tailEnd type="none" w="med" len="med"/>
                    </a:lnB>
                    <a:solidFill>
                      <a:srgbClr val="F6E7DA"/>
                    </a:solidFill>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New: Qwen-Image-2512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B9AE"/>
                      </a:solidFill>
                      <a:prstDash val="solid"/>
                      <a:round/>
                      <a:headEnd type="none" w="med" len="med"/>
                      <a:tailEnd type="none" w="med" len="med"/>
                    </a:lnL>
                    <a:lnR w="12700" cap="flat" cmpd="sng" algn="ctr">
                      <a:solidFill>
                        <a:srgbClr val="C4B9AE"/>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4B9AE"/>
                      </a:solidFill>
                      <a:prstDash val="solid"/>
                      <a:round/>
                      <a:headEnd type="none" w="med" len="med"/>
                      <a:tailEnd type="none" w="med" len="med"/>
                    </a:lnB>
                    <a:solidFill>
                      <a:srgbClr val="F6E7DA"/>
                    </a:solidFill>
                  </a:tcPr>
                </a:tc>
              </a:tr>
            </a:tbl>
          </a:graphicData>
        </a:graphic>
      </p:graphicFrame>
      <p:sp>
        <p:nvSpPr>
          <p:cNvPr id="8" name="Text 5"/>
          <p:cNvSpPr/>
          <p:nvPr/>
        </p:nvSpPr>
        <p:spPr>
          <a:xfrm>
            <a:off x="812800" y="6238348"/>
            <a:ext cx="10883392"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Maia for PowerPoint · Project proposal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654"/>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8B"/>
                </a:solidFill>
                <a:latin typeface="IBM Plex Sans" pitchFamily="34" charset="0"/>
                <a:ea typeface="IBM Plex Sans" pitchFamily="34" charset="-122"/>
                <a:cs typeface="IBM Plex Sans" pitchFamily="34" charset="-120"/>
              </a:rPr>
              <a:t>MODEL STRATEGY</a:t>
            </a:r>
            <a:endParaRPr lang="en-US" sz="1200" dirty="0"/>
          </a:p>
        </p:txBody>
      </p:sp>
      <p:sp>
        <p:nvSpPr>
          <p:cNvPr id="3" name="Text 1"/>
          <p:cNvSpPr/>
          <p:nvPr>
            <p:ph type="title"/>
          </p:nvPr>
        </p:nvSpPr>
        <p:spPr>
          <a:xfrm>
            <a:off x="812800" y="1127658"/>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Source Serif 4" pitchFamily="18" charset="0"/>
                <a:ea typeface="Source Serif 4" pitchFamily="18" charset="-122"/>
                <a:cs typeface="Source Serif 4" pitchFamily="18" charset="-120"/>
              </a:rPr>
              <a:t>Capacity, not capability, is the constraint</a:t>
            </a:r>
            <a:endParaRPr lang="en-US" sz="3000" dirty="0"/>
          </a:p>
        </p:txBody>
      </p:sp>
      <p:sp>
        <p:nvSpPr>
          <p:cNvPr id="4" name="Shape 2"/>
          <p:cNvSpPr/>
          <p:nvPr/>
        </p:nvSpPr>
        <p:spPr>
          <a:xfrm>
            <a:off x="815975" y="1854733"/>
            <a:ext cx="3380317" cy="3984096"/>
          </a:xfrm>
          <a:prstGeom prst="roundRect">
            <a:avLst>
              <a:gd name="adj" fmla="val 2912"/>
            </a:avLst>
          </a:prstGeom>
          <a:solidFill>
            <a:srgbClr val="FDFCFA"/>
          </a:solidFill>
          <a:ln w="6350">
            <a:solidFill>
              <a:srgbClr val="DCDDD8"/>
            </a:solidFill>
            <a:prstDash val="solid"/>
          </a:ln>
        </p:spPr>
      </p:sp>
      <p:sp>
        <p:nvSpPr>
          <p:cNvPr id="5" name="Text 3"/>
          <p:cNvSpPr/>
          <p:nvPr/>
        </p:nvSpPr>
        <p:spPr>
          <a:xfrm>
            <a:off x="1075267" y="2114023"/>
            <a:ext cx="294758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A8521A"/>
                </a:solidFill>
                <a:latin typeface="IBM Plex Sans" pitchFamily="34" charset="0"/>
                <a:ea typeface="IBM Plex Sans" pitchFamily="34" charset="-122"/>
                <a:cs typeface="IBM Plex Sans" pitchFamily="34" charset="-120"/>
              </a:rPr>
              <a:t>The risk</a:t>
            </a:r>
            <a:endParaRPr lang="en-US" sz="1800" dirty="0"/>
          </a:p>
        </p:txBody>
      </p:sp>
      <p:sp>
        <p:nvSpPr>
          <p:cNvPr id="6" name="Text 4"/>
          <p:cNvSpPr/>
          <p:nvPr/>
        </p:nvSpPr>
        <p:spPr>
          <a:xfrm>
            <a:off x="1075267" y="2489864"/>
            <a:ext cx="2947585" cy="1571625"/>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4213D"/>
                </a:solidFill>
                <a:latin typeface="IBM Plex Sans" pitchFamily="34" charset="0"/>
                <a:ea typeface="IBM Plex Sans" pitchFamily="34" charset="-122"/>
                <a:cs typeface="IBM Plex Sans" pitchFamily="34" charset="-120"/>
              </a:rPr>
              <a:t>A 12-slide deck with notes is several thousand output tokens; an email answer is a few hundred. Long jobs on the shared Qwen could slow chat for 400–500 Outlook users.</a:t>
            </a:r>
            <a:endParaRPr lang="en-US" sz="1400" dirty="0"/>
          </a:p>
        </p:txBody>
      </p:sp>
      <p:sp>
        <p:nvSpPr>
          <p:cNvPr id="7" name="Shape 5"/>
          <p:cNvSpPr/>
          <p:nvPr/>
        </p:nvSpPr>
        <p:spPr>
          <a:xfrm>
            <a:off x="4405842" y="1854733"/>
            <a:ext cx="3380317" cy="3984096"/>
          </a:xfrm>
          <a:prstGeom prst="roundRect">
            <a:avLst>
              <a:gd name="adj" fmla="val 2912"/>
            </a:avLst>
          </a:prstGeom>
          <a:solidFill>
            <a:srgbClr val="FDFCFA"/>
          </a:solidFill>
          <a:ln w="6350">
            <a:solidFill>
              <a:srgbClr val="DCDDD8"/>
            </a:solidFill>
            <a:prstDash val="solid"/>
          </a:ln>
        </p:spPr>
      </p:sp>
      <p:sp>
        <p:nvSpPr>
          <p:cNvPr id="8" name="Text 6"/>
          <p:cNvSpPr/>
          <p:nvPr/>
        </p:nvSpPr>
        <p:spPr>
          <a:xfrm>
            <a:off x="4665133" y="2114023"/>
            <a:ext cx="294758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5F8B"/>
                </a:solidFill>
                <a:latin typeface="IBM Plex Sans" pitchFamily="34" charset="0"/>
                <a:ea typeface="IBM Plex Sans" pitchFamily="34" charset="-122"/>
                <a:cs typeface="IBM Plex Sans" pitchFamily="34" charset="-120"/>
              </a:rPr>
              <a:t>The mitigation</a:t>
            </a:r>
            <a:endParaRPr lang="en-US" sz="1800" dirty="0"/>
          </a:p>
        </p:txBody>
      </p:sp>
      <p:sp>
        <p:nvSpPr>
          <p:cNvPr id="9" name="Text 7"/>
          <p:cNvSpPr/>
          <p:nvPr/>
        </p:nvSpPr>
        <p:spPr>
          <a:xfrm>
            <a:off x="4743365" y="2489864"/>
            <a:ext cx="2861733" cy="1625600"/>
          </a:xfrm>
          <a:prstGeom prst="rect">
            <a:avLst/>
          </a:prstGeom>
          <a:noFill/>
          <a:ln/>
        </p:spPr>
        <p:txBody>
          <a:bodyPr wrap="square" lIns="0" tIns="0" rIns="0" bIns="0" rtlCol="0" anchor="t">
            <a:normAutofit/>
          </a:bodyPr>
          <a:lstStyle/>
          <a:p>
            <a:pPr algn="l" marL="175768" indent="-175768">
              <a:lnSpc>
                <a:spcPts val="2100"/>
              </a:lnSpc>
              <a:buSzPct val="100000"/>
              <a:buChar char="•"/>
            </a:pPr>
            <a:r>
              <a:rPr lang="en-US" sz="1400" dirty="0">
                <a:solidFill>
                  <a:srgbClr val="14213D"/>
                </a:solidFill>
                <a:latin typeface="IBM Plex Sans" pitchFamily="34" charset="0"/>
                <a:ea typeface="IBM Plex Sans" pitchFamily="34" charset="-122"/>
                <a:cs typeface="IBM Plex Sans" pitchFamily="34" charset="-120"/>
              </a:rPr>
              <a:t>Redis job queue with a concurrency cap</a:t>
            </a:r>
            <a:endParaRPr lang="en-US" sz="1400" dirty="0"/>
          </a:p>
          <a:p>
            <a:pPr algn="l" marL="175768" indent="-175768">
              <a:lnSpc>
                <a:spcPts val="2100"/>
              </a:lnSpc>
              <a:buSzPct val="100000"/>
              <a:buChar char="•"/>
            </a:pPr>
            <a:r>
              <a:rPr lang="en-US" sz="1400" dirty="0">
                <a:solidFill>
                  <a:srgbClr val="14213D"/>
                </a:solidFill>
                <a:latin typeface="IBM Plex Sans" pitchFamily="34" charset="0"/>
                <a:ea typeface="IBM Plex Sans" pitchFamily="34" charset="-122"/>
                <a:cs typeface="IBM Plex Sans" pitchFamily="34" charset="-120"/>
              </a:rPr>
              <a:t>Lower priority than interactive chat</a:t>
            </a:r>
            <a:endParaRPr lang="en-US" sz="1400" dirty="0"/>
          </a:p>
          <a:p>
            <a:pPr algn="l" marL="175768" indent="-175768">
              <a:lnSpc>
                <a:spcPts val="2100"/>
              </a:lnSpc>
              <a:buSzPct val="100000"/>
              <a:buChar char="•"/>
            </a:pPr>
            <a:r>
              <a:rPr lang="en-US" sz="1400" dirty="0">
                <a:solidFill>
                  <a:srgbClr val="14213D"/>
                </a:solidFill>
                <a:latin typeface="IBM Plex Sans" pitchFamily="34" charset="0"/>
                <a:ea typeface="IBM Plex Sans" pitchFamily="34" charset="-122"/>
                <a:cs typeface="IBM Plex Sans" pitchFamily="34" charset="-120"/>
              </a:rPr>
              <a:t>A dedicated replica only if load tests demand it</a:t>
            </a:r>
            <a:endParaRPr lang="en-US" sz="1400" dirty="0"/>
          </a:p>
        </p:txBody>
      </p:sp>
      <p:sp>
        <p:nvSpPr>
          <p:cNvPr id="10" name="Shape 8"/>
          <p:cNvSpPr/>
          <p:nvPr/>
        </p:nvSpPr>
        <p:spPr>
          <a:xfrm>
            <a:off x="7995709" y="1854733"/>
            <a:ext cx="3380317" cy="3984096"/>
          </a:xfrm>
          <a:prstGeom prst="roundRect">
            <a:avLst>
              <a:gd name="adj" fmla="val 2912"/>
            </a:avLst>
          </a:prstGeom>
          <a:solidFill>
            <a:srgbClr val="FDFCFA"/>
          </a:solidFill>
          <a:ln w="6350">
            <a:solidFill>
              <a:srgbClr val="DCDDD8"/>
            </a:solidFill>
            <a:prstDash val="solid"/>
          </a:ln>
        </p:spPr>
      </p:sp>
      <p:sp>
        <p:nvSpPr>
          <p:cNvPr id="11" name="Text 9"/>
          <p:cNvSpPr/>
          <p:nvPr/>
        </p:nvSpPr>
        <p:spPr>
          <a:xfrm>
            <a:off x="8255000" y="2114023"/>
            <a:ext cx="294758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If quality falls short</a:t>
            </a:r>
            <a:endParaRPr lang="en-US" sz="1800" dirty="0"/>
          </a:p>
        </p:txBody>
      </p:sp>
      <p:sp>
        <p:nvSpPr>
          <p:cNvPr id="12" name="Text 10"/>
          <p:cNvSpPr/>
          <p:nvPr/>
        </p:nvSpPr>
        <p:spPr>
          <a:xfrm>
            <a:off x="8333232" y="2489864"/>
            <a:ext cx="2861733" cy="1092200"/>
          </a:xfrm>
          <a:prstGeom prst="rect">
            <a:avLst/>
          </a:prstGeom>
          <a:noFill/>
          <a:ln/>
        </p:spPr>
        <p:txBody>
          <a:bodyPr wrap="square" lIns="0" tIns="0" rIns="0" bIns="0" rtlCol="0" anchor="t">
            <a:normAutofit/>
          </a:bodyPr>
          <a:lstStyle/>
          <a:p>
            <a:pPr algn="l" marL="175768" indent="-175768">
              <a:lnSpc>
                <a:spcPts val="2100"/>
              </a:lnSpc>
              <a:buSzPct val="100000"/>
              <a:buChar char="•"/>
            </a:pPr>
            <a:r>
              <a:rPr lang="en-US" sz="1400" dirty="0">
                <a:solidFill>
                  <a:srgbClr val="14213D"/>
                </a:solidFill>
                <a:latin typeface="IBM Plex Sans" pitchFamily="34" charset="0"/>
                <a:ea typeface="IBM Plex Sans" pitchFamily="34" charset="-122"/>
                <a:cs typeface="IBM Plex Sans" pitchFamily="34" charset="-120"/>
              </a:rPr>
              <a:t>Qwen3.6-27B for generation and rewriting only</a:t>
            </a:r>
            <a:endParaRPr lang="en-US" sz="1400" dirty="0"/>
          </a:p>
          <a:p>
            <a:pPr algn="l" marL="175768" indent="-175768">
              <a:lnSpc>
                <a:spcPts val="2100"/>
              </a:lnSpc>
              <a:buSzPct val="100000"/>
              <a:buChar char="•"/>
            </a:pPr>
            <a:r>
              <a:rPr lang="en-US" sz="1400" dirty="0">
                <a:solidFill>
                  <a:srgbClr val="14213D"/>
                </a:solidFill>
                <a:latin typeface="IBM Plex Sans" pitchFamily="34" charset="0"/>
                <a:ea typeface="IBM Plex Sans" pitchFamily="34" charset="-122"/>
                <a:cs typeface="IBM Plex Sans" pitchFamily="34" charset="-120"/>
              </a:rPr>
              <a:t>DeepPresenter 9B if we adopt PPTAgent</a:t>
            </a:r>
            <a:endParaRPr lang="en-US" sz="1400" dirty="0"/>
          </a:p>
        </p:txBody>
      </p:sp>
      <p:sp>
        <p:nvSpPr>
          <p:cNvPr id="13" name="Text 11"/>
          <p:cNvSpPr/>
          <p:nvPr/>
        </p:nvSpPr>
        <p:spPr>
          <a:xfrm>
            <a:off x="8255000" y="3658264"/>
            <a:ext cx="2947585" cy="45190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Both behind the same endpoint, after evaluation.</a:t>
            </a:r>
            <a:endParaRPr lang="en-US" sz="1200" dirty="0"/>
          </a:p>
        </p:txBody>
      </p:sp>
      <p:sp>
        <p:nvSpPr>
          <p:cNvPr id="14" name="Text 12"/>
          <p:cNvSpPr/>
          <p:nvPr/>
        </p:nvSpPr>
        <p:spPr>
          <a:xfrm>
            <a:off x="812800" y="6238348"/>
            <a:ext cx="10883392"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Maia for PowerPoint · Project proposal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654"/>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8B"/>
                </a:solidFill>
                <a:latin typeface="IBM Plex Sans" pitchFamily="34" charset="0"/>
                <a:ea typeface="IBM Plex Sans" pitchFamily="34" charset="-122"/>
                <a:cs typeface="IBM Plex Sans" pitchFamily="34" charset="-120"/>
              </a:rPr>
              <a:t>DELIVERY PLAN</a:t>
            </a:r>
            <a:endParaRPr lang="en-US" sz="1200" dirty="0"/>
          </a:p>
        </p:txBody>
      </p:sp>
      <p:sp>
        <p:nvSpPr>
          <p:cNvPr id="3" name="Text 1"/>
          <p:cNvSpPr/>
          <p:nvPr>
            <p:ph type="title"/>
          </p:nvPr>
        </p:nvSpPr>
        <p:spPr>
          <a:xfrm>
            <a:off x="812800" y="1127658"/>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Source Serif 4" pitchFamily="18" charset="0"/>
                <a:ea typeface="Source Serif 4" pitchFamily="18" charset="-122"/>
                <a:cs typeface="Source Serif 4" pitchFamily="18" charset="-120"/>
              </a:rPr>
              <a:t>Phase 2 starts only after Phase 1 meets its targets</a:t>
            </a:r>
            <a:endParaRPr lang="en-US" sz="3000" dirty="0"/>
          </a:p>
        </p:txBody>
      </p:sp>
      <p:sp>
        <p:nvSpPr>
          <p:cNvPr id="4" name="Text 2"/>
          <p:cNvSpPr/>
          <p:nvPr/>
        </p:nvSpPr>
        <p:spPr>
          <a:xfrm>
            <a:off x="812800" y="2106352"/>
            <a:ext cx="132080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Phase 0–1</a:t>
            </a:r>
            <a:endParaRPr lang="en-US" sz="1300" dirty="0"/>
          </a:p>
        </p:txBody>
      </p:sp>
      <p:sp>
        <p:nvSpPr>
          <p:cNvPr id="5" name="Shape 3"/>
          <p:cNvSpPr/>
          <p:nvPr/>
        </p:nvSpPr>
        <p:spPr>
          <a:xfrm>
            <a:off x="2187575" y="1854733"/>
            <a:ext cx="1968500" cy="734351"/>
          </a:xfrm>
          <a:prstGeom prst="roundRect">
            <a:avLst>
              <a:gd name="adj" fmla="val 9944"/>
            </a:avLst>
          </a:prstGeom>
          <a:solidFill>
            <a:srgbClr val="FDFCFA"/>
          </a:solidFill>
          <a:ln w="6350">
            <a:solidFill>
              <a:srgbClr val="B9BCB5"/>
            </a:solidFill>
            <a:prstDash val="solid"/>
          </a:ln>
        </p:spPr>
      </p:sp>
      <p:sp>
        <p:nvSpPr>
          <p:cNvPr id="6" name="Text 4"/>
          <p:cNvSpPr/>
          <p:nvPr/>
        </p:nvSpPr>
        <p:spPr>
          <a:xfrm>
            <a:off x="2319867" y="1987023"/>
            <a:ext cx="1755034"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0 Foundation</a:t>
            </a:r>
            <a:endParaRPr lang="en-US" sz="1300" dirty="0"/>
          </a:p>
        </p:txBody>
      </p:sp>
      <p:sp>
        <p:nvSpPr>
          <p:cNvPr id="7" name="Text 5"/>
          <p:cNvSpPr/>
          <p:nvPr/>
        </p:nvSpPr>
        <p:spPr>
          <a:xfrm>
            <a:off x="2319867" y="2243534"/>
            <a:ext cx="1755034"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2–3 weeks</a:t>
            </a:r>
            <a:endParaRPr lang="en-US" sz="1200" dirty="0"/>
          </a:p>
        </p:txBody>
      </p:sp>
      <p:pic>
        <p:nvPicPr>
          <p:cNvPr id="8" name="Image 0" descr="arrow-right">    </p:cNvPr>
          <p:cNvPicPr>
            <a:picLocks noChangeAspect="1"/>
          </p:cNvPicPr>
          <p:nvPr/>
        </p:nvPicPr>
        <p:blipFill>
          <a:blip r:embed="rId1"/>
          <a:srcRect l="0" r="0" t="0" b="0"/>
          <a:stretch/>
        </p:blipFill>
        <p:spPr>
          <a:xfrm>
            <a:off x="4260850" y="2164693"/>
            <a:ext cx="228600" cy="114300"/>
          </a:xfrm>
          <a:prstGeom prst="rect">
            <a:avLst/>
          </a:prstGeom>
        </p:spPr>
      </p:pic>
      <p:sp>
        <p:nvSpPr>
          <p:cNvPr id="9" name="Shape 6"/>
          <p:cNvSpPr/>
          <p:nvPr/>
        </p:nvSpPr>
        <p:spPr>
          <a:xfrm>
            <a:off x="4594225" y="1854733"/>
            <a:ext cx="1968500" cy="734351"/>
          </a:xfrm>
          <a:prstGeom prst="roundRect">
            <a:avLst>
              <a:gd name="adj" fmla="val 9944"/>
            </a:avLst>
          </a:prstGeom>
          <a:solidFill>
            <a:srgbClr val="FDFCFA"/>
          </a:solidFill>
          <a:ln w="6350">
            <a:solidFill>
              <a:srgbClr val="B9BCB5"/>
            </a:solidFill>
            <a:prstDash val="solid"/>
          </a:ln>
        </p:spPr>
      </p:sp>
      <p:sp>
        <p:nvSpPr>
          <p:cNvPr id="10" name="Text 7"/>
          <p:cNvSpPr/>
          <p:nvPr/>
        </p:nvSpPr>
        <p:spPr>
          <a:xfrm>
            <a:off x="4726517" y="1987023"/>
            <a:ext cx="1755034"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1.1 Summarise</a:t>
            </a:r>
            <a:endParaRPr lang="en-US" sz="1300" dirty="0"/>
          </a:p>
        </p:txBody>
      </p:sp>
      <p:sp>
        <p:nvSpPr>
          <p:cNvPr id="11" name="Text 8"/>
          <p:cNvSpPr/>
          <p:nvPr/>
        </p:nvSpPr>
        <p:spPr>
          <a:xfrm>
            <a:off x="4726517" y="2243534"/>
            <a:ext cx="1755034"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2 weeks</a:t>
            </a:r>
            <a:endParaRPr lang="en-US" sz="1200" dirty="0"/>
          </a:p>
        </p:txBody>
      </p:sp>
      <p:pic>
        <p:nvPicPr>
          <p:cNvPr id="12" name="Image 1" descr="arrow-right">    </p:cNvPr>
          <p:cNvPicPr>
            <a:picLocks noChangeAspect="1"/>
          </p:cNvPicPr>
          <p:nvPr/>
        </p:nvPicPr>
        <p:blipFill>
          <a:blip r:embed="rId2"/>
          <a:srcRect l="0" r="0" t="0" b="0"/>
          <a:stretch/>
        </p:blipFill>
        <p:spPr>
          <a:xfrm>
            <a:off x="6667500" y="2164693"/>
            <a:ext cx="228600" cy="114300"/>
          </a:xfrm>
          <a:prstGeom prst="rect">
            <a:avLst/>
          </a:prstGeom>
        </p:spPr>
      </p:pic>
      <p:sp>
        <p:nvSpPr>
          <p:cNvPr id="13" name="Shape 9"/>
          <p:cNvSpPr/>
          <p:nvPr/>
        </p:nvSpPr>
        <p:spPr>
          <a:xfrm>
            <a:off x="7000875" y="1854733"/>
            <a:ext cx="1968500" cy="734351"/>
          </a:xfrm>
          <a:prstGeom prst="roundRect">
            <a:avLst>
              <a:gd name="adj" fmla="val 9944"/>
            </a:avLst>
          </a:prstGeom>
          <a:solidFill>
            <a:srgbClr val="FDFCFA"/>
          </a:solidFill>
          <a:ln w="6350">
            <a:solidFill>
              <a:srgbClr val="B9BCB5"/>
            </a:solidFill>
            <a:prstDash val="solid"/>
          </a:ln>
        </p:spPr>
      </p:sp>
      <p:sp>
        <p:nvSpPr>
          <p:cNvPr id="14" name="Text 10"/>
          <p:cNvSpPr/>
          <p:nvPr/>
        </p:nvSpPr>
        <p:spPr>
          <a:xfrm>
            <a:off x="7133167" y="1987023"/>
            <a:ext cx="1755034"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1.3 Notes</a:t>
            </a:r>
            <a:endParaRPr lang="en-US" sz="1300" dirty="0"/>
          </a:p>
        </p:txBody>
      </p:sp>
      <p:sp>
        <p:nvSpPr>
          <p:cNvPr id="15" name="Text 11"/>
          <p:cNvSpPr/>
          <p:nvPr/>
        </p:nvSpPr>
        <p:spPr>
          <a:xfrm>
            <a:off x="7133167" y="2243534"/>
            <a:ext cx="1755034"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1–2 weeks</a:t>
            </a:r>
            <a:endParaRPr lang="en-US" sz="1200" dirty="0"/>
          </a:p>
        </p:txBody>
      </p:sp>
      <p:pic>
        <p:nvPicPr>
          <p:cNvPr id="16" name="Image 2" descr="arrow-right">    </p:cNvPr>
          <p:cNvPicPr>
            <a:picLocks noChangeAspect="1"/>
          </p:cNvPicPr>
          <p:nvPr/>
        </p:nvPicPr>
        <p:blipFill>
          <a:blip r:embed="rId3"/>
          <a:srcRect l="0" r="0" t="0" b="0"/>
          <a:stretch/>
        </p:blipFill>
        <p:spPr>
          <a:xfrm>
            <a:off x="9074150" y="2164693"/>
            <a:ext cx="228600" cy="114300"/>
          </a:xfrm>
          <a:prstGeom prst="rect">
            <a:avLst/>
          </a:prstGeom>
        </p:spPr>
      </p:pic>
      <p:sp>
        <p:nvSpPr>
          <p:cNvPr id="17" name="Shape 12"/>
          <p:cNvSpPr/>
          <p:nvPr/>
        </p:nvSpPr>
        <p:spPr>
          <a:xfrm>
            <a:off x="9407525" y="1854733"/>
            <a:ext cx="1968500" cy="734351"/>
          </a:xfrm>
          <a:prstGeom prst="roundRect">
            <a:avLst>
              <a:gd name="adj" fmla="val 9944"/>
            </a:avLst>
          </a:prstGeom>
          <a:solidFill>
            <a:srgbClr val="FDFCFA"/>
          </a:solidFill>
          <a:ln w="6350">
            <a:solidFill>
              <a:srgbClr val="B9BCB5"/>
            </a:solidFill>
            <a:prstDash val="solid"/>
          </a:ln>
        </p:spPr>
      </p:sp>
      <p:sp>
        <p:nvSpPr>
          <p:cNvPr id="18" name="Text 13"/>
          <p:cNvSpPr/>
          <p:nvPr/>
        </p:nvSpPr>
        <p:spPr>
          <a:xfrm>
            <a:off x="9539817" y="1987023"/>
            <a:ext cx="1755034"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1.2 Generate</a:t>
            </a:r>
            <a:endParaRPr lang="en-US" sz="1300" dirty="0"/>
          </a:p>
        </p:txBody>
      </p:sp>
      <p:sp>
        <p:nvSpPr>
          <p:cNvPr id="19" name="Text 14"/>
          <p:cNvSpPr/>
          <p:nvPr/>
        </p:nvSpPr>
        <p:spPr>
          <a:xfrm>
            <a:off x="9539817" y="2243534"/>
            <a:ext cx="1755034"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3–4 weeks</a:t>
            </a:r>
            <a:endParaRPr lang="en-US" sz="1200" dirty="0"/>
          </a:p>
        </p:txBody>
      </p:sp>
      <p:sp>
        <p:nvSpPr>
          <p:cNvPr id="20" name="Text 15"/>
          <p:cNvSpPr/>
          <p:nvPr/>
        </p:nvSpPr>
        <p:spPr>
          <a:xfrm>
            <a:off x="2190750" y="2776407"/>
            <a:ext cx="3340365" cy="413147"/>
          </a:xfrm>
          <a:prstGeom prst="roundRect">
            <a:avLst>
              <a:gd name="adj" fmla="val 50000"/>
            </a:avLst>
          </a:prstGeom>
          <a:solidFill>
            <a:srgbClr val="F6E7DA"/>
          </a:solidFill>
          <a:ln w="12700">
            <a:solidFill>
              <a:srgbClr val="A8521A"/>
            </a:solidFill>
            <a:prstDash val="solid"/>
          </a:ln>
        </p:spPr>
        <p:txBody>
          <a:bodyPr wrap="none" lIns="0" tIns="0" rIns="0" bIns="0" rtlCol="0" anchor="ctr">
            <a:normAutofit/>
          </a:bodyPr>
          <a:lstStyle/>
          <a:p>
            <a:pPr algn="ct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Gate 1: Phase 1 golden-set targets met</a:t>
            </a:r>
            <a:endParaRPr lang="en-US" sz="1300" dirty="0"/>
          </a:p>
        </p:txBody>
      </p:sp>
      <p:sp>
        <p:nvSpPr>
          <p:cNvPr id="21" name="Text 16"/>
          <p:cNvSpPr/>
          <p:nvPr/>
        </p:nvSpPr>
        <p:spPr>
          <a:xfrm>
            <a:off x="812800" y="3628498"/>
            <a:ext cx="132080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Phase 2</a:t>
            </a:r>
            <a:endParaRPr lang="en-US" sz="1300" dirty="0"/>
          </a:p>
        </p:txBody>
      </p:sp>
      <p:sp>
        <p:nvSpPr>
          <p:cNvPr id="22" name="Shape 17"/>
          <p:cNvSpPr/>
          <p:nvPr/>
        </p:nvSpPr>
        <p:spPr>
          <a:xfrm>
            <a:off x="2187575" y="3376879"/>
            <a:ext cx="1991783" cy="734351"/>
          </a:xfrm>
          <a:prstGeom prst="roundRect">
            <a:avLst>
              <a:gd name="adj" fmla="val 9944"/>
            </a:avLst>
          </a:prstGeom>
          <a:solidFill>
            <a:srgbClr val="FDFCFA"/>
          </a:solidFill>
          <a:ln w="6350">
            <a:solidFill>
              <a:srgbClr val="B9BCB5"/>
            </a:solidFill>
            <a:prstDash val="solid"/>
          </a:ln>
        </p:spPr>
      </p:sp>
      <p:sp>
        <p:nvSpPr>
          <p:cNvPr id="23" name="Text 18"/>
          <p:cNvSpPr/>
          <p:nvPr/>
        </p:nvSpPr>
        <p:spPr>
          <a:xfrm>
            <a:off x="2319867" y="3509169"/>
            <a:ext cx="1779016"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2.1 Visuals</a:t>
            </a:r>
            <a:endParaRPr lang="en-US" sz="1300" dirty="0"/>
          </a:p>
        </p:txBody>
      </p:sp>
      <p:sp>
        <p:nvSpPr>
          <p:cNvPr id="24" name="Text 19"/>
          <p:cNvSpPr/>
          <p:nvPr/>
        </p:nvSpPr>
        <p:spPr>
          <a:xfrm>
            <a:off x="2319867" y="3765686"/>
            <a:ext cx="1779016"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About 3 weeks</a:t>
            </a:r>
            <a:endParaRPr lang="en-US" sz="1200" dirty="0"/>
          </a:p>
        </p:txBody>
      </p:sp>
      <p:pic>
        <p:nvPicPr>
          <p:cNvPr id="25" name="Image 3" descr="arrow-right">    </p:cNvPr>
          <p:cNvPicPr>
            <a:picLocks noChangeAspect="1"/>
          </p:cNvPicPr>
          <p:nvPr/>
        </p:nvPicPr>
        <p:blipFill>
          <a:blip r:embed="rId4"/>
          <a:srcRect l="0" r="0" t="0" b="0"/>
          <a:stretch/>
        </p:blipFill>
        <p:spPr>
          <a:xfrm>
            <a:off x="4284133" y="3686839"/>
            <a:ext cx="228600" cy="114300"/>
          </a:xfrm>
          <a:prstGeom prst="rect">
            <a:avLst/>
          </a:prstGeom>
        </p:spPr>
      </p:pic>
      <p:sp>
        <p:nvSpPr>
          <p:cNvPr id="26" name="Shape 20"/>
          <p:cNvSpPr/>
          <p:nvPr/>
        </p:nvSpPr>
        <p:spPr>
          <a:xfrm>
            <a:off x="4617508" y="3376879"/>
            <a:ext cx="1991783" cy="734351"/>
          </a:xfrm>
          <a:prstGeom prst="roundRect">
            <a:avLst>
              <a:gd name="adj" fmla="val 9944"/>
            </a:avLst>
          </a:prstGeom>
          <a:solidFill>
            <a:srgbClr val="FDFCFA"/>
          </a:solidFill>
          <a:ln w="6350">
            <a:solidFill>
              <a:srgbClr val="B9BCB5"/>
            </a:solidFill>
            <a:prstDash val="solid"/>
          </a:ln>
        </p:spPr>
      </p:sp>
      <p:sp>
        <p:nvSpPr>
          <p:cNvPr id="27" name="Text 21"/>
          <p:cNvSpPr/>
          <p:nvPr/>
        </p:nvSpPr>
        <p:spPr>
          <a:xfrm>
            <a:off x="4749800" y="3509169"/>
            <a:ext cx="1779016"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2.3 Condense</a:t>
            </a:r>
            <a:endParaRPr lang="en-US" sz="1300" dirty="0"/>
          </a:p>
        </p:txBody>
      </p:sp>
      <p:sp>
        <p:nvSpPr>
          <p:cNvPr id="28" name="Text 22"/>
          <p:cNvSpPr/>
          <p:nvPr/>
        </p:nvSpPr>
        <p:spPr>
          <a:xfrm>
            <a:off x="4749800" y="3765686"/>
            <a:ext cx="1779016"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2–3 weeks</a:t>
            </a:r>
            <a:endParaRPr lang="en-US" sz="1200" dirty="0"/>
          </a:p>
        </p:txBody>
      </p:sp>
      <p:pic>
        <p:nvPicPr>
          <p:cNvPr id="29" name="Image 4" descr="arrow-right">    </p:cNvPr>
          <p:cNvPicPr>
            <a:picLocks noChangeAspect="1"/>
          </p:cNvPicPr>
          <p:nvPr/>
        </p:nvPicPr>
        <p:blipFill>
          <a:blip r:embed="rId5"/>
          <a:srcRect l="0" r="0" t="0" b="0"/>
          <a:stretch/>
        </p:blipFill>
        <p:spPr>
          <a:xfrm>
            <a:off x="6714067" y="3686839"/>
            <a:ext cx="228600" cy="114300"/>
          </a:xfrm>
          <a:prstGeom prst="rect">
            <a:avLst/>
          </a:prstGeom>
        </p:spPr>
      </p:pic>
      <p:sp>
        <p:nvSpPr>
          <p:cNvPr id="30" name="Text 23"/>
          <p:cNvSpPr/>
          <p:nvPr/>
        </p:nvSpPr>
        <p:spPr>
          <a:xfrm>
            <a:off x="7050617" y="3439716"/>
            <a:ext cx="1892300" cy="608542"/>
          </a:xfrm>
          <a:prstGeom prst="roundRect">
            <a:avLst>
              <a:gd name="adj" fmla="val 40696"/>
            </a:avLst>
          </a:prstGeom>
          <a:solidFill>
            <a:srgbClr val="F6E7DA"/>
          </a:solidFill>
          <a:ln w="12700">
            <a:solidFill>
              <a:srgbClr val="A8521A"/>
            </a:solidFill>
            <a:prstDash val="solid"/>
          </a:ln>
        </p:spPr>
        <p:txBody>
          <a:bodyPr wrap="square" lIns="31182" tIns="18482" rIns="31182" bIns="0" rtlCol="0" anchor="t">
            <a:normAutofit/>
          </a:bodyPr>
          <a:lstStyle/>
          <a:p>
            <a:pPr algn="ct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Gate 2: licence and security</a:t>
            </a:r>
            <a:endParaRPr lang="en-US" sz="1200" dirty="0"/>
          </a:p>
        </p:txBody>
      </p:sp>
      <p:pic>
        <p:nvPicPr>
          <p:cNvPr id="31" name="Image 5" descr="arrow-right">    </p:cNvPr>
          <p:cNvPicPr>
            <a:picLocks noChangeAspect="1"/>
          </p:cNvPicPr>
          <p:nvPr/>
        </p:nvPicPr>
        <p:blipFill>
          <a:blip r:embed="rId6"/>
          <a:srcRect l="0" r="0" t="0" b="0"/>
          <a:stretch/>
        </p:blipFill>
        <p:spPr>
          <a:xfrm>
            <a:off x="9050867" y="3686839"/>
            <a:ext cx="228600" cy="114300"/>
          </a:xfrm>
          <a:prstGeom prst="rect">
            <a:avLst/>
          </a:prstGeom>
        </p:spPr>
      </p:pic>
      <p:sp>
        <p:nvSpPr>
          <p:cNvPr id="32" name="Shape 24"/>
          <p:cNvSpPr/>
          <p:nvPr/>
        </p:nvSpPr>
        <p:spPr>
          <a:xfrm>
            <a:off x="9387417" y="3380054"/>
            <a:ext cx="1985433" cy="728001"/>
          </a:xfrm>
          <a:prstGeom prst="roundRect">
            <a:avLst>
              <a:gd name="adj" fmla="val 9595"/>
            </a:avLst>
          </a:prstGeom>
          <a:solidFill>
            <a:srgbClr val="FDFCFA"/>
          </a:solidFill>
          <a:ln w="12700">
            <a:solidFill>
              <a:srgbClr val="8A8F87"/>
            </a:solidFill>
            <a:prstDash val="dash"/>
          </a:ln>
        </p:spPr>
      </p:sp>
      <p:sp>
        <p:nvSpPr>
          <p:cNvPr id="33" name="Text 25"/>
          <p:cNvSpPr/>
          <p:nvPr/>
        </p:nvSpPr>
        <p:spPr>
          <a:xfrm>
            <a:off x="9516534" y="3509169"/>
            <a:ext cx="1779016"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2.2 Images</a:t>
            </a:r>
            <a:endParaRPr lang="en-US" sz="1300" dirty="0"/>
          </a:p>
        </p:txBody>
      </p:sp>
      <p:sp>
        <p:nvSpPr>
          <p:cNvPr id="34" name="Text 26"/>
          <p:cNvSpPr/>
          <p:nvPr/>
        </p:nvSpPr>
        <p:spPr>
          <a:xfrm>
            <a:off x="9516534" y="3765686"/>
            <a:ext cx="1779016"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4+ weeks</a:t>
            </a:r>
            <a:endParaRPr lang="en-US" sz="1200" dirty="0"/>
          </a:p>
        </p:txBody>
      </p:sp>
      <p:sp>
        <p:nvSpPr>
          <p:cNvPr id="35" name="Text 27"/>
          <p:cNvSpPr/>
          <p:nvPr/>
        </p:nvSpPr>
        <p:spPr>
          <a:xfrm>
            <a:off x="812800" y="4419203"/>
            <a:ext cx="10883392"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Phase 0–1: about 10–13 weeks for 1–2 developers. A 2-week rendering spike runs inside Phase 0. Estimates are rough.</a:t>
            </a:r>
            <a:endParaRPr lang="en-US" sz="1300" dirty="0"/>
          </a:p>
        </p:txBody>
      </p:sp>
      <p:sp>
        <p:nvSpPr>
          <p:cNvPr id="36" name="Text 28"/>
          <p:cNvSpPr/>
          <p:nvPr/>
        </p:nvSpPr>
        <p:spPr>
          <a:xfrm>
            <a:off x="812800" y="6238348"/>
            <a:ext cx="10883392"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Maia for PowerPoint · Project proposal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654"/>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8B"/>
                </a:solidFill>
                <a:latin typeface="IBM Plex Sans" pitchFamily="34" charset="0"/>
                <a:ea typeface="IBM Plex Sans" pitchFamily="34" charset="-122"/>
                <a:cs typeface="IBM Plex Sans" pitchFamily="34" charset="-120"/>
              </a:rPr>
              <a:t>SECURITY AND GOVERNANCE</a:t>
            </a:r>
            <a:endParaRPr lang="en-US" sz="1200" dirty="0"/>
          </a:p>
        </p:txBody>
      </p:sp>
      <p:sp>
        <p:nvSpPr>
          <p:cNvPr id="3" name="Text 1"/>
          <p:cNvSpPr/>
          <p:nvPr>
            <p:ph type="title"/>
          </p:nvPr>
        </p:nvSpPr>
        <p:spPr>
          <a:xfrm>
            <a:off x="812800" y="1127658"/>
            <a:ext cx="10883392" cy="8636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Source Serif 4" pitchFamily="18" charset="0"/>
                <a:ea typeface="Source Serif 4" pitchFamily="18" charset="-122"/>
                <a:cs typeface="Source Serif 4" pitchFamily="18" charset="-120"/>
              </a:rPr>
              <a:t>PowerPoint inherits Maia’s controls; nothing leaves the boundary</a:t>
            </a:r>
            <a:endParaRPr lang="en-US" sz="3000" dirty="0"/>
          </a:p>
        </p:txBody>
      </p:sp>
      <p:sp>
        <p:nvSpPr>
          <p:cNvPr id="4" name="Shape 2"/>
          <p:cNvSpPr/>
          <p:nvPr/>
        </p:nvSpPr>
        <p:spPr>
          <a:xfrm>
            <a:off x="815975" y="2223033"/>
            <a:ext cx="5200650" cy="1728523"/>
          </a:xfrm>
          <a:prstGeom prst="roundRect">
            <a:avLst>
              <a:gd name="adj" fmla="val 5694"/>
            </a:avLst>
          </a:prstGeom>
          <a:solidFill>
            <a:srgbClr val="FDFCFA"/>
          </a:solidFill>
          <a:ln w="6350">
            <a:solidFill>
              <a:srgbClr val="DCDDD8"/>
            </a:solidFill>
            <a:prstDash val="solid"/>
          </a:ln>
        </p:spPr>
      </p:sp>
      <p:sp>
        <p:nvSpPr>
          <p:cNvPr id="5" name="Text 3"/>
          <p:cNvSpPr/>
          <p:nvPr/>
        </p:nvSpPr>
        <p:spPr>
          <a:xfrm>
            <a:off x="1024467" y="2431523"/>
            <a:ext cx="492717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5F8B"/>
                </a:solidFill>
                <a:latin typeface="IBM Plex Sans" pitchFamily="34" charset="0"/>
                <a:ea typeface="IBM Plex Sans" pitchFamily="34" charset="-122"/>
                <a:cs typeface="IBM Plex Sans" pitchFamily="34" charset="-120"/>
              </a:rPr>
              <a:t>Same pipeline</a:t>
            </a:r>
            <a:endParaRPr lang="en-US" sz="1600" dirty="0"/>
          </a:p>
        </p:txBody>
      </p:sp>
      <p:sp>
        <p:nvSpPr>
          <p:cNvPr id="6" name="Text 4"/>
          <p:cNvSpPr/>
          <p:nvPr/>
        </p:nvSpPr>
        <p:spPr>
          <a:xfrm>
            <a:off x="1024467" y="2751534"/>
            <a:ext cx="492717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Prompt guard, PII masking and safety classifier on every call; deck text treated as untrusted data.</a:t>
            </a:r>
            <a:endParaRPr lang="en-US" sz="1300" dirty="0"/>
          </a:p>
        </p:txBody>
      </p:sp>
      <p:sp>
        <p:nvSpPr>
          <p:cNvPr id="7" name="Shape 5"/>
          <p:cNvSpPr/>
          <p:nvPr/>
        </p:nvSpPr>
        <p:spPr>
          <a:xfrm>
            <a:off x="6175375" y="2223033"/>
            <a:ext cx="5200650" cy="1728523"/>
          </a:xfrm>
          <a:prstGeom prst="roundRect">
            <a:avLst>
              <a:gd name="adj" fmla="val 5694"/>
            </a:avLst>
          </a:prstGeom>
          <a:solidFill>
            <a:srgbClr val="FDFCFA"/>
          </a:solidFill>
          <a:ln w="6350">
            <a:solidFill>
              <a:srgbClr val="DCDDD8"/>
            </a:solidFill>
            <a:prstDash val="solid"/>
          </a:ln>
        </p:spPr>
      </p:sp>
      <p:sp>
        <p:nvSpPr>
          <p:cNvPr id="8" name="Text 6"/>
          <p:cNvSpPr/>
          <p:nvPr/>
        </p:nvSpPr>
        <p:spPr>
          <a:xfrm>
            <a:off x="6383867" y="2431523"/>
            <a:ext cx="492717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5F8B"/>
                </a:solidFill>
                <a:latin typeface="IBM Plex Sans" pitchFamily="34" charset="0"/>
                <a:ea typeface="IBM Plex Sans" pitchFamily="34" charset="-122"/>
                <a:cs typeface="IBM Plex Sans" pitchFamily="34" charset="-120"/>
              </a:rPr>
              <a:t>No silent changes</a:t>
            </a:r>
            <a:endParaRPr lang="en-US" sz="1600" dirty="0"/>
          </a:p>
        </p:txBody>
      </p:sp>
      <p:sp>
        <p:nvSpPr>
          <p:cNvPr id="9" name="Text 7"/>
          <p:cNvSpPr/>
          <p:nvPr/>
        </p:nvSpPr>
        <p:spPr>
          <a:xfrm>
            <a:off x="6383867" y="2751534"/>
            <a:ext cx="492717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Preview and confirm before slides or notes change; Maia never sends or publishes a deck.</a:t>
            </a:r>
            <a:endParaRPr lang="en-US" sz="1300" dirty="0"/>
          </a:p>
        </p:txBody>
      </p:sp>
      <p:sp>
        <p:nvSpPr>
          <p:cNvPr id="10" name="Shape 8"/>
          <p:cNvSpPr/>
          <p:nvPr/>
        </p:nvSpPr>
        <p:spPr>
          <a:xfrm>
            <a:off x="815975" y="4110304"/>
            <a:ext cx="5200650" cy="1728523"/>
          </a:xfrm>
          <a:prstGeom prst="roundRect">
            <a:avLst>
              <a:gd name="adj" fmla="val 5694"/>
            </a:avLst>
          </a:prstGeom>
          <a:solidFill>
            <a:srgbClr val="FDFCFA"/>
          </a:solidFill>
          <a:ln w="6350">
            <a:solidFill>
              <a:srgbClr val="DCDDD8"/>
            </a:solidFill>
            <a:prstDash val="solid"/>
          </a:ln>
        </p:spPr>
      </p:sp>
      <p:sp>
        <p:nvSpPr>
          <p:cNvPr id="11" name="Text 9"/>
          <p:cNvSpPr/>
          <p:nvPr/>
        </p:nvSpPr>
        <p:spPr>
          <a:xfrm>
            <a:off x="1024467" y="4318794"/>
            <a:ext cx="492717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A8521A"/>
                </a:solidFill>
                <a:latin typeface="IBM Plex Sans" pitchFamily="34" charset="0"/>
                <a:ea typeface="IBM Plex Sans" pitchFamily="34" charset="-122"/>
                <a:cs typeface="IBM Plex Sans" pitchFamily="34" charset="-120"/>
              </a:rPr>
              <a:t>Fix first</a:t>
            </a:r>
            <a:endParaRPr lang="en-US" sz="1600" dirty="0"/>
          </a:p>
        </p:txBody>
      </p:sp>
      <p:sp>
        <p:nvSpPr>
          <p:cNvPr id="12" name="Text 10"/>
          <p:cNvSpPr/>
          <p:nvPr/>
        </p:nvSpPr>
        <p:spPr>
          <a:xfrm>
            <a:off x="1024467" y="4638811"/>
            <a:ext cx="492717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Close the HLD’s critical issues before rollout: committed secrets, default JWT secret, session IDs not tied to a user.</a:t>
            </a:r>
            <a:endParaRPr lang="en-US" sz="1300" dirty="0"/>
          </a:p>
        </p:txBody>
      </p:sp>
      <p:sp>
        <p:nvSpPr>
          <p:cNvPr id="13" name="Shape 11"/>
          <p:cNvSpPr/>
          <p:nvPr/>
        </p:nvSpPr>
        <p:spPr>
          <a:xfrm>
            <a:off x="6175375" y="4110304"/>
            <a:ext cx="5200650" cy="1728523"/>
          </a:xfrm>
          <a:prstGeom prst="roundRect">
            <a:avLst>
              <a:gd name="adj" fmla="val 5694"/>
            </a:avLst>
          </a:prstGeom>
          <a:solidFill>
            <a:srgbClr val="FDFCFA"/>
          </a:solidFill>
          <a:ln w="6350">
            <a:solidFill>
              <a:srgbClr val="DCDDD8"/>
            </a:solidFill>
            <a:prstDash val="solid"/>
          </a:ln>
        </p:spPr>
      </p:sp>
      <p:sp>
        <p:nvSpPr>
          <p:cNvPr id="14" name="Text 12"/>
          <p:cNvSpPr/>
          <p:nvPr/>
        </p:nvSpPr>
        <p:spPr>
          <a:xfrm>
            <a:off x="6383867" y="4318794"/>
            <a:ext cx="492717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5F8B"/>
                </a:solidFill>
                <a:latin typeface="IBM Plex Sans" pitchFamily="34" charset="0"/>
                <a:ea typeface="IBM Plex Sans" pitchFamily="34" charset="-122"/>
                <a:cs typeface="IBM Plex Sans" pitchFamily="34" charset="-120"/>
              </a:rPr>
              <a:t>Images and open source</a:t>
            </a:r>
            <a:endParaRPr lang="en-US" sz="1600" dirty="0"/>
          </a:p>
        </p:txBody>
      </p:sp>
      <p:sp>
        <p:nvSpPr>
          <p:cNvPr id="15" name="Text 13"/>
          <p:cNvSpPr/>
          <p:nvPr/>
        </p:nvSpPr>
        <p:spPr>
          <a:xfrm>
            <a:off x="6383867" y="4638811"/>
            <a:ext cx="492717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Image prompt and output checks, AI-generated tags; any open-source engine runs offline after code review.</a:t>
            </a:r>
            <a:endParaRPr lang="en-US" sz="1300" dirty="0"/>
          </a:p>
        </p:txBody>
      </p:sp>
      <p:sp>
        <p:nvSpPr>
          <p:cNvPr id="16" name="Text 14"/>
          <p:cNvSpPr/>
          <p:nvPr/>
        </p:nvSpPr>
        <p:spPr>
          <a:xfrm>
            <a:off x="812800" y="6238348"/>
            <a:ext cx="10883392"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Maia for PowerPoint · Project proposal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654"/>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8B"/>
                </a:solidFill>
                <a:latin typeface="IBM Plex Sans" pitchFamily="34" charset="0"/>
                <a:ea typeface="IBM Plex Sans" pitchFamily="34" charset="-122"/>
                <a:cs typeface="IBM Plex Sans" pitchFamily="34" charset="-120"/>
              </a:rPr>
              <a:t>SUCCESS METRICS</a:t>
            </a:r>
            <a:endParaRPr lang="en-US" sz="1200" dirty="0"/>
          </a:p>
        </p:txBody>
      </p:sp>
      <p:sp>
        <p:nvSpPr>
          <p:cNvPr id="3" name="Text 1"/>
          <p:cNvSpPr/>
          <p:nvPr>
            <p:ph type="title"/>
          </p:nvPr>
        </p:nvSpPr>
        <p:spPr>
          <a:xfrm>
            <a:off x="812800" y="1127658"/>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Source Serif 4" pitchFamily="18" charset="0"/>
                <a:ea typeface="Source Serif 4" pitchFamily="18" charset="-122"/>
                <a:cs typeface="Source Serif 4" pitchFamily="18" charset="-120"/>
              </a:rPr>
              <a:t>Judged on 30 real decks before Phase 2 begins</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1267" y="1783825"/>
          <a:ext cx="10557933" cy="2626783"/>
        </p:xfrm>
        <a:graphic>
          <a:graphicData uri="http://schemas.openxmlformats.org/drawingml/2006/table">
            <a:tbl>
              <a:tblPr/>
              <a:tblGrid>
                <a:gridCol w="2322745"/>
                <a:gridCol w="5490125"/>
                <a:gridCol w="2745063"/>
              </a:tblGrid>
              <a:tr h="328348">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Area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Metric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Proposed target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r>
              <a:tr h="328348">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Summarisation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Faithfulness, no fabricated facts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 95%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28348">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Summarisation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Claims citing the correct slide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 95%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28348">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Generation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Outlines that are valid JSON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 99%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28348">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Generation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Slides with overflowing text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&lt; 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28348">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Speaker notes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Notes accepted without edits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 60%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28348">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Capacity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Chat p95 latency during jobs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No worse than today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28348">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Value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Minutes saved per deck (survey)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Baseline in pilot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sp>
        <p:nvSpPr>
          <p:cNvPr id="5" name="Text 2"/>
          <p:cNvSpPr/>
          <p:nvPr/>
        </p:nvSpPr>
        <p:spPr>
          <a:xfrm>
            <a:off x="812800" y="4639208"/>
            <a:ext cx="10883392"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Golden set scored on PPTEval’s content, design and coherence; targets are starting points to calibrate.</a:t>
            </a:r>
            <a:endParaRPr lang="en-US" sz="1200" dirty="0"/>
          </a:p>
        </p:txBody>
      </p:sp>
      <p:sp>
        <p:nvSpPr>
          <p:cNvPr id="6" name="Text 3"/>
          <p:cNvSpPr/>
          <p:nvPr/>
        </p:nvSpPr>
        <p:spPr>
          <a:xfrm>
            <a:off x="812800" y="6238348"/>
            <a:ext cx="10883392"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Maia for PowerPoint · Project proposal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654"/>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8B"/>
                </a:solidFill>
                <a:latin typeface="IBM Plex Sans" pitchFamily="34" charset="0"/>
                <a:ea typeface="IBM Plex Sans" pitchFamily="34" charset="-122"/>
                <a:cs typeface="IBM Plex Sans" pitchFamily="34" charset="-120"/>
              </a:rPr>
              <a:t>RISKS</a:t>
            </a:r>
            <a:endParaRPr lang="en-US" sz="1200" dirty="0"/>
          </a:p>
        </p:txBody>
      </p:sp>
      <p:sp>
        <p:nvSpPr>
          <p:cNvPr id="3" name="Text 1"/>
          <p:cNvSpPr/>
          <p:nvPr>
            <p:ph type="title"/>
          </p:nvPr>
        </p:nvSpPr>
        <p:spPr>
          <a:xfrm>
            <a:off x="812800" y="1127658"/>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Source Serif 4" pitchFamily="18" charset="0"/>
                <a:ea typeface="Source Serif 4" pitchFamily="18" charset="-122"/>
                <a:cs typeface="Source Serif 4" pitchFamily="18" charset="-120"/>
              </a:rPr>
              <a:t>Every main risk has a fallback</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1267" y="1809225"/>
          <a:ext cx="10557933" cy="2298436"/>
        </p:xfrm>
        <a:graphic>
          <a:graphicData uri="http://schemas.openxmlformats.org/drawingml/2006/table">
            <a:tbl>
              <a:tblPr/>
              <a:tblGrid>
                <a:gridCol w="4434332"/>
                <a:gridCol w="6123601"/>
              </a:tblGrid>
              <a:tr h="328348">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Risk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Mitigation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r>
              <a:tr h="328348">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Generation jobs slow Outlook chat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Queue, concurrency cap, lower priority; replica if needed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28348">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Slides break the DSTA template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Map to template layouts or edit reference slides; test early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28348">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Model invents facts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Source-bound mode, slide citations, faithfulness tests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28348">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Office.js lacks speaker notes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Use VSTO, or confirm support before choosing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28348">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Image licence rejected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Apache 2.0 model first; paid Ideogram or icon library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28348">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Open HLD security issues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Close the critical issues before rollout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sp>
        <p:nvSpPr>
          <p:cNvPr id="5" name="Text 2"/>
          <p:cNvSpPr/>
          <p:nvPr/>
        </p:nvSpPr>
        <p:spPr>
          <a:xfrm>
            <a:off x="812800" y="6238348"/>
            <a:ext cx="10883392"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Maia for PowerPoint · Project proposal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654"/>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FB8D8"/>
                </a:solidFill>
                <a:latin typeface="IBM Plex Sans" pitchFamily="34" charset="0"/>
                <a:ea typeface="IBM Plex Sans" pitchFamily="34" charset="-122"/>
                <a:cs typeface="IBM Plex Sans" pitchFamily="34" charset="-120"/>
              </a:rPr>
              <a:t>DECISIONS REQUESTED</a:t>
            </a:r>
            <a:endParaRPr lang="en-US" sz="1200" dirty="0"/>
          </a:p>
        </p:txBody>
      </p:sp>
      <p:sp>
        <p:nvSpPr>
          <p:cNvPr id="3" name="Text 1"/>
          <p:cNvSpPr/>
          <p:nvPr>
            <p:ph type="title"/>
          </p:nvPr>
        </p:nvSpPr>
        <p:spPr>
          <a:xfrm>
            <a:off x="812800" y="1127658"/>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7F6F2"/>
                </a:solidFill>
                <a:latin typeface="Source Serif 4" pitchFamily="18" charset="0"/>
                <a:ea typeface="Source Serif 4" pitchFamily="18" charset="-122"/>
                <a:cs typeface="Source Serif 4" pitchFamily="18" charset="-120"/>
              </a:rPr>
              <a:t>Five decisions start Phase 0</a:t>
            </a:r>
            <a:endParaRPr lang="en-US" sz="3200" dirty="0"/>
          </a:p>
        </p:txBody>
      </p:sp>
      <p:sp>
        <p:nvSpPr>
          <p:cNvPr id="4" name="Text 2"/>
          <p:cNvSpPr/>
          <p:nvPr/>
        </p:nvSpPr>
        <p:spPr>
          <a:xfrm>
            <a:off x="841507" y="1879470"/>
            <a:ext cx="10847065" cy="1650603"/>
          </a:xfrm>
          <a:prstGeom prst="rect">
            <a:avLst/>
          </a:prstGeom>
          <a:noFill/>
          <a:ln/>
        </p:spPr>
        <p:txBody>
          <a:bodyPr wrap="square" lIns="0" tIns="0" rIns="0" bIns="0" rtlCol="0" anchor="t">
            <a:normAutofit/>
          </a:bodyPr>
          <a:lstStyle/>
          <a:p>
            <a:pPr algn="l" marL="225293" indent="-225293">
              <a:lnSpc>
                <a:spcPts val="2560"/>
              </a:lnSpc>
              <a:buSzPct val="100000"/>
              <a:buFontTx/>
              <a:buAutoNum type="arabicPeriod" startAt="1"/>
            </a:pPr>
            <a:r>
              <a:rPr lang="en-US" sz="1600" dirty="0">
                <a:solidFill>
                  <a:srgbClr val="F7F6F2"/>
                </a:solidFill>
                <a:latin typeface="IBM Plex Sans" pitchFamily="34" charset="0"/>
                <a:ea typeface="IBM Plex Sans" pitchFamily="34" charset="-122"/>
                <a:cs typeface="IBM Plex Sans" pitchFamily="34" charset="-120"/>
              </a:rPr>
              <a:t>Approve Phase 0 and Phase 1 on Qwen3.6-35B-A3B</a:t>
            </a:r>
            <a:endParaRPr lang="en-US" sz="1600" dirty="0"/>
          </a:p>
          <a:p>
            <a:pPr algn="l" marL="225293" indent="-225293">
              <a:lnSpc>
                <a:spcPts val="2560"/>
              </a:lnSpc>
              <a:buSzPct val="100000"/>
              <a:buFontTx/>
              <a:buAutoNum type="arabicPeriod" startAt="1"/>
            </a:pPr>
            <a:r>
              <a:rPr lang="en-US" sz="1600" dirty="0">
                <a:solidFill>
                  <a:srgbClr val="F7F6F2"/>
                </a:solidFill>
                <a:latin typeface="IBM Plex Sans" pitchFamily="34" charset="0"/>
                <a:ea typeface="IBM Plex Sans" pitchFamily="34" charset="-122"/>
                <a:cs typeface="IBM Plex Sans" pitchFamily="34" charset="-120"/>
              </a:rPr>
              <a:t>Choose the host: VSTO with WebView2 (recommended) or Office.js</a:t>
            </a:r>
            <a:endParaRPr lang="en-US" sz="1600" dirty="0"/>
          </a:p>
          <a:p>
            <a:pPr algn="l" marL="225293" indent="-225293">
              <a:lnSpc>
                <a:spcPts val="2560"/>
              </a:lnSpc>
              <a:buSzPct val="100000"/>
              <a:buFontTx/>
              <a:buAutoNum type="arabicPeriod" startAt="1"/>
            </a:pPr>
            <a:r>
              <a:rPr lang="en-US" sz="1600" dirty="0">
                <a:solidFill>
                  <a:srgbClr val="F7F6F2"/>
                </a:solidFill>
                <a:latin typeface="IBM Plex Sans" pitchFamily="34" charset="0"/>
                <a:ea typeface="IBM Plex Sans" pitchFamily="34" charset="-122"/>
                <a:cs typeface="IBM Plex Sans" pitchFamily="34" charset="-120"/>
              </a:rPr>
              <a:t>Choose rendering after a 2-week spike: Presenton, PPTAgent or python-pptx</a:t>
            </a:r>
            <a:endParaRPr lang="en-US" sz="1600" dirty="0"/>
          </a:p>
          <a:p>
            <a:pPr algn="l" marL="225293" indent="-225293">
              <a:lnSpc>
                <a:spcPts val="2560"/>
              </a:lnSpc>
              <a:buSzPct val="100000"/>
              <a:buFontTx/>
              <a:buAutoNum type="arabicPeriod" startAt="1"/>
            </a:pPr>
            <a:r>
              <a:rPr lang="en-US" sz="1600" dirty="0">
                <a:solidFill>
                  <a:srgbClr val="F7F6F2"/>
                </a:solidFill>
                <a:latin typeface="IBM Plex Sans" pitchFamily="34" charset="0"/>
                <a:ea typeface="IBM Plex Sans" pitchFamily="34" charset="-122"/>
                <a:cs typeface="IBM Plex Sans" pitchFamily="34" charset="-120"/>
              </a:rPr>
              <a:t>Provide the DSTA .potx template and 30 sanitised decks</a:t>
            </a:r>
            <a:endParaRPr lang="en-US" sz="1600" dirty="0"/>
          </a:p>
          <a:p>
            <a:pPr algn="l" marL="225293" indent="-225293">
              <a:lnSpc>
                <a:spcPts val="2560"/>
              </a:lnSpc>
              <a:buSzPct val="100000"/>
              <a:buFontTx/>
              <a:buAutoNum type="arabicPeriod" startAt="1"/>
            </a:pPr>
            <a:r>
              <a:rPr lang="en-US" sz="1600" dirty="0">
                <a:solidFill>
                  <a:srgbClr val="F7F6F2"/>
                </a:solidFill>
                <a:latin typeface="IBM Plex Sans" pitchFamily="34" charset="0"/>
                <a:ea typeface="IBM Plex Sans" pitchFamily="34" charset="-122"/>
                <a:cs typeface="IBM Plex Sans" pitchFamily="34" charset="-120"/>
              </a:rPr>
              <a:t>Start the licence and security review for image generation</a:t>
            </a:r>
            <a:endParaRPr lang="en-US" sz="1600" dirty="0"/>
          </a:p>
        </p:txBody>
      </p:sp>
      <p:sp>
        <p:nvSpPr>
          <p:cNvPr id="5" name="Text 3"/>
          <p:cNvSpPr/>
          <p:nvPr/>
        </p:nvSpPr>
        <p:spPr>
          <a:xfrm>
            <a:off x="812800" y="3809473"/>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6E3"/>
                </a:solidFill>
                <a:latin typeface="IBM Plex Sans" pitchFamily="34" charset="0"/>
                <a:ea typeface="IBM Plex Sans" pitchFamily="34" charset="-122"/>
                <a:cs typeface="IBM Plex Sans" pitchFamily="34" charset="-120"/>
              </a:rPr>
              <a:t>Resources: 1–2 developers for about 12–13 weeks, part-time security review, no new infrastructure for Phase 1.</a:t>
            </a:r>
            <a:endParaRPr lang="en-US" sz="1400" dirty="0"/>
          </a:p>
        </p:txBody>
      </p:sp>
    </p:spTree>
  </p:cSld>
  <p:clrMapOvr>
    <a:masterClrMapping/>
  </p:clrMapOvr>
</p:sld>
</file>

<file path=ppt/theme/theme1.xml><?xml version="1.0" encoding="utf-8"?>
<a:theme xmlns:a="http://schemas.openxmlformats.org/drawingml/2006/main" name="Maia for PowerPoint – Proposal">
  <a:themeElements>
    <a:clrScheme name="Maia for PowerPoint – Proposal">
      <a:dk1>
        <a:srgbClr val="14213D"/>
      </a:dk1>
      <a:lt1>
        <a:srgbClr val="F7F6F2"/>
      </a:lt1>
      <a:dk2>
        <a:srgbClr val="4D566A"/>
      </a:dk2>
      <a:lt2>
        <a:srgbClr val="E0E1E0"/>
      </a:lt2>
      <a:accent1>
        <a:srgbClr val="1F5F8B"/>
      </a:accent1>
      <a:accent2>
        <a:srgbClr val="8FB8D8"/>
      </a:accent2>
      <a:accent3>
        <a:srgbClr val="A8521A"/>
      </a:accent3>
      <a:accent4>
        <a:srgbClr val="4A5568"/>
      </a:accent4>
      <a:accent5>
        <a:srgbClr val="6B7280"/>
      </a:accent5>
      <a:accent6>
        <a:srgbClr val="C9D6E3"/>
      </a:accent6>
      <a:hlink>
        <a:srgbClr val="0563C1"/>
      </a:hlink>
      <a:folHlink>
        <a:srgbClr val="954F72"/>
      </a:folHlink>
    </a:clrScheme>
    <a:fontScheme name="Maia for PowerPoint – Proposal">
      <a:majorFont>
        <a:latin typeface="Source Serif 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Maia for PowerPoint – Proposal</dc:title>
  <dc:subject/>
  <dc:creator/>
  <cp:lastModifiedBy/>
  <cp:revision>1</cp:revision>
  <dcterms:created xsi:type="dcterms:W3CDTF">2026-10-22T16:26:06Z</dcterms:created>
  <dcterms:modified xsi:type="dcterms:W3CDTF">2026-10-22T16:26:06Z</dcterms:modified>
</cp:coreProperties>
</file>